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1" r:id="rId8"/>
    <p:sldId id="263" r:id="rId9"/>
    <p:sldId id="294" r:id="rId10"/>
    <p:sldId id="295" r:id="rId11"/>
    <p:sldId id="296" r:id="rId12"/>
    <p:sldId id="29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x="12192000" cy="6858000"/>
  <p:notesSz cx="6805613"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8" autoAdjust="0"/>
    <p:restoredTop sz="94660"/>
  </p:normalViewPr>
  <p:slideViewPr>
    <p:cSldViewPr snapToGrid="0">
      <p:cViewPr varScale="1">
        <p:scale>
          <a:sx n="133" d="100"/>
          <a:sy n="133" d="100"/>
        </p:scale>
        <p:origin x="2304"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94548-0AB3-8540-A194-C970C1AAA6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B868E4D0-FD14-467B-DCC6-6915FAEEC8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DDC6499E-F1A4-AFCD-3320-9A85F87A589B}"/>
              </a:ext>
            </a:extLst>
          </p:cNvPr>
          <p:cNvSpPr>
            <a:spLocks noGrp="1"/>
          </p:cNvSpPr>
          <p:nvPr>
            <p:ph type="dt" sz="half" idx="10"/>
          </p:nvPr>
        </p:nvSpPr>
        <p:spPr/>
        <p:txBody>
          <a:bodyPr/>
          <a:lstStyle/>
          <a:p>
            <a:fld id="{80ED19FA-F62D-49BC-9365-0228071E9299}" type="datetimeFigureOut">
              <a:rPr lang="en-AU" smtClean="0"/>
              <a:t>5/12/2025</a:t>
            </a:fld>
            <a:endParaRPr lang="en-AU"/>
          </a:p>
        </p:txBody>
      </p:sp>
      <p:sp>
        <p:nvSpPr>
          <p:cNvPr id="5" name="Footer Placeholder 4">
            <a:extLst>
              <a:ext uri="{FF2B5EF4-FFF2-40B4-BE49-F238E27FC236}">
                <a16:creationId xmlns:a16="http://schemas.microsoft.com/office/drawing/2014/main" id="{ADEF9E0F-6BA4-55E9-AAF4-65B66576186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3F5FFA1-7FC2-9BEA-C996-2FC1275C2F2D}"/>
              </a:ext>
            </a:extLst>
          </p:cNvPr>
          <p:cNvSpPr>
            <a:spLocks noGrp="1"/>
          </p:cNvSpPr>
          <p:nvPr>
            <p:ph type="sldNum" sz="quarter" idx="12"/>
          </p:nvPr>
        </p:nvSpPr>
        <p:spPr/>
        <p:txBody>
          <a:bodyPr/>
          <a:lstStyle/>
          <a:p>
            <a:fld id="{F15AF92D-E6C8-4723-917B-2DD3035C9063}" type="slidenum">
              <a:rPr lang="en-AU" smtClean="0"/>
              <a:t>‹#›</a:t>
            </a:fld>
            <a:endParaRPr lang="en-AU"/>
          </a:p>
        </p:txBody>
      </p:sp>
    </p:spTree>
    <p:extLst>
      <p:ext uri="{BB962C8B-B14F-4D97-AF65-F5344CB8AC3E}">
        <p14:creationId xmlns:p14="http://schemas.microsoft.com/office/powerpoint/2010/main" val="11773140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2D33D-A093-3031-852E-F228D97DDDD5}"/>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4D1C321-68D2-CF77-F767-4F4FF0102E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2B2ADB4-DF84-4A86-D969-A181E73025CA}"/>
              </a:ext>
            </a:extLst>
          </p:cNvPr>
          <p:cNvSpPr>
            <a:spLocks noGrp="1"/>
          </p:cNvSpPr>
          <p:nvPr>
            <p:ph type="dt" sz="half" idx="10"/>
          </p:nvPr>
        </p:nvSpPr>
        <p:spPr/>
        <p:txBody>
          <a:bodyPr/>
          <a:lstStyle/>
          <a:p>
            <a:fld id="{80ED19FA-F62D-49BC-9365-0228071E9299}" type="datetimeFigureOut">
              <a:rPr lang="en-AU" smtClean="0"/>
              <a:t>5/12/2025</a:t>
            </a:fld>
            <a:endParaRPr lang="en-AU"/>
          </a:p>
        </p:txBody>
      </p:sp>
      <p:sp>
        <p:nvSpPr>
          <p:cNvPr id="5" name="Footer Placeholder 4">
            <a:extLst>
              <a:ext uri="{FF2B5EF4-FFF2-40B4-BE49-F238E27FC236}">
                <a16:creationId xmlns:a16="http://schemas.microsoft.com/office/drawing/2014/main" id="{AE7185DE-6192-1632-AE92-31772C9EC4A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2560090-7E9E-6714-78DC-83B854B4A6AC}"/>
              </a:ext>
            </a:extLst>
          </p:cNvPr>
          <p:cNvSpPr>
            <a:spLocks noGrp="1"/>
          </p:cNvSpPr>
          <p:nvPr>
            <p:ph type="sldNum" sz="quarter" idx="12"/>
          </p:nvPr>
        </p:nvSpPr>
        <p:spPr/>
        <p:txBody>
          <a:bodyPr/>
          <a:lstStyle/>
          <a:p>
            <a:fld id="{F15AF92D-E6C8-4723-917B-2DD3035C9063}" type="slidenum">
              <a:rPr lang="en-AU" smtClean="0"/>
              <a:t>‹#›</a:t>
            </a:fld>
            <a:endParaRPr lang="en-AU"/>
          </a:p>
        </p:txBody>
      </p:sp>
    </p:spTree>
    <p:extLst>
      <p:ext uri="{BB962C8B-B14F-4D97-AF65-F5344CB8AC3E}">
        <p14:creationId xmlns:p14="http://schemas.microsoft.com/office/powerpoint/2010/main" val="2724935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17753-ABCA-8CA1-09DA-C280545569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5445E866-0C24-F386-F391-D576BF0436C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5BF0CF-CC94-8308-7111-BBBA9D030D93}"/>
              </a:ext>
            </a:extLst>
          </p:cNvPr>
          <p:cNvSpPr>
            <a:spLocks noGrp="1"/>
          </p:cNvSpPr>
          <p:nvPr>
            <p:ph type="dt" sz="half" idx="10"/>
          </p:nvPr>
        </p:nvSpPr>
        <p:spPr/>
        <p:txBody>
          <a:bodyPr/>
          <a:lstStyle/>
          <a:p>
            <a:fld id="{80ED19FA-F62D-49BC-9365-0228071E9299}" type="datetimeFigureOut">
              <a:rPr lang="en-AU" smtClean="0"/>
              <a:t>5/12/2025</a:t>
            </a:fld>
            <a:endParaRPr lang="en-AU"/>
          </a:p>
        </p:txBody>
      </p:sp>
      <p:sp>
        <p:nvSpPr>
          <p:cNvPr id="5" name="Footer Placeholder 4">
            <a:extLst>
              <a:ext uri="{FF2B5EF4-FFF2-40B4-BE49-F238E27FC236}">
                <a16:creationId xmlns:a16="http://schemas.microsoft.com/office/drawing/2014/main" id="{4144B38F-A04E-92F4-46D0-30AB234A8E4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08D9BE9-CF90-383A-97D8-FF3AA6AC646E}"/>
              </a:ext>
            </a:extLst>
          </p:cNvPr>
          <p:cNvSpPr>
            <a:spLocks noGrp="1"/>
          </p:cNvSpPr>
          <p:nvPr>
            <p:ph type="sldNum" sz="quarter" idx="12"/>
          </p:nvPr>
        </p:nvSpPr>
        <p:spPr/>
        <p:txBody>
          <a:bodyPr/>
          <a:lstStyle/>
          <a:p>
            <a:fld id="{F15AF92D-E6C8-4723-917B-2DD3035C9063}" type="slidenum">
              <a:rPr lang="en-AU" smtClean="0"/>
              <a:t>‹#›</a:t>
            </a:fld>
            <a:endParaRPr lang="en-AU"/>
          </a:p>
        </p:txBody>
      </p:sp>
    </p:spTree>
    <p:extLst>
      <p:ext uri="{BB962C8B-B14F-4D97-AF65-F5344CB8AC3E}">
        <p14:creationId xmlns:p14="http://schemas.microsoft.com/office/powerpoint/2010/main" val="3125390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A830A-8BE8-A9A5-3932-14112BDF9359}"/>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0A3777FE-1BA9-E994-2ED6-B5238E3F304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674FDD93-CC4F-6958-A497-C687AAC1E7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970A7D61-5022-53E0-DF58-2D8F1443A28D}"/>
              </a:ext>
            </a:extLst>
          </p:cNvPr>
          <p:cNvSpPr>
            <a:spLocks noGrp="1"/>
          </p:cNvSpPr>
          <p:nvPr>
            <p:ph type="dt" sz="half" idx="10"/>
          </p:nvPr>
        </p:nvSpPr>
        <p:spPr/>
        <p:txBody>
          <a:bodyPr/>
          <a:lstStyle/>
          <a:p>
            <a:fld id="{80ED19FA-F62D-49BC-9365-0228071E9299}" type="datetimeFigureOut">
              <a:rPr lang="en-AU" smtClean="0"/>
              <a:t>5/12/2025</a:t>
            </a:fld>
            <a:endParaRPr lang="en-AU"/>
          </a:p>
        </p:txBody>
      </p:sp>
      <p:sp>
        <p:nvSpPr>
          <p:cNvPr id="6" name="Footer Placeholder 5">
            <a:extLst>
              <a:ext uri="{FF2B5EF4-FFF2-40B4-BE49-F238E27FC236}">
                <a16:creationId xmlns:a16="http://schemas.microsoft.com/office/drawing/2014/main" id="{6C51DC16-52AE-D768-3304-5F4AFF614C3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C1C6F7C-870E-8B61-75F5-8BBC24745400}"/>
              </a:ext>
            </a:extLst>
          </p:cNvPr>
          <p:cNvSpPr>
            <a:spLocks noGrp="1"/>
          </p:cNvSpPr>
          <p:nvPr>
            <p:ph type="sldNum" sz="quarter" idx="12"/>
          </p:nvPr>
        </p:nvSpPr>
        <p:spPr/>
        <p:txBody>
          <a:bodyPr/>
          <a:lstStyle/>
          <a:p>
            <a:fld id="{F15AF92D-E6C8-4723-917B-2DD3035C9063}" type="slidenum">
              <a:rPr lang="en-AU" smtClean="0"/>
              <a:t>‹#›</a:t>
            </a:fld>
            <a:endParaRPr lang="en-AU"/>
          </a:p>
        </p:txBody>
      </p:sp>
    </p:spTree>
    <p:extLst>
      <p:ext uri="{BB962C8B-B14F-4D97-AF65-F5344CB8AC3E}">
        <p14:creationId xmlns:p14="http://schemas.microsoft.com/office/powerpoint/2010/main" val="3023461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7F382-A7AD-D43D-EBF8-2239F3B60C45}"/>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D98D912C-9E35-8AB4-A665-C14E5A8FEC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635A4C-057D-0552-29A0-6F15EAAE23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4DB4819B-91F2-A856-0157-B05F484862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3B8A6B-B7FA-1F45-07B6-B052180F07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736BFE88-C99C-E44F-D944-776ED808295D}"/>
              </a:ext>
            </a:extLst>
          </p:cNvPr>
          <p:cNvSpPr>
            <a:spLocks noGrp="1"/>
          </p:cNvSpPr>
          <p:nvPr>
            <p:ph type="dt" sz="half" idx="10"/>
          </p:nvPr>
        </p:nvSpPr>
        <p:spPr/>
        <p:txBody>
          <a:bodyPr/>
          <a:lstStyle/>
          <a:p>
            <a:fld id="{80ED19FA-F62D-49BC-9365-0228071E9299}" type="datetimeFigureOut">
              <a:rPr lang="en-AU" smtClean="0"/>
              <a:t>5/12/2025</a:t>
            </a:fld>
            <a:endParaRPr lang="en-AU"/>
          </a:p>
        </p:txBody>
      </p:sp>
      <p:sp>
        <p:nvSpPr>
          <p:cNvPr id="8" name="Footer Placeholder 7">
            <a:extLst>
              <a:ext uri="{FF2B5EF4-FFF2-40B4-BE49-F238E27FC236}">
                <a16:creationId xmlns:a16="http://schemas.microsoft.com/office/drawing/2014/main" id="{DE1F5A76-60D0-9AB6-4499-FD3D17D80A5C}"/>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91929BE5-6159-0D0D-F202-7F87FBE94AC0}"/>
              </a:ext>
            </a:extLst>
          </p:cNvPr>
          <p:cNvSpPr>
            <a:spLocks noGrp="1"/>
          </p:cNvSpPr>
          <p:nvPr>
            <p:ph type="sldNum" sz="quarter" idx="12"/>
          </p:nvPr>
        </p:nvSpPr>
        <p:spPr/>
        <p:txBody>
          <a:bodyPr/>
          <a:lstStyle/>
          <a:p>
            <a:fld id="{F15AF92D-E6C8-4723-917B-2DD3035C9063}" type="slidenum">
              <a:rPr lang="en-AU" smtClean="0"/>
              <a:t>‹#›</a:t>
            </a:fld>
            <a:endParaRPr lang="en-AU"/>
          </a:p>
        </p:txBody>
      </p:sp>
    </p:spTree>
    <p:extLst>
      <p:ext uri="{BB962C8B-B14F-4D97-AF65-F5344CB8AC3E}">
        <p14:creationId xmlns:p14="http://schemas.microsoft.com/office/powerpoint/2010/main" val="3144349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5B2E2-C8D2-13A4-1DD8-E8A730EFA5C2}"/>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F1277446-45C8-4214-7825-229F80602BD9}"/>
              </a:ext>
            </a:extLst>
          </p:cNvPr>
          <p:cNvSpPr>
            <a:spLocks noGrp="1"/>
          </p:cNvSpPr>
          <p:nvPr>
            <p:ph type="dt" sz="half" idx="10"/>
          </p:nvPr>
        </p:nvSpPr>
        <p:spPr/>
        <p:txBody>
          <a:bodyPr/>
          <a:lstStyle/>
          <a:p>
            <a:fld id="{80ED19FA-F62D-49BC-9365-0228071E9299}" type="datetimeFigureOut">
              <a:rPr lang="en-AU" smtClean="0"/>
              <a:t>5/12/2025</a:t>
            </a:fld>
            <a:endParaRPr lang="en-AU"/>
          </a:p>
        </p:txBody>
      </p:sp>
      <p:sp>
        <p:nvSpPr>
          <p:cNvPr id="4" name="Footer Placeholder 3">
            <a:extLst>
              <a:ext uri="{FF2B5EF4-FFF2-40B4-BE49-F238E27FC236}">
                <a16:creationId xmlns:a16="http://schemas.microsoft.com/office/drawing/2014/main" id="{5B90B0FA-CCE1-F326-6086-D6C34CAD2CE9}"/>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461E322F-4500-298B-784A-B2881C233B9E}"/>
              </a:ext>
            </a:extLst>
          </p:cNvPr>
          <p:cNvSpPr>
            <a:spLocks noGrp="1"/>
          </p:cNvSpPr>
          <p:nvPr>
            <p:ph type="sldNum" sz="quarter" idx="12"/>
          </p:nvPr>
        </p:nvSpPr>
        <p:spPr/>
        <p:txBody>
          <a:bodyPr/>
          <a:lstStyle/>
          <a:p>
            <a:fld id="{F15AF92D-E6C8-4723-917B-2DD3035C9063}" type="slidenum">
              <a:rPr lang="en-AU" smtClean="0"/>
              <a:t>‹#›</a:t>
            </a:fld>
            <a:endParaRPr lang="en-AU"/>
          </a:p>
        </p:txBody>
      </p:sp>
    </p:spTree>
    <p:extLst>
      <p:ext uri="{BB962C8B-B14F-4D97-AF65-F5344CB8AC3E}">
        <p14:creationId xmlns:p14="http://schemas.microsoft.com/office/powerpoint/2010/main" val="3685506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58F77D-7A90-4D90-51A2-E75A190E0139}"/>
              </a:ext>
            </a:extLst>
          </p:cNvPr>
          <p:cNvSpPr>
            <a:spLocks noGrp="1"/>
          </p:cNvSpPr>
          <p:nvPr>
            <p:ph type="dt" sz="half" idx="10"/>
          </p:nvPr>
        </p:nvSpPr>
        <p:spPr/>
        <p:txBody>
          <a:bodyPr/>
          <a:lstStyle/>
          <a:p>
            <a:fld id="{80ED19FA-F62D-49BC-9365-0228071E9299}" type="datetimeFigureOut">
              <a:rPr lang="en-AU" smtClean="0"/>
              <a:t>5/12/2025</a:t>
            </a:fld>
            <a:endParaRPr lang="en-AU"/>
          </a:p>
        </p:txBody>
      </p:sp>
      <p:sp>
        <p:nvSpPr>
          <p:cNvPr id="3" name="Footer Placeholder 2">
            <a:extLst>
              <a:ext uri="{FF2B5EF4-FFF2-40B4-BE49-F238E27FC236}">
                <a16:creationId xmlns:a16="http://schemas.microsoft.com/office/drawing/2014/main" id="{CDF66CBE-E582-4B28-579E-15059200CE35}"/>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2EC1EFCC-E638-6B3C-670E-C5B6F538561A}"/>
              </a:ext>
            </a:extLst>
          </p:cNvPr>
          <p:cNvSpPr>
            <a:spLocks noGrp="1"/>
          </p:cNvSpPr>
          <p:nvPr>
            <p:ph type="sldNum" sz="quarter" idx="12"/>
          </p:nvPr>
        </p:nvSpPr>
        <p:spPr/>
        <p:txBody>
          <a:bodyPr/>
          <a:lstStyle/>
          <a:p>
            <a:fld id="{F15AF92D-E6C8-4723-917B-2DD3035C9063}" type="slidenum">
              <a:rPr lang="en-AU" smtClean="0"/>
              <a:t>‹#›</a:t>
            </a:fld>
            <a:endParaRPr lang="en-AU"/>
          </a:p>
        </p:txBody>
      </p:sp>
    </p:spTree>
    <p:extLst>
      <p:ext uri="{BB962C8B-B14F-4D97-AF65-F5344CB8AC3E}">
        <p14:creationId xmlns:p14="http://schemas.microsoft.com/office/powerpoint/2010/main" val="3212684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59DF1-8D4F-218A-0435-E9D455EAA7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11C76C56-904F-A087-ABFC-B4D5FC764E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811E3079-7009-DBC2-425B-0581C23DF7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ADF15C-433A-2E2C-D66B-4310317C7473}"/>
              </a:ext>
            </a:extLst>
          </p:cNvPr>
          <p:cNvSpPr>
            <a:spLocks noGrp="1"/>
          </p:cNvSpPr>
          <p:nvPr>
            <p:ph type="dt" sz="half" idx="10"/>
          </p:nvPr>
        </p:nvSpPr>
        <p:spPr/>
        <p:txBody>
          <a:bodyPr/>
          <a:lstStyle/>
          <a:p>
            <a:fld id="{80ED19FA-F62D-49BC-9365-0228071E9299}" type="datetimeFigureOut">
              <a:rPr lang="en-AU" smtClean="0"/>
              <a:t>5/12/2025</a:t>
            </a:fld>
            <a:endParaRPr lang="en-AU"/>
          </a:p>
        </p:txBody>
      </p:sp>
      <p:sp>
        <p:nvSpPr>
          <p:cNvPr id="6" name="Footer Placeholder 5">
            <a:extLst>
              <a:ext uri="{FF2B5EF4-FFF2-40B4-BE49-F238E27FC236}">
                <a16:creationId xmlns:a16="http://schemas.microsoft.com/office/drawing/2014/main" id="{DA0C2D21-2303-03E3-17B0-F7C730D5E4C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7BF4630-B158-1C09-D1A0-2F6DC40B0712}"/>
              </a:ext>
            </a:extLst>
          </p:cNvPr>
          <p:cNvSpPr>
            <a:spLocks noGrp="1"/>
          </p:cNvSpPr>
          <p:nvPr>
            <p:ph type="sldNum" sz="quarter" idx="12"/>
          </p:nvPr>
        </p:nvSpPr>
        <p:spPr/>
        <p:txBody>
          <a:bodyPr/>
          <a:lstStyle/>
          <a:p>
            <a:fld id="{F15AF92D-E6C8-4723-917B-2DD3035C9063}" type="slidenum">
              <a:rPr lang="en-AU" smtClean="0"/>
              <a:t>‹#›</a:t>
            </a:fld>
            <a:endParaRPr lang="en-AU"/>
          </a:p>
        </p:txBody>
      </p:sp>
    </p:spTree>
    <p:extLst>
      <p:ext uri="{BB962C8B-B14F-4D97-AF65-F5344CB8AC3E}">
        <p14:creationId xmlns:p14="http://schemas.microsoft.com/office/powerpoint/2010/main" val="36843326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A4665-CE4A-1891-4977-764F918456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5DD36F04-80D1-572E-2EB5-1CDD76C857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67B5AF73-81C2-9BF2-C817-EE7EC31FE8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B2590D-29F0-A2BB-7BCD-99F9879DD0B1}"/>
              </a:ext>
            </a:extLst>
          </p:cNvPr>
          <p:cNvSpPr>
            <a:spLocks noGrp="1"/>
          </p:cNvSpPr>
          <p:nvPr>
            <p:ph type="dt" sz="half" idx="10"/>
          </p:nvPr>
        </p:nvSpPr>
        <p:spPr/>
        <p:txBody>
          <a:bodyPr/>
          <a:lstStyle/>
          <a:p>
            <a:fld id="{80ED19FA-F62D-49BC-9365-0228071E9299}" type="datetimeFigureOut">
              <a:rPr lang="en-AU" smtClean="0"/>
              <a:t>5/12/2025</a:t>
            </a:fld>
            <a:endParaRPr lang="en-AU"/>
          </a:p>
        </p:txBody>
      </p:sp>
      <p:sp>
        <p:nvSpPr>
          <p:cNvPr id="6" name="Footer Placeholder 5">
            <a:extLst>
              <a:ext uri="{FF2B5EF4-FFF2-40B4-BE49-F238E27FC236}">
                <a16:creationId xmlns:a16="http://schemas.microsoft.com/office/drawing/2014/main" id="{36518505-7BE6-62FF-CB2D-E1DCBA8A769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DFADE98-3773-B6B1-02DF-2F5834D56652}"/>
              </a:ext>
            </a:extLst>
          </p:cNvPr>
          <p:cNvSpPr>
            <a:spLocks noGrp="1"/>
          </p:cNvSpPr>
          <p:nvPr>
            <p:ph type="sldNum" sz="quarter" idx="12"/>
          </p:nvPr>
        </p:nvSpPr>
        <p:spPr/>
        <p:txBody>
          <a:bodyPr/>
          <a:lstStyle/>
          <a:p>
            <a:fld id="{F15AF92D-E6C8-4723-917B-2DD3035C9063}" type="slidenum">
              <a:rPr lang="en-AU" smtClean="0"/>
              <a:t>‹#›</a:t>
            </a:fld>
            <a:endParaRPr lang="en-AU"/>
          </a:p>
        </p:txBody>
      </p:sp>
    </p:spTree>
    <p:extLst>
      <p:ext uri="{BB962C8B-B14F-4D97-AF65-F5344CB8AC3E}">
        <p14:creationId xmlns:p14="http://schemas.microsoft.com/office/powerpoint/2010/main" val="1378376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561C5-32E4-8CA6-DA17-33B5FA6BE9B6}"/>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D191E01-AE36-396E-ACAE-939EC60896E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1C10A3C-6A4D-B349-4CE7-D92335E9EE58}"/>
              </a:ext>
            </a:extLst>
          </p:cNvPr>
          <p:cNvSpPr>
            <a:spLocks noGrp="1"/>
          </p:cNvSpPr>
          <p:nvPr>
            <p:ph type="dt" sz="half" idx="10"/>
          </p:nvPr>
        </p:nvSpPr>
        <p:spPr/>
        <p:txBody>
          <a:bodyPr/>
          <a:lstStyle/>
          <a:p>
            <a:fld id="{80ED19FA-F62D-49BC-9365-0228071E9299}" type="datetimeFigureOut">
              <a:rPr lang="en-AU" smtClean="0"/>
              <a:t>5/12/2025</a:t>
            </a:fld>
            <a:endParaRPr lang="en-AU"/>
          </a:p>
        </p:txBody>
      </p:sp>
      <p:sp>
        <p:nvSpPr>
          <p:cNvPr id="5" name="Footer Placeholder 4">
            <a:extLst>
              <a:ext uri="{FF2B5EF4-FFF2-40B4-BE49-F238E27FC236}">
                <a16:creationId xmlns:a16="http://schemas.microsoft.com/office/drawing/2014/main" id="{4B899089-9318-8268-340C-731B4E58284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8E70DB3-3893-A4AD-3155-CC6C5E10A36C}"/>
              </a:ext>
            </a:extLst>
          </p:cNvPr>
          <p:cNvSpPr>
            <a:spLocks noGrp="1"/>
          </p:cNvSpPr>
          <p:nvPr>
            <p:ph type="sldNum" sz="quarter" idx="12"/>
          </p:nvPr>
        </p:nvSpPr>
        <p:spPr/>
        <p:txBody>
          <a:bodyPr/>
          <a:lstStyle/>
          <a:p>
            <a:fld id="{F15AF92D-E6C8-4723-917B-2DD3035C9063}" type="slidenum">
              <a:rPr lang="en-AU" smtClean="0"/>
              <a:t>‹#›</a:t>
            </a:fld>
            <a:endParaRPr lang="en-AU"/>
          </a:p>
        </p:txBody>
      </p:sp>
    </p:spTree>
    <p:extLst>
      <p:ext uri="{BB962C8B-B14F-4D97-AF65-F5344CB8AC3E}">
        <p14:creationId xmlns:p14="http://schemas.microsoft.com/office/powerpoint/2010/main" val="3293243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0BC9BE-E4BE-085F-6AB4-78C383A1B2C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5A7DE277-77FC-DE9C-B8D1-5982E27CE47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C575CD0-F1BE-E65E-7E4A-786D5AB9B278}"/>
              </a:ext>
            </a:extLst>
          </p:cNvPr>
          <p:cNvSpPr>
            <a:spLocks noGrp="1"/>
          </p:cNvSpPr>
          <p:nvPr>
            <p:ph type="dt" sz="half" idx="10"/>
          </p:nvPr>
        </p:nvSpPr>
        <p:spPr/>
        <p:txBody>
          <a:bodyPr/>
          <a:lstStyle/>
          <a:p>
            <a:fld id="{80ED19FA-F62D-49BC-9365-0228071E9299}" type="datetimeFigureOut">
              <a:rPr lang="en-AU" smtClean="0"/>
              <a:t>5/12/2025</a:t>
            </a:fld>
            <a:endParaRPr lang="en-AU"/>
          </a:p>
        </p:txBody>
      </p:sp>
      <p:sp>
        <p:nvSpPr>
          <p:cNvPr id="5" name="Footer Placeholder 4">
            <a:extLst>
              <a:ext uri="{FF2B5EF4-FFF2-40B4-BE49-F238E27FC236}">
                <a16:creationId xmlns:a16="http://schemas.microsoft.com/office/drawing/2014/main" id="{B1686865-3987-165B-ECA3-E05EE79A209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207F181-5468-5F60-34AB-86754DDF07E9}"/>
              </a:ext>
            </a:extLst>
          </p:cNvPr>
          <p:cNvSpPr>
            <a:spLocks noGrp="1"/>
          </p:cNvSpPr>
          <p:nvPr>
            <p:ph type="sldNum" sz="quarter" idx="12"/>
          </p:nvPr>
        </p:nvSpPr>
        <p:spPr/>
        <p:txBody>
          <a:bodyPr/>
          <a:lstStyle/>
          <a:p>
            <a:fld id="{F15AF92D-E6C8-4723-917B-2DD3035C9063}" type="slidenum">
              <a:rPr lang="en-AU" smtClean="0"/>
              <a:t>‹#›</a:t>
            </a:fld>
            <a:endParaRPr lang="en-AU"/>
          </a:p>
        </p:txBody>
      </p:sp>
    </p:spTree>
    <p:extLst>
      <p:ext uri="{BB962C8B-B14F-4D97-AF65-F5344CB8AC3E}">
        <p14:creationId xmlns:p14="http://schemas.microsoft.com/office/powerpoint/2010/main" val="398048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466FFE-FA6B-5D63-3F51-EC24385EDF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F4BB04A0-1671-81AF-2D3B-925FF5DF8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CC7D07D2-703D-9DCA-B9D1-8BB4BA7CDCF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ED19FA-F62D-49BC-9365-0228071E9299}" type="datetimeFigureOut">
              <a:rPr lang="en-AU" smtClean="0"/>
              <a:t>5/12/2025</a:t>
            </a:fld>
            <a:endParaRPr lang="en-AU"/>
          </a:p>
        </p:txBody>
      </p:sp>
      <p:sp>
        <p:nvSpPr>
          <p:cNvPr id="5" name="Footer Placeholder 4">
            <a:extLst>
              <a:ext uri="{FF2B5EF4-FFF2-40B4-BE49-F238E27FC236}">
                <a16:creationId xmlns:a16="http://schemas.microsoft.com/office/drawing/2014/main" id="{B40EE107-5AE0-80BF-7C37-0B92B02F82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B2816778-4B6B-12DF-E61B-C4A7D80314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5AF92D-E6C8-4723-917B-2DD3035C9063}" type="slidenum">
              <a:rPr lang="en-AU" smtClean="0"/>
              <a:t>‹#›</a:t>
            </a:fld>
            <a:endParaRPr lang="en-AU"/>
          </a:p>
        </p:txBody>
      </p:sp>
    </p:spTree>
    <p:extLst>
      <p:ext uri="{BB962C8B-B14F-4D97-AF65-F5344CB8AC3E}">
        <p14:creationId xmlns:p14="http://schemas.microsoft.com/office/powerpoint/2010/main" val="9357724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E8C5E-AF1E-7E7D-0055-A4448700F71A}"/>
              </a:ext>
            </a:extLst>
          </p:cNvPr>
          <p:cNvSpPr>
            <a:spLocks noGrp="1"/>
          </p:cNvSpPr>
          <p:nvPr>
            <p:ph type="ctrTitle"/>
          </p:nvPr>
        </p:nvSpPr>
        <p:spPr>
          <a:xfrm>
            <a:off x="1491197" y="1602116"/>
            <a:ext cx="9144000" cy="2387600"/>
          </a:xfrm>
        </p:spPr>
        <p:txBody>
          <a:bodyPr/>
          <a:lstStyle/>
          <a:p>
            <a:r>
              <a:rPr lang="en-US" dirty="0"/>
              <a:t>Trade Liberalization, Export and Product Innovation</a:t>
            </a:r>
            <a:endParaRPr lang="en-AU" dirty="0"/>
          </a:p>
        </p:txBody>
      </p:sp>
      <p:sp>
        <p:nvSpPr>
          <p:cNvPr id="3" name="Subtitle 2">
            <a:extLst>
              <a:ext uri="{FF2B5EF4-FFF2-40B4-BE49-F238E27FC236}">
                <a16:creationId xmlns:a16="http://schemas.microsoft.com/office/drawing/2014/main" id="{E624EFEC-FF2C-4575-698C-A584F964D1F4}"/>
              </a:ext>
            </a:extLst>
          </p:cNvPr>
          <p:cNvSpPr>
            <a:spLocks noGrp="1"/>
          </p:cNvSpPr>
          <p:nvPr>
            <p:ph type="subTitle" idx="1"/>
          </p:nvPr>
        </p:nvSpPr>
        <p:spPr>
          <a:xfrm>
            <a:off x="1491197" y="4229407"/>
            <a:ext cx="9144000" cy="1655762"/>
          </a:xfrm>
        </p:spPr>
        <p:txBody>
          <a:bodyPr>
            <a:normAutofit fontScale="92500" lnSpcReduction="10000"/>
          </a:bodyPr>
          <a:lstStyle/>
          <a:p>
            <a:pPr algn="ctr">
              <a:lnSpc>
                <a:spcPct val="107000"/>
              </a:lnSpc>
              <a:spcAft>
                <a:spcPts val="800"/>
              </a:spcAft>
            </a:pPr>
            <a:r>
              <a:rPr lang="en-AU" sz="1800" dirty="0">
                <a:effectLst/>
                <a:latin typeface="Times New Roman" panose="02020603050405020304" pitchFamily="18" charset="0"/>
                <a:ea typeface="DengXian" panose="02010600030101010101" pitchFamily="2" charset="-122"/>
                <a:cs typeface="Times New Roman" panose="02020603050405020304" pitchFamily="18" charset="0"/>
              </a:rPr>
              <a:t>Sizhong Sun</a:t>
            </a:r>
            <a:endParaRPr lang="en-AU" sz="1800" dirty="0">
              <a:effectLst/>
              <a:latin typeface="DengXian" panose="02010600030101010101" pitchFamily="2" charset="-122"/>
              <a:ea typeface="DengXian" panose="02010600030101010101" pitchFamily="2" charset="-122"/>
              <a:cs typeface="Times New Roman" panose="02020603050405020304" pitchFamily="18" charset="0"/>
            </a:endParaRPr>
          </a:p>
          <a:p>
            <a:pPr algn="ctr">
              <a:lnSpc>
                <a:spcPct val="107000"/>
              </a:lnSpc>
              <a:spcAft>
                <a:spcPts val="800"/>
              </a:spcAft>
            </a:pPr>
            <a:r>
              <a:rPr lang="en-AU" sz="1800" dirty="0">
                <a:effectLst/>
                <a:latin typeface="Times New Roman" panose="02020603050405020304" pitchFamily="18" charset="0"/>
                <a:ea typeface="DengXian" panose="02010600030101010101" pitchFamily="2" charset="-122"/>
                <a:cs typeface="Times New Roman" panose="02020603050405020304" pitchFamily="18" charset="0"/>
              </a:rPr>
              <a:t>College of Business Law and Governance</a:t>
            </a:r>
            <a:br>
              <a:rPr lang="en-AU" sz="1800" dirty="0">
                <a:effectLst/>
                <a:latin typeface="Times New Roman" panose="02020603050405020304" pitchFamily="18" charset="0"/>
                <a:ea typeface="DengXian" panose="02010600030101010101" pitchFamily="2" charset="-122"/>
                <a:cs typeface="Times New Roman" panose="02020603050405020304" pitchFamily="18" charset="0"/>
              </a:rPr>
            </a:br>
            <a:r>
              <a:rPr lang="en-AU" sz="1800" dirty="0">
                <a:effectLst/>
                <a:latin typeface="Times New Roman" panose="02020603050405020304" pitchFamily="18" charset="0"/>
                <a:ea typeface="DengXian" panose="02010600030101010101" pitchFamily="2" charset="-122"/>
                <a:cs typeface="Times New Roman" panose="02020603050405020304" pitchFamily="18" charset="0"/>
              </a:rPr>
              <a:t>James Cook University</a:t>
            </a:r>
          </a:p>
          <a:p>
            <a:pPr>
              <a:lnSpc>
                <a:spcPct val="107000"/>
              </a:lnSpc>
              <a:spcAft>
                <a:spcPts val="800"/>
              </a:spcAft>
            </a:pPr>
            <a:r>
              <a:rPr lang="en-AU" sz="1800" dirty="0">
                <a:effectLst/>
                <a:latin typeface="Times New Roman" panose="02020603050405020304" pitchFamily="18" charset="0"/>
                <a:ea typeface="DengXian" panose="02010600030101010101" pitchFamily="2" charset="-122"/>
                <a:cs typeface="Times New Roman" panose="02020603050405020304" pitchFamily="18" charset="0"/>
              </a:rPr>
              <a:t>sizhong.sun@jcu.edu.au</a:t>
            </a:r>
            <a:endParaRPr lang="en-AU" sz="1800" dirty="0">
              <a:effectLst/>
              <a:latin typeface="DengXian" panose="02010600030101010101" pitchFamily="2" charset="-122"/>
              <a:ea typeface="DengXian" panose="02010600030101010101" pitchFamily="2" charset="-122"/>
              <a:cs typeface="Times New Roman" panose="02020603050405020304" pitchFamily="18" charset="0"/>
            </a:endParaRPr>
          </a:p>
          <a:p>
            <a:pPr algn="ctr">
              <a:lnSpc>
                <a:spcPct val="107000"/>
              </a:lnSpc>
              <a:spcAft>
                <a:spcPts val="800"/>
              </a:spcAft>
            </a:pPr>
            <a:endParaRPr lang="en-AU" sz="1800" dirty="0">
              <a:effectLst/>
              <a:latin typeface="DengXian" panose="02010600030101010101" pitchFamily="2" charset="-122"/>
              <a:ea typeface="DengXian" panose="02010600030101010101" pitchFamily="2" charset="-122"/>
              <a:cs typeface="Times New Roman" panose="02020603050405020304" pitchFamily="18" charset="0"/>
            </a:endParaRPr>
          </a:p>
          <a:p>
            <a:endParaRPr lang="en-AU" dirty="0"/>
          </a:p>
        </p:txBody>
      </p:sp>
      <p:sp>
        <p:nvSpPr>
          <p:cNvPr id="4" name="TextBox 3">
            <a:extLst>
              <a:ext uri="{FF2B5EF4-FFF2-40B4-BE49-F238E27FC236}">
                <a16:creationId xmlns:a16="http://schemas.microsoft.com/office/drawing/2014/main" id="{B970C8C7-18C0-D40E-91D0-8D9C911AEACE}"/>
              </a:ext>
            </a:extLst>
          </p:cNvPr>
          <p:cNvSpPr txBox="1"/>
          <p:nvPr/>
        </p:nvSpPr>
        <p:spPr>
          <a:xfrm>
            <a:off x="2337257" y="250127"/>
            <a:ext cx="7036369" cy="1477328"/>
          </a:xfrm>
          <a:prstGeom prst="rect">
            <a:avLst/>
          </a:prstGeom>
          <a:noFill/>
        </p:spPr>
        <p:txBody>
          <a:bodyPr wrap="square" rtlCol="0">
            <a:spAutoFit/>
          </a:bodyPr>
          <a:lstStyle/>
          <a:p>
            <a:pPr algn="ctr"/>
            <a:r>
              <a:rPr lang="en-US" dirty="0"/>
              <a:t>Econometric Society Winter School in Dynamic Structural Econometrics</a:t>
            </a:r>
          </a:p>
          <a:p>
            <a:pPr algn="ctr"/>
            <a:r>
              <a:rPr lang="en-US" dirty="0"/>
              <a:t>Combining Structural Estimation with RCTs and Quasi-Experiments</a:t>
            </a:r>
          </a:p>
          <a:p>
            <a:pPr algn="ctr"/>
            <a:endParaRPr lang="en-US" dirty="0"/>
          </a:p>
          <a:p>
            <a:pPr algn="ctr"/>
            <a:r>
              <a:rPr lang="en-US" dirty="0"/>
              <a:t>The University of Hong Kong</a:t>
            </a:r>
          </a:p>
          <a:p>
            <a:pPr algn="ctr"/>
            <a:r>
              <a:rPr lang="en-US" dirty="0"/>
              <a:t>10-11 December, 2025 </a:t>
            </a:r>
            <a:endParaRPr lang="en-AU" dirty="0"/>
          </a:p>
        </p:txBody>
      </p:sp>
    </p:spTree>
    <p:extLst>
      <p:ext uri="{BB962C8B-B14F-4D97-AF65-F5344CB8AC3E}">
        <p14:creationId xmlns:p14="http://schemas.microsoft.com/office/powerpoint/2010/main" val="16044473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B110F-C194-F681-C12D-A145B4467A6C}"/>
              </a:ext>
            </a:extLst>
          </p:cNvPr>
          <p:cNvSpPr>
            <a:spLocks noGrp="1"/>
          </p:cNvSpPr>
          <p:nvPr>
            <p:ph type="title"/>
          </p:nvPr>
        </p:nvSpPr>
        <p:spPr/>
        <p:txBody>
          <a:bodyPr/>
          <a:lstStyle/>
          <a:p>
            <a:r>
              <a:rPr lang="en-AU" dirty="0"/>
              <a:t>Introduction</a:t>
            </a:r>
          </a:p>
        </p:txBody>
      </p:sp>
      <p:sp>
        <p:nvSpPr>
          <p:cNvPr id="3" name="Content Placeholder 2">
            <a:extLst>
              <a:ext uri="{FF2B5EF4-FFF2-40B4-BE49-F238E27FC236}">
                <a16:creationId xmlns:a16="http://schemas.microsoft.com/office/drawing/2014/main" id="{A56D7A75-66E9-2344-749F-3462F2EE3DC4}"/>
              </a:ext>
            </a:extLst>
          </p:cNvPr>
          <p:cNvSpPr>
            <a:spLocks noGrp="1"/>
          </p:cNvSpPr>
          <p:nvPr>
            <p:ph idx="1"/>
          </p:nvPr>
        </p:nvSpPr>
        <p:spPr/>
        <p:txBody>
          <a:bodyPr/>
          <a:lstStyle/>
          <a:p>
            <a:r>
              <a:rPr lang="en-US" dirty="0"/>
              <a:t>Arguably, innovation and export play an important role in a firm’s profitability and growth. </a:t>
            </a:r>
          </a:p>
          <a:p>
            <a:r>
              <a:rPr lang="en-US" dirty="0"/>
              <a:t>Researchers have explored innovation and export from different dimensions, both theoretically and empirically.</a:t>
            </a:r>
          </a:p>
          <a:p>
            <a:pPr lvl="1"/>
            <a:r>
              <a:rPr lang="en-US" dirty="0"/>
              <a:t>Melitz and Redding (2021) highlight four key mechanisms through which international trade affects innovation, namely market size, competition, comparative advantage and knowledge spillovers</a:t>
            </a:r>
          </a:p>
          <a:p>
            <a:pPr lvl="1"/>
            <a:r>
              <a:rPr lang="en-US" dirty="0"/>
              <a:t>Innovation can boost firms’ export, both in terms of extensive and intensive margins (</a:t>
            </a:r>
            <a:r>
              <a:rPr lang="en-US" dirty="0" err="1"/>
              <a:t>Cassiman</a:t>
            </a:r>
            <a:r>
              <a:rPr lang="en-US" dirty="0"/>
              <a:t> et al., 2010, Becker and Egger, 2013)</a:t>
            </a:r>
            <a:endParaRPr lang="en-AU" dirty="0"/>
          </a:p>
        </p:txBody>
      </p:sp>
    </p:spTree>
    <p:extLst>
      <p:ext uri="{BB962C8B-B14F-4D97-AF65-F5344CB8AC3E}">
        <p14:creationId xmlns:p14="http://schemas.microsoft.com/office/powerpoint/2010/main" val="35024578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DBDE5-1514-2BC1-D638-C0A4802E8EBA}"/>
              </a:ext>
            </a:extLst>
          </p:cNvPr>
          <p:cNvSpPr>
            <a:spLocks noGrp="1"/>
          </p:cNvSpPr>
          <p:nvPr>
            <p:ph type="title"/>
          </p:nvPr>
        </p:nvSpPr>
        <p:spPr/>
        <p:txBody>
          <a:bodyPr/>
          <a:lstStyle/>
          <a:p>
            <a:r>
              <a:rPr lang="en-AU" dirty="0"/>
              <a:t>Introduction</a:t>
            </a:r>
          </a:p>
        </p:txBody>
      </p:sp>
      <p:sp>
        <p:nvSpPr>
          <p:cNvPr id="3" name="Content Placeholder 2">
            <a:extLst>
              <a:ext uri="{FF2B5EF4-FFF2-40B4-BE49-F238E27FC236}">
                <a16:creationId xmlns:a16="http://schemas.microsoft.com/office/drawing/2014/main" id="{A99A730F-6395-D191-AC60-3BF997E2CC5B}"/>
              </a:ext>
            </a:extLst>
          </p:cNvPr>
          <p:cNvSpPr>
            <a:spLocks noGrp="1"/>
          </p:cNvSpPr>
          <p:nvPr>
            <p:ph idx="1"/>
          </p:nvPr>
        </p:nvSpPr>
        <p:spPr/>
        <p:txBody>
          <a:bodyPr/>
          <a:lstStyle/>
          <a:p>
            <a:r>
              <a:rPr lang="en-US" dirty="0"/>
              <a:t>Many of these studies explore international trade and innovation of forms other than product innovation. </a:t>
            </a:r>
          </a:p>
          <a:p>
            <a:r>
              <a:rPr lang="en-US" dirty="0"/>
              <a:t>Relatively fewer studies specifically focus on firms’ export and product innovation.</a:t>
            </a:r>
          </a:p>
          <a:p>
            <a:r>
              <a:rPr lang="en-US" dirty="0"/>
              <a:t>This paper intends to investigate firms’ decisions on export and product innovation  both theoretically and empirically.</a:t>
            </a:r>
            <a:endParaRPr lang="en-AU" dirty="0"/>
          </a:p>
        </p:txBody>
      </p:sp>
    </p:spTree>
    <p:extLst>
      <p:ext uri="{BB962C8B-B14F-4D97-AF65-F5344CB8AC3E}">
        <p14:creationId xmlns:p14="http://schemas.microsoft.com/office/powerpoint/2010/main" val="3568195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50D8D-EDE4-8B9B-CAAA-BF1984C4E00D}"/>
              </a:ext>
            </a:extLst>
          </p:cNvPr>
          <p:cNvSpPr>
            <a:spLocks noGrp="1"/>
          </p:cNvSpPr>
          <p:nvPr>
            <p:ph type="title"/>
          </p:nvPr>
        </p:nvSpPr>
        <p:spPr/>
        <p:txBody>
          <a:bodyPr/>
          <a:lstStyle/>
          <a:p>
            <a:r>
              <a:rPr lang="en-AU" dirty="0"/>
              <a:t>Introduction</a:t>
            </a:r>
          </a:p>
        </p:txBody>
      </p:sp>
      <p:sp>
        <p:nvSpPr>
          <p:cNvPr id="3" name="Content Placeholder 2">
            <a:extLst>
              <a:ext uri="{FF2B5EF4-FFF2-40B4-BE49-F238E27FC236}">
                <a16:creationId xmlns:a16="http://schemas.microsoft.com/office/drawing/2014/main" id="{AE8DAE6E-AAB7-307F-D75B-19DB0A1CFEDB}"/>
              </a:ext>
            </a:extLst>
          </p:cNvPr>
          <p:cNvSpPr>
            <a:spLocks noGrp="1"/>
          </p:cNvSpPr>
          <p:nvPr>
            <p:ph idx="1"/>
          </p:nvPr>
        </p:nvSpPr>
        <p:spPr/>
        <p:txBody>
          <a:bodyPr>
            <a:normAutofit lnSpcReduction="10000"/>
          </a:bodyPr>
          <a:lstStyle/>
          <a:p>
            <a:r>
              <a:rPr lang="en-US" dirty="0"/>
              <a:t>Theoretically, we model firms’ </a:t>
            </a:r>
            <a:r>
              <a:rPr lang="en-US" dirty="0" err="1"/>
              <a:t>behaviour</a:t>
            </a:r>
            <a:r>
              <a:rPr lang="en-US" dirty="0"/>
              <a:t> in a multi-stage framework, where firms make optimal decisions on entry, exit, whether to innovate and export, the degree of product innovation, and prices in both the domestic and export markets which are monopolistically competitive. </a:t>
            </a:r>
          </a:p>
          <a:p>
            <a:r>
              <a:rPr lang="en-US" dirty="0"/>
              <a:t>The model features a mixed static and dynamic decision making.</a:t>
            </a:r>
          </a:p>
          <a:p>
            <a:r>
              <a:rPr lang="en-US" dirty="0"/>
              <a:t>Empirically , we bring the model to data of a sample of air-conditioner manufacturing firms in China from 2000 to 2007. In particular, utilizing an exogenous shock of China’s WTO accession in December 2001,  we examine how this affects firms’ export and how the effect is transmitted to firms’ optimal decision to innovate. </a:t>
            </a:r>
            <a:endParaRPr lang="en-AU" dirty="0"/>
          </a:p>
        </p:txBody>
      </p:sp>
    </p:spTree>
    <p:extLst>
      <p:ext uri="{BB962C8B-B14F-4D97-AF65-F5344CB8AC3E}">
        <p14:creationId xmlns:p14="http://schemas.microsoft.com/office/powerpoint/2010/main" val="38005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2AD81-2CD9-061D-ADDF-EFEC2439E472}"/>
              </a:ext>
            </a:extLst>
          </p:cNvPr>
          <p:cNvSpPr>
            <a:spLocks noGrp="1"/>
          </p:cNvSpPr>
          <p:nvPr>
            <p:ph type="title"/>
          </p:nvPr>
        </p:nvSpPr>
        <p:spPr/>
        <p:txBody>
          <a:bodyPr/>
          <a:lstStyle/>
          <a:p>
            <a:r>
              <a:rPr lang="en-AU" dirty="0"/>
              <a:t>Introduction</a:t>
            </a:r>
          </a:p>
        </p:txBody>
      </p:sp>
      <p:sp>
        <p:nvSpPr>
          <p:cNvPr id="3" name="Content Placeholder 2">
            <a:extLst>
              <a:ext uri="{FF2B5EF4-FFF2-40B4-BE49-F238E27FC236}">
                <a16:creationId xmlns:a16="http://schemas.microsoft.com/office/drawing/2014/main" id="{15A2454B-BE51-8B87-5285-E8C85C8D3DD1}"/>
              </a:ext>
            </a:extLst>
          </p:cNvPr>
          <p:cNvSpPr>
            <a:spLocks noGrp="1"/>
          </p:cNvSpPr>
          <p:nvPr>
            <p:ph idx="1"/>
          </p:nvPr>
        </p:nvSpPr>
        <p:spPr/>
        <p:txBody>
          <a:bodyPr>
            <a:normAutofit fontScale="92500"/>
          </a:bodyPr>
          <a:lstStyle/>
          <a:p>
            <a:r>
              <a:rPr lang="en-AU" dirty="0"/>
              <a:t>Identification  Strategy:</a:t>
            </a:r>
          </a:p>
          <a:p>
            <a:r>
              <a:rPr lang="en-AU" dirty="0"/>
              <a:t>By imposing a theoretical model over data</a:t>
            </a:r>
          </a:p>
          <a:p>
            <a:r>
              <a:rPr lang="en-AU" dirty="0"/>
              <a:t>Utilize the structural relationship implied by the modelling;</a:t>
            </a:r>
          </a:p>
          <a:p>
            <a:r>
              <a:rPr lang="en-AU" dirty="0"/>
              <a:t>Utilize the variations in the sample (e.g. Das et al. 2007), for example:</a:t>
            </a:r>
          </a:p>
          <a:p>
            <a:pPr lvl="1"/>
            <a:r>
              <a:rPr lang="en-AU" dirty="0"/>
              <a:t>Given an increase in marginal benefit of innovation (due to trade liberalization shock)</a:t>
            </a:r>
          </a:p>
          <a:p>
            <a:pPr lvl="1"/>
            <a:r>
              <a:rPr lang="en-AU" dirty="0"/>
              <a:t>Firms that never innovates: It takes time to start innovation (R&amp;D personnel recruitment and facilities set-up);</a:t>
            </a:r>
          </a:p>
          <a:p>
            <a:pPr lvl="1"/>
            <a:r>
              <a:rPr lang="en-AU" dirty="0"/>
              <a:t>Firms that innovated previously: They can start new innovation more quickly by using existing facilities;</a:t>
            </a:r>
          </a:p>
          <a:p>
            <a:pPr lvl="1"/>
            <a:r>
              <a:rPr lang="en-AU" dirty="0"/>
              <a:t>Hence, there exists variations of response by these two types of firms, which can be used for identification purpose.</a:t>
            </a:r>
          </a:p>
          <a:p>
            <a:endParaRPr lang="en-AU" dirty="0"/>
          </a:p>
        </p:txBody>
      </p:sp>
    </p:spTree>
    <p:extLst>
      <p:ext uri="{BB962C8B-B14F-4D97-AF65-F5344CB8AC3E}">
        <p14:creationId xmlns:p14="http://schemas.microsoft.com/office/powerpoint/2010/main" val="12218790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C74F4-359B-F02B-65DF-4BF0DEA63E15}"/>
              </a:ext>
            </a:extLst>
          </p:cNvPr>
          <p:cNvSpPr>
            <a:spLocks noGrp="1"/>
          </p:cNvSpPr>
          <p:nvPr>
            <p:ph type="title"/>
          </p:nvPr>
        </p:nvSpPr>
        <p:spPr/>
        <p:txBody>
          <a:bodyPr/>
          <a:lstStyle/>
          <a:p>
            <a:r>
              <a:rPr lang="en-AU" dirty="0"/>
              <a:t>Introduction</a:t>
            </a:r>
          </a:p>
        </p:txBody>
      </p:sp>
      <p:sp>
        <p:nvSpPr>
          <p:cNvPr id="3" name="Content Placeholder 2">
            <a:extLst>
              <a:ext uri="{FF2B5EF4-FFF2-40B4-BE49-F238E27FC236}">
                <a16:creationId xmlns:a16="http://schemas.microsoft.com/office/drawing/2014/main" id="{3F1782F7-7FE6-8EB2-A098-B2563EAF7CB8}"/>
              </a:ext>
            </a:extLst>
          </p:cNvPr>
          <p:cNvSpPr>
            <a:spLocks noGrp="1"/>
          </p:cNvSpPr>
          <p:nvPr>
            <p:ph idx="1"/>
          </p:nvPr>
        </p:nvSpPr>
        <p:spPr/>
        <p:txBody>
          <a:bodyPr>
            <a:normAutofit fontScale="92500" lnSpcReduction="10000"/>
          </a:bodyPr>
          <a:lstStyle/>
          <a:p>
            <a:r>
              <a:rPr lang="en-AU" dirty="0"/>
              <a:t>We find</a:t>
            </a:r>
          </a:p>
          <a:p>
            <a:r>
              <a:rPr lang="en-US" dirty="0"/>
              <a:t>trade liberalization reduces the iceberg trade cost, ceteris paribus, which in turn promotes the value of export. The export promotion then improves firms’ probability of product innovation through three channels, namely a contemporaneous static effect and two dynamic effects. </a:t>
            </a:r>
            <a:endParaRPr lang="en-AU" dirty="0"/>
          </a:p>
          <a:p>
            <a:r>
              <a:rPr lang="en-US" dirty="0"/>
              <a:t>Statically, trade liberalization promotes product innovation through a larger contemporaneous marginal benefit from a reduction of iceberg trade cost for exporting firms to innovate. </a:t>
            </a:r>
          </a:p>
          <a:p>
            <a:r>
              <a:rPr lang="en-US" dirty="0"/>
              <a:t>Dynamically, export helps firms to move to a better state in the future, which in turn increase firms’ probability to innovate. In addition, as firms innovate, they can save on innovation costs in the future, namely a benefit of option value. </a:t>
            </a:r>
            <a:endParaRPr lang="en-AU" dirty="0"/>
          </a:p>
          <a:p>
            <a:endParaRPr lang="en-AU" dirty="0"/>
          </a:p>
        </p:txBody>
      </p:sp>
    </p:spTree>
    <p:extLst>
      <p:ext uri="{BB962C8B-B14F-4D97-AF65-F5344CB8AC3E}">
        <p14:creationId xmlns:p14="http://schemas.microsoft.com/office/powerpoint/2010/main" val="32884739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0928A-10CA-4FB0-9F13-7D11465C2057}"/>
              </a:ext>
            </a:extLst>
          </p:cNvPr>
          <p:cNvSpPr>
            <a:spLocks noGrp="1"/>
          </p:cNvSpPr>
          <p:nvPr>
            <p:ph type="title"/>
          </p:nvPr>
        </p:nvSpPr>
        <p:spPr/>
        <p:txBody>
          <a:bodyPr/>
          <a:lstStyle/>
          <a:p>
            <a:r>
              <a:rPr lang="en-AU" dirty="0"/>
              <a:t>Introduction</a:t>
            </a:r>
          </a:p>
        </p:txBody>
      </p:sp>
      <p:sp>
        <p:nvSpPr>
          <p:cNvPr id="3" name="Content Placeholder 2">
            <a:extLst>
              <a:ext uri="{FF2B5EF4-FFF2-40B4-BE49-F238E27FC236}">
                <a16:creationId xmlns:a16="http://schemas.microsoft.com/office/drawing/2014/main" id="{743D8B7B-97A4-A248-0E5F-3BB752BA4E16}"/>
              </a:ext>
            </a:extLst>
          </p:cNvPr>
          <p:cNvSpPr>
            <a:spLocks noGrp="1"/>
          </p:cNvSpPr>
          <p:nvPr>
            <p:ph idx="1"/>
          </p:nvPr>
        </p:nvSpPr>
        <p:spPr/>
        <p:txBody>
          <a:bodyPr>
            <a:normAutofit/>
          </a:bodyPr>
          <a:lstStyle/>
          <a:p>
            <a:r>
              <a:rPr lang="en-AU" dirty="0"/>
              <a:t>The study is linked to the studies of export and innovation:</a:t>
            </a:r>
          </a:p>
          <a:p>
            <a:r>
              <a:rPr lang="en-AU" dirty="0"/>
              <a:t>Theory: product cycle trade model (Krugman, 1979), </a:t>
            </a:r>
            <a:r>
              <a:rPr lang="en-AU" dirty="0" err="1"/>
              <a:t>Atkeson</a:t>
            </a:r>
            <a:r>
              <a:rPr lang="en-AU" dirty="0"/>
              <a:t> and Burstein (2010)</a:t>
            </a:r>
          </a:p>
          <a:p>
            <a:r>
              <a:rPr lang="en-AU" dirty="0"/>
              <a:t>Empirics: </a:t>
            </a:r>
            <a:r>
              <a:rPr lang="en-US" dirty="0"/>
              <a:t>Empirical studies that examine the effect of export on product innovation cover different regions and generally discover a significantly positive effect:</a:t>
            </a:r>
          </a:p>
          <a:p>
            <a:pPr lvl="1"/>
            <a:r>
              <a:rPr lang="en-AU" dirty="0"/>
              <a:t>Salomon and Shaver (2005)</a:t>
            </a:r>
            <a:r>
              <a:rPr lang="en-US" dirty="0"/>
              <a:t>, </a:t>
            </a:r>
            <a:r>
              <a:rPr lang="en-US" dirty="0" err="1"/>
              <a:t>Ayllón</a:t>
            </a:r>
            <a:r>
              <a:rPr lang="en-US" dirty="0"/>
              <a:t> and </a:t>
            </a:r>
            <a:r>
              <a:rPr lang="en-US" dirty="0" err="1"/>
              <a:t>Radicic</a:t>
            </a:r>
            <a:r>
              <a:rPr lang="en-US" dirty="0"/>
              <a:t> (2019), De Fuentes et al. (2021), </a:t>
            </a:r>
            <a:r>
              <a:rPr lang="en-US" dirty="0" err="1"/>
              <a:t>Lileeva</a:t>
            </a:r>
            <a:r>
              <a:rPr lang="en-US" dirty="0"/>
              <a:t> and </a:t>
            </a:r>
            <a:r>
              <a:rPr lang="en-US" dirty="0" err="1"/>
              <a:t>Trefler</a:t>
            </a:r>
            <a:r>
              <a:rPr lang="en-US" dirty="0"/>
              <a:t> (2010), Lin and Lin (2010), </a:t>
            </a:r>
            <a:r>
              <a:rPr lang="en-US" dirty="0" err="1"/>
              <a:t>Bratti</a:t>
            </a:r>
            <a:r>
              <a:rPr lang="en-US" dirty="0"/>
              <a:t> and Felice (2012), </a:t>
            </a:r>
            <a:r>
              <a:rPr lang="en-US" dirty="0" err="1"/>
              <a:t>Damijan</a:t>
            </a:r>
            <a:r>
              <a:rPr lang="en-US" dirty="0"/>
              <a:t> et al. (2010), </a:t>
            </a:r>
            <a:r>
              <a:rPr lang="en-US" dirty="0" err="1"/>
              <a:t>Blyde</a:t>
            </a:r>
            <a:r>
              <a:rPr lang="en-US" dirty="0"/>
              <a:t> et al. (2018)</a:t>
            </a:r>
          </a:p>
          <a:p>
            <a:pPr lvl="1"/>
            <a:r>
              <a:rPr lang="en-US" dirty="0"/>
              <a:t>China: Olabisi (2017), Dai et al. (2020)</a:t>
            </a:r>
            <a:endParaRPr lang="en-AU" dirty="0"/>
          </a:p>
        </p:txBody>
      </p:sp>
    </p:spTree>
    <p:extLst>
      <p:ext uri="{BB962C8B-B14F-4D97-AF65-F5344CB8AC3E}">
        <p14:creationId xmlns:p14="http://schemas.microsoft.com/office/powerpoint/2010/main" val="2476346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3486B-2034-8DE7-01E1-0D718DD5E340}"/>
              </a:ext>
            </a:extLst>
          </p:cNvPr>
          <p:cNvSpPr>
            <a:spLocks noGrp="1"/>
          </p:cNvSpPr>
          <p:nvPr>
            <p:ph type="title"/>
          </p:nvPr>
        </p:nvSpPr>
        <p:spPr/>
        <p:txBody>
          <a:bodyPr/>
          <a:lstStyle/>
          <a:p>
            <a:r>
              <a:rPr lang="en-AU" dirty="0"/>
              <a:t>Analytical Framework-Economic Model</a:t>
            </a:r>
          </a:p>
        </p:txBody>
      </p:sp>
      <p:sp>
        <p:nvSpPr>
          <p:cNvPr id="3" name="Content Placeholder 2">
            <a:extLst>
              <a:ext uri="{FF2B5EF4-FFF2-40B4-BE49-F238E27FC236}">
                <a16:creationId xmlns:a16="http://schemas.microsoft.com/office/drawing/2014/main" id="{990CA352-C326-9962-394F-68770A2AE691}"/>
              </a:ext>
            </a:extLst>
          </p:cNvPr>
          <p:cNvSpPr>
            <a:spLocks noGrp="1"/>
          </p:cNvSpPr>
          <p:nvPr>
            <p:ph idx="1"/>
          </p:nvPr>
        </p:nvSpPr>
        <p:spPr/>
        <p:txBody>
          <a:bodyPr/>
          <a:lstStyle/>
          <a:p>
            <a:endParaRPr lang="en-AU" dirty="0"/>
          </a:p>
        </p:txBody>
      </p:sp>
      <p:pic>
        <p:nvPicPr>
          <p:cNvPr id="4" name="Picture 3">
            <a:extLst>
              <a:ext uri="{FF2B5EF4-FFF2-40B4-BE49-F238E27FC236}">
                <a16:creationId xmlns:a16="http://schemas.microsoft.com/office/drawing/2014/main" id="{A1F6BBD6-EF0E-5557-0452-EA56DD0403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31630" y="1767766"/>
            <a:ext cx="6044829" cy="4409197"/>
          </a:xfrm>
          <a:prstGeom prst="rect">
            <a:avLst/>
          </a:prstGeom>
        </p:spPr>
      </p:pic>
      <p:sp>
        <p:nvSpPr>
          <p:cNvPr id="5" name="Rectangle 4">
            <a:extLst>
              <a:ext uri="{FF2B5EF4-FFF2-40B4-BE49-F238E27FC236}">
                <a16:creationId xmlns:a16="http://schemas.microsoft.com/office/drawing/2014/main" id="{2C8CAFD5-38FA-5206-821F-F749ED8AB420}"/>
              </a:ext>
            </a:extLst>
          </p:cNvPr>
          <p:cNvSpPr/>
          <p:nvPr/>
        </p:nvSpPr>
        <p:spPr>
          <a:xfrm>
            <a:off x="4474723" y="1690688"/>
            <a:ext cx="1355388" cy="4883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D33486A5-03A8-890B-FA86-12B6FCFB067B}"/>
              </a:ext>
            </a:extLst>
          </p:cNvPr>
          <p:cNvSpPr/>
          <p:nvPr/>
        </p:nvSpPr>
        <p:spPr>
          <a:xfrm>
            <a:off x="2153055" y="3112849"/>
            <a:ext cx="7146588" cy="32776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912147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3486B-2034-8DE7-01E1-0D718DD5E340}"/>
              </a:ext>
            </a:extLst>
          </p:cNvPr>
          <p:cNvSpPr>
            <a:spLocks noGrp="1"/>
          </p:cNvSpPr>
          <p:nvPr>
            <p:ph type="title"/>
          </p:nvPr>
        </p:nvSpPr>
        <p:spPr/>
        <p:txBody>
          <a:bodyPr/>
          <a:lstStyle/>
          <a:p>
            <a:r>
              <a:rPr lang="en-AU" dirty="0"/>
              <a:t>Analytical Framework-Economic Model</a:t>
            </a:r>
          </a:p>
        </p:txBody>
      </p:sp>
      <p:sp>
        <p:nvSpPr>
          <p:cNvPr id="3" name="Content Placeholder 2">
            <a:extLst>
              <a:ext uri="{FF2B5EF4-FFF2-40B4-BE49-F238E27FC236}">
                <a16:creationId xmlns:a16="http://schemas.microsoft.com/office/drawing/2014/main" id="{990CA352-C326-9962-394F-68770A2AE691}"/>
              </a:ext>
            </a:extLst>
          </p:cNvPr>
          <p:cNvSpPr>
            <a:spLocks noGrp="1"/>
          </p:cNvSpPr>
          <p:nvPr>
            <p:ph idx="1"/>
          </p:nvPr>
        </p:nvSpPr>
        <p:spPr/>
        <p:txBody>
          <a:bodyPr/>
          <a:lstStyle/>
          <a:p>
            <a:endParaRPr lang="en-AU" dirty="0"/>
          </a:p>
        </p:txBody>
      </p:sp>
      <p:pic>
        <p:nvPicPr>
          <p:cNvPr id="4" name="Picture 3">
            <a:extLst>
              <a:ext uri="{FF2B5EF4-FFF2-40B4-BE49-F238E27FC236}">
                <a16:creationId xmlns:a16="http://schemas.microsoft.com/office/drawing/2014/main" id="{A1F6BBD6-EF0E-5557-0452-EA56DD0403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31630" y="1767766"/>
            <a:ext cx="6044829" cy="4409197"/>
          </a:xfrm>
          <a:prstGeom prst="rect">
            <a:avLst/>
          </a:prstGeom>
        </p:spPr>
      </p:pic>
      <p:sp>
        <p:nvSpPr>
          <p:cNvPr id="5" name="Rectangle 4">
            <a:extLst>
              <a:ext uri="{FF2B5EF4-FFF2-40B4-BE49-F238E27FC236}">
                <a16:creationId xmlns:a16="http://schemas.microsoft.com/office/drawing/2014/main" id="{2C8CAFD5-38FA-5206-821F-F749ED8AB420}"/>
              </a:ext>
            </a:extLst>
          </p:cNvPr>
          <p:cNvSpPr/>
          <p:nvPr/>
        </p:nvSpPr>
        <p:spPr>
          <a:xfrm>
            <a:off x="4474723" y="1690688"/>
            <a:ext cx="1355388" cy="4883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D33486A5-03A8-890B-FA86-12B6FCFB067B}"/>
              </a:ext>
            </a:extLst>
          </p:cNvPr>
          <p:cNvSpPr/>
          <p:nvPr/>
        </p:nvSpPr>
        <p:spPr>
          <a:xfrm>
            <a:off x="2256817" y="3745402"/>
            <a:ext cx="7146588" cy="24894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6">
            <a:extLst>
              <a:ext uri="{FF2B5EF4-FFF2-40B4-BE49-F238E27FC236}">
                <a16:creationId xmlns:a16="http://schemas.microsoft.com/office/drawing/2014/main" id="{9FE4BD89-C4EE-B46D-6C13-E0D30A248F25}"/>
              </a:ext>
            </a:extLst>
          </p:cNvPr>
          <p:cNvSpPr/>
          <p:nvPr/>
        </p:nvSpPr>
        <p:spPr>
          <a:xfrm>
            <a:off x="1909863" y="2394322"/>
            <a:ext cx="1001950" cy="39175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7049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3486B-2034-8DE7-01E1-0D718DD5E340}"/>
              </a:ext>
            </a:extLst>
          </p:cNvPr>
          <p:cNvSpPr>
            <a:spLocks noGrp="1"/>
          </p:cNvSpPr>
          <p:nvPr>
            <p:ph type="title"/>
          </p:nvPr>
        </p:nvSpPr>
        <p:spPr/>
        <p:txBody>
          <a:bodyPr/>
          <a:lstStyle/>
          <a:p>
            <a:r>
              <a:rPr lang="en-AU" dirty="0"/>
              <a:t>Analytical Framework-Economic Model</a:t>
            </a:r>
          </a:p>
        </p:txBody>
      </p:sp>
      <p:sp>
        <p:nvSpPr>
          <p:cNvPr id="3" name="Content Placeholder 2">
            <a:extLst>
              <a:ext uri="{FF2B5EF4-FFF2-40B4-BE49-F238E27FC236}">
                <a16:creationId xmlns:a16="http://schemas.microsoft.com/office/drawing/2014/main" id="{990CA352-C326-9962-394F-68770A2AE691}"/>
              </a:ext>
            </a:extLst>
          </p:cNvPr>
          <p:cNvSpPr>
            <a:spLocks noGrp="1"/>
          </p:cNvSpPr>
          <p:nvPr>
            <p:ph idx="1"/>
          </p:nvPr>
        </p:nvSpPr>
        <p:spPr/>
        <p:txBody>
          <a:bodyPr/>
          <a:lstStyle/>
          <a:p>
            <a:endParaRPr lang="en-AU" dirty="0"/>
          </a:p>
        </p:txBody>
      </p:sp>
      <p:pic>
        <p:nvPicPr>
          <p:cNvPr id="4" name="Picture 3">
            <a:extLst>
              <a:ext uri="{FF2B5EF4-FFF2-40B4-BE49-F238E27FC236}">
                <a16:creationId xmlns:a16="http://schemas.microsoft.com/office/drawing/2014/main" id="{A1F6BBD6-EF0E-5557-0452-EA56DD0403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31630" y="1767766"/>
            <a:ext cx="6044829" cy="4409197"/>
          </a:xfrm>
          <a:prstGeom prst="rect">
            <a:avLst/>
          </a:prstGeom>
        </p:spPr>
      </p:pic>
      <p:sp>
        <p:nvSpPr>
          <p:cNvPr id="5" name="Rectangle 4">
            <a:extLst>
              <a:ext uri="{FF2B5EF4-FFF2-40B4-BE49-F238E27FC236}">
                <a16:creationId xmlns:a16="http://schemas.microsoft.com/office/drawing/2014/main" id="{2C8CAFD5-38FA-5206-821F-F749ED8AB420}"/>
              </a:ext>
            </a:extLst>
          </p:cNvPr>
          <p:cNvSpPr/>
          <p:nvPr/>
        </p:nvSpPr>
        <p:spPr>
          <a:xfrm>
            <a:off x="4474723" y="1690688"/>
            <a:ext cx="1355388" cy="4883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D33486A5-03A8-890B-FA86-12B6FCFB067B}"/>
              </a:ext>
            </a:extLst>
          </p:cNvPr>
          <p:cNvSpPr/>
          <p:nvPr/>
        </p:nvSpPr>
        <p:spPr>
          <a:xfrm>
            <a:off x="2256817" y="4396902"/>
            <a:ext cx="7146588" cy="18379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6">
            <a:extLst>
              <a:ext uri="{FF2B5EF4-FFF2-40B4-BE49-F238E27FC236}">
                <a16:creationId xmlns:a16="http://schemas.microsoft.com/office/drawing/2014/main" id="{9FE4BD89-C4EE-B46D-6C13-E0D30A248F25}"/>
              </a:ext>
            </a:extLst>
          </p:cNvPr>
          <p:cNvSpPr/>
          <p:nvPr/>
        </p:nvSpPr>
        <p:spPr>
          <a:xfrm>
            <a:off x="1909863" y="2394322"/>
            <a:ext cx="1001950" cy="39175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3045850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3486B-2034-8DE7-01E1-0D718DD5E340}"/>
              </a:ext>
            </a:extLst>
          </p:cNvPr>
          <p:cNvSpPr>
            <a:spLocks noGrp="1"/>
          </p:cNvSpPr>
          <p:nvPr>
            <p:ph type="title"/>
          </p:nvPr>
        </p:nvSpPr>
        <p:spPr/>
        <p:txBody>
          <a:bodyPr/>
          <a:lstStyle/>
          <a:p>
            <a:r>
              <a:rPr lang="en-AU" dirty="0"/>
              <a:t>Analytical Framework-Economic Model</a:t>
            </a:r>
          </a:p>
        </p:txBody>
      </p:sp>
      <p:sp>
        <p:nvSpPr>
          <p:cNvPr id="3" name="Content Placeholder 2">
            <a:extLst>
              <a:ext uri="{FF2B5EF4-FFF2-40B4-BE49-F238E27FC236}">
                <a16:creationId xmlns:a16="http://schemas.microsoft.com/office/drawing/2014/main" id="{990CA352-C326-9962-394F-68770A2AE691}"/>
              </a:ext>
            </a:extLst>
          </p:cNvPr>
          <p:cNvSpPr>
            <a:spLocks noGrp="1"/>
          </p:cNvSpPr>
          <p:nvPr>
            <p:ph idx="1"/>
          </p:nvPr>
        </p:nvSpPr>
        <p:spPr/>
        <p:txBody>
          <a:bodyPr/>
          <a:lstStyle/>
          <a:p>
            <a:endParaRPr lang="en-AU" dirty="0"/>
          </a:p>
        </p:txBody>
      </p:sp>
      <p:pic>
        <p:nvPicPr>
          <p:cNvPr id="4" name="Picture 3">
            <a:extLst>
              <a:ext uri="{FF2B5EF4-FFF2-40B4-BE49-F238E27FC236}">
                <a16:creationId xmlns:a16="http://schemas.microsoft.com/office/drawing/2014/main" id="{A1F6BBD6-EF0E-5557-0452-EA56DD0403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31630" y="1767766"/>
            <a:ext cx="6044829" cy="4409197"/>
          </a:xfrm>
          <a:prstGeom prst="rect">
            <a:avLst/>
          </a:prstGeom>
        </p:spPr>
      </p:pic>
      <p:sp>
        <p:nvSpPr>
          <p:cNvPr id="5" name="Rectangle 4">
            <a:extLst>
              <a:ext uri="{FF2B5EF4-FFF2-40B4-BE49-F238E27FC236}">
                <a16:creationId xmlns:a16="http://schemas.microsoft.com/office/drawing/2014/main" id="{2C8CAFD5-38FA-5206-821F-F749ED8AB420}"/>
              </a:ext>
            </a:extLst>
          </p:cNvPr>
          <p:cNvSpPr/>
          <p:nvPr/>
        </p:nvSpPr>
        <p:spPr>
          <a:xfrm>
            <a:off x="4474723" y="1690688"/>
            <a:ext cx="1355388" cy="4883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6">
            <a:extLst>
              <a:ext uri="{FF2B5EF4-FFF2-40B4-BE49-F238E27FC236}">
                <a16:creationId xmlns:a16="http://schemas.microsoft.com/office/drawing/2014/main" id="{9FE4BD89-C4EE-B46D-6C13-E0D30A248F25}"/>
              </a:ext>
            </a:extLst>
          </p:cNvPr>
          <p:cNvSpPr/>
          <p:nvPr/>
        </p:nvSpPr>
        <p:spPr>
          <a:xfrm>
            <a:off x="1909863" y="2394322"/>
            <a:ext cx="1001950" cy="39175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40875918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3486B-2034-8DE7-01E1-0D718DD5E340}"/>
              </a:ext>
            </a:extLst>
          </p:cNvPr>
          <p:cNvSpPr>
            <a:spLocks noGrp="1"/>
          </p:cNvSpPr>
          <p:nvPr>
            <p:ph type="title"/>
          </p:nvPr>
        </p:nvSpPr>
        <p:spPr/>
        <p:txBody>
          <a:bodyPr/>
          <a:lstStyle/>
          <a:p>
            <a:r>
              <a:rPr lang="en-AU" dirty="0"/>
              <a:t>Analytical Framework-Economic Model</a:t>
            </a:r>
          </a:p>
        </p:txBody>
      </p:sp>
      <p:sp>
        <p:nvSpPr>
          <p:cNvPr id="3" name="Content Placeholder 2">
            <a:extLst>
              <a:ext uri="{FF2B5EF4-FFF2-40B4-BE49-F238E27FC236}">
                <a16:creationId xmlns:a16="http://schemas.microsoft.com/office/drawing/2014/main" id="{990CA352-C326-9962-394F-68770A2AE691}"/>
              </a:ext>
            </a:extLst>
          </p:cNvPr>
          <p:cNvSpPr>
            <a:spLocks noGrp="1"/>
          </p:cNvSpPr>
          <p:nvPr>
            <p:ph idx="1"/>
          </p:nvPr>
        </p:nvSpPr>
        <p:spPr/>
        <p:txBody>
          <a:bodyPr/>
          <a:lstStyle/>
          <a:p>
            <a:endParaRPr lang="en-AU"/>
          </a:p>
        </p:txBody>
      </p:sp>
      <p:pic>
        <p:nvPicPr>
          <p:cNvPr id="4" name="Picture 3">
            <a:extLst>
              <a:ext uri="{FF2B5EF4-FFF2-40B4-BE49-F238E27FC236}">
                <a16:creationId xmlns:a16="http://schemas.microsoft.com/office/drawing/2014/main" id="{A1F6BBD6-EF0E-5557-0452-EA56DD0403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31630" y="1767766"/>
            <a:ext cx="6044829" cy="4409197"/>
          </a:xfrm>
          <a:prstGeom prst="rect">
            <a:avLst/>
          </a:prstGeom>
        </p:spPr>
      </p:pic>
    </p:spTree>
    <p:extLst>
      <p:ext uri="{BB962C8B-B14F-4D97-AF65-F5344CB8AC3E}">
        <p14:creationId xmlns:p14="http://schemas.microsoft.com/office/powerpoint/2010/main" val="2439898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E8BB7-354A-667C-E8B5-083A7AC5F615}"/>
              </a:ext>
            </a:extLst>
          </p:cNvPr>
          <p:cNvSpPr>
            <a:spLocks noGrp="1"/>
          </p:cNvSpPr>
          <p:nvPr>
            <p:ph type="title"/>
          </p:nvPr>
        </p:nvSpPr>
        <p:spPr/>
        <p:txBody>
          <a:bodyPr/>
          <a:lstStyle/>
          <a:p>
            <a:r>
              <a:rPr lang="en-AU" dirty="0"/>
              <a:t>Analytical Framework-Economic Model</a:t>
            </a:r>
          </a:p>
        </p:txBody>
      </p:sp>
      <p:sp>
        <p:nvSpPr>
          <p:cNvPr id="3" name="Content Placeholder 2">
            <a:extLst>
              <a:ext uri="{FF2B5EF4-FFF2-40B4-BE49-F238E27FC236}">
                <a16:creationId xmlns:a16="http://schemas.microsoft.com/office/drawing/2014/main" id="{74F02C04-20C2-FD69-F6EC-B5E238B0EA67}"/>
              </a:ext>
            </a:extLst>
          </p:cNvPr>
          <p:cNvSpPr>
            <a:spLocks noGrp="1"/>
          </p:cNvSpPr>
          <p:nvPr>
            <p:ph idx="1"/>
          </p:nvPr>
        </p:nvSpPr>
        <p:spPr/>
        <p:txBody>
          <a:bodyPr/>
          <a:lstStyle/>
          <a:p>
            <a:r>
              <a:rPr lang="en-US" dirty="0"/>
              <a:t>Firms have perfect information in the current period, including the shocks at stage two. However, their information on the states in the future is imperfect, and as such they form belief on the transition of the states in making dynamic decisions. </a:t>
            </a:r>
          </a:p>
          <a:p>
            <a:r>
              <a:rPr lang="en-US" dirty="0"/>
              <a:t>The </a:t>
            </a:r>
            <a:r>
              <a:rPr lang="en-US" b="1" i="1" dirty="0"/>
              <a:t>equilibrium</a:t>
            </a:r>
            <a:r>
              <a:rPr lang="en-US" dirty="0"/>
              <a:t> is a set of optimal decisions on entry, exit, whether to innovation and export, optimal level of product innovation, and prices in domestic and export markets, together with cut-off capabilities, that clear the markets and firms’ belief is correct. </a:t>
            </a:r>
            <a:endParaRPr lang="en-AU" dirty="0"/>
          </a:p>
        </p:txBody>
      </p:sp>
    </p:spTree>
    <p:extLst>
      <p:ext uri="{BB962C8B-B14F-4D97-AF65-F5344CB8AC3E}">
        <p14:creationId xmlns:p14="http://schemas.microsoft.com/office/powerpoint/2010/main" val="686146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6F5AC-2D23-89EE-4D93-901DCFF879FF}"/>
              </a:ext>
            </a:extLst>
          </p:cNvPr>
          <p:cNvSpPr>
            <a:spLocks noGrp="1"/>
          </p:cNvSpPr>
          <p:nvPr>
            <p:ph type="title"/>
          </p:nvPr>
        </p:nvSpPr>
        <p:spPr/>
        <p:txBody>
          <a:bodyPr/>
          <a:lstStyle/>
          <a:p>
            <a:r>
              <a:rPr lang="en-AU" dirty="0"/>
              <a:t>Analytical Framework-Economic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7D8B506-35F8-B87C-AE9A-F375A4BFEB45}"/>
                  </a:ext>
                </a:extLst>
              </p:cNvPr>
              <p:cNvSpPr>
                <a:spLocks noGrp="1"/>
              </p:cNvSpPr>
              <p:nvPr>
                <p:ph idx="1"/>
              </p:nvPr>
            </p:nvSpPr>
            <p:spPr/>
            <p:txBody>
              <a:bodyPr/>
              <a:lstStyle/>
              <a:p>
                <a:r>
                  <a:rPr lang="en-AU" dirty="0"/>
                  <a:t>Demand</a:t>
                </a:r>
              </a:p>
              <a:p>
                <a14:m>
                  <m:oMath xmlns:m="http://schemas.openxmlformats.org/officeDocument/2006/math">
                    <m:r>
                      <a:rPr lang="en-AU" i="1">
                        <a:latin typeface="Cambria Math" panose="02040503050406030204" pitchFamily="18" charset="0"/>
                      </a:rPr>
                      <m:t>𝑞</m:t>
                    </m:r>
                    <m:r>
                      <a:rPr lang="en-AU" i="1">
                        <a:latin typeface="Cambria Math" panose="02040503050406030204" pitchFamily="18" charset="0"/>
                      </a:rPr>
                      <m:t>=</m:t>
                    </m:r>
                    <m:r>
                      <a:rPr lang="en-AU" i="1">
                        <a:latin typeface="Cambria Math" panose="02040503050406030204" pitchFamily="18" charset="0"/>
                      </a:rPr>
                      <m:t>𝐴</m:t>
                    </m:r>
                    <m:sSup>
                      <m:sSupPr>
                        <m:ctrlPr>
                          <a:rPr lang="en-AU" i="1">
                            <a:latin typeface="Cambria Math" panose="02040503050406030204" pitchFamily="18" charset="0"/>
                          </a:rPr>
                        </m:ctrlPr>
                      </m:sSupPr>
                      <m:e>
                        <m:r>
                          <a:rPr lang="en-AU" i="1">
                            <a:latin typeface="Cambria Math" panose="02040503050406030204" pitchFamily="18" charset="0"/>
                          </a:rPr>
                          <m:t>𝑝</m:t>
                        </m:r>
                      </m:e>
                      <m:sup>
                        <m:f>
                          <m:fPr>
                            <m:type m:val="skw"/>
                            <m:ctrlPr>
                              <a:rPr lang="en-AU" i="1">
                                <a:latin typeface="Cambria Math" panose="02040503050406030204" pitchFamily="18" charset="0"/>
                              </a:rPr>
                            </m:ctrlPr>
                          </m:fPr>
                          <m:num>
                            <m:r>
                              <a:rPr lang="en-AU" i="1">
                                <a:latin typeface="Cambria Math" panose="02040503050406030204" pitchFamily="18" charset="0"/>
                              </a:rPr>
                              <m:t>1</m:t>
                            </m:r>
                          </m:num>
                          <m:den>
                            <m:r>
                              <a:rPr lang="en-AU" i="1">
                                <a:latin typeface="Cambria Math" panose="02040503050406030204" pitchFamily="18" charset="0"/>
                              </a:rPr>
                              <m:t>𝜌</m:t>
                            </m:r>
                            <m:r>
                              <a:rPr lang="en-AU" i="1">
                                <a:latin typeface="Cambria Math" panose="02040503050406030204" pitchFamily="18" charset="0"/>
                              </a:rPr>
                              <m:t>−1</m:t>
                            </m:r>
                          </m:den>
                        </m:f>
                      </m:sup>
                    </m:sSup>
                  </m:oMath>
                </a14:m>
                <a:endParaRPr lang="en-AU" i="1" dirty="0"/>
              </a:p>
              <a:p>
                <a14:m>
                  <m:oMath xmlns:m="http://schemas.openxmlformats.org/officeDocument/2006/math">
                    <m:r>
                      <a:rPr lang="en-AU" i="1">
                        <a:latin typeface="Cambria Math" panose="02040503050406030204" pitchFamily="18" charset="0"/>
                      </a:rPr>
                      <m:t>𝑞</m:t>
                    </m:r>
                    <m:r>
                      <a:rPr lang="en-AU" i="1">
                        <a:latin typeface="Cambria Math" panose="02040503050406030204" pitchFamily="18" charset="0"/>
                      </a:rPr>
                      <m:t>≡</m:t>
                    </m:r>
                    <m:sSup>
                      <m:sSupPr>
                        <m:ctrlPr>
                          <a:rPr lang="en-AU" i="1">
                            <a:latin typeface="Cambria Math" panose="02040503050406030204" pitchFamily="18" charset="0"/>
                          </a:rPr>
                        </m:ctrlPr>
                      </m:sSupPr>
                      <m:e>
                        <m:d>
                          <m:dPr>
                            <m:begChr m:val="["/>
                            <m:endChr m:val="]"/>
                            <m:ctrlPr>
                              <a:rPr lang="en-AU" i="1">
                                <a:latin typeface="Cambria Math" panose="02040503050406030204" pitchFamily="18" charset="0"/>
                              </a:rPr>
                            </m:ctrlPr>
                          </m:dPr>
                          <m:e>
                            <m:sSubSup>
                              <m:sSubSupPr>
                                <m:ctrlPr>
                                  <a:rPr lang="en-AU" i="1">
                                    <a:latin typeface="Cambria Math" panose="02040503050406030204" pitchFamily="18" charset="0"/>
                                  </a:rPr>
                                </m:ctrlPr>
                              </m:sSubSupPr>
                              <m:e>
                                <m:r>
                                  <a:rPr lang="en-AU" i="1">
                                    <a:latin typeface="Cambria Math" panose="02040503050406030204" pitchFamily="18" charset="0"/>
                                  </a:rPr>
                                  <m:t>𝑞</m:t>
                                </m:r>
                              </m:e>
                              <m:sub>
                                <m:r>
                                  <a:rPr lang="en-AU" i="1">
                                    <a:latin typeface="Cambria Math" panose="02040503050406030204" pitchFamily="18" charset="0"/>
                                  </a:rPr>
                                  <m:t>𝑜</m:t>
                                </m:r>
                              </m:sub>
                              <m:sup>
                                <m:r>
                                  <a:rPr lang="en-AU" i="1">
                                    <a:latin typeface="Cambria Math" panose="02040503050406030204" pitchFamily="18" charset="0"/>
                                  </a:rPr>
                                  <m:t>𝜌</m:t>
                                </m:r>
                              </m:sup>
                            </m:sSubSup>
                            <m:r>
                              <a:rPr lang="en-AU" i="1">
                                <a:latin typeface="Cambria Math" panose="02040503050406030204" pitchFamily="18" charset="0"/>
                              </a:rPr>
                              <m:t>+</m:t>
                            </m:r>
                            <m:sSup>
                              <m:sSupPr>
                                <m:ctrlPr>
                                  <a:rPr lang="en-AU" i="1">
                                    <a:latin typeface="Cambria Math" panose="02040503050406030204" pitchFamily="18" charset="0"/>
                                  </a:rPr>
                                </m:ctrlPr>
                              </m:sSupPr>
                              <m:e>
                                <m:d>
                                  <m:dPr>
                                    <m:ctrlPr>
                                      <a:rPr lang="en-AU" i="1">
                                        <a:latin typeface="Cambria Math" panose="02040503050406030204" pitchFamily="18" charset="0"/>
                                      </a:rPr>
                                    </m:ctrlPr>
                                  </m:dPr>
                                  <m:e>
                                    <m:r>
                                      <a:rPr lang="en-AU" i="1">
                                        <a:latin typeface="Cambria Math" panose="02040503050406030204" pitchFamily="18" charset="0"/>
                                      </a:rPr>
                                      <m:t>𝜁</m:t>
                                    </m:r>
                                    <m:sSub>
                                      <m:sSubPr>
                                        <m:ctrlPr>
                                          <a:rPr lang="en-AU" i="1">
                                            <a:latin typeface="Cambria Math" panose="02040503050406030204" pitchFamily="18" charset="0"/>
                                          </a:rPr>
                                        </m:ctrlPr>
                                      </m:sSubPr>
                                      <m:e>
                                        <m:r>
                                          <a:rPr lang="en-AU" i="1">
                                            <a:latin typeface="Cambria Math" panose="02040503050406030204" pitchFamily="18" charset="0"/>
                                          </a:rPr>
                                          <m:t>𝑞</m:t>
                                        </m:r>
                                      </m:e>
                                      <m:sub>
                                        <m:r>
                                          <a:rPr lang="en-AU" i="1">
                                            <a:latin typeface="Cambria Math" panose="02040503050406030204" pitchFamily="18" charset="0"/>
                                          </a:rPr>
                                          <m:t>𝑛</m:t>
                                        </m:r>
                                      </m:sub>
                                    </m:sSub>
                                  </m:e>
                                </m:d>
                              </m:e>
                              <m:sup>
                                <m:r>
                                  <a:rPr lang="en-AU" i="1">
                                    <a:latin typeface="Cambria Math" panose="02040503050406030204" pitchFamily="18" charset="0"/>
                                  </a:rPr>
                                  <m:t>𝜌</m:t>
                                </m:r>
                              </m:sup>
                            </m:sSup>
                          </m:e>
                        </m:d>
                      </m:e>
                      <m:sup>
                        <m:f>
                          <m:fPr>
                            <m:type m:val="lin"/>
                            <m:ctrlPr>
                              <a:rPr lang="en-AU" i="1">
                                <a:latin typeface="Cambria Math" panose="02040503050406030204" pitchFamily="18" charset="0"/>
                              </a:rPr>
                            </m:ctrlPr>
                          </m:fPr>
                          <m:num>
                            <m:r>
                              <a:rPr lang="en-AU" i="1">
                                <a:latin typeface="Cambria Math" panose="02040503050406030204" pitchFamily="18" charset="0"/>
                              </a:rPr>
                              <m:t>1</m:t>
                            </m:r>
                          </m:num>
                          <m:den>
                            <m:r>
                              <a:rPr lang="en-AU" i="1">
                                <a:latin typeface="Cambria Math" panose="02040503050406030204" pitchFamily="18" charset="0"/>
                              </a:rPr>
                              <m:t>𝜌</m:t>
                            </m:r>
                          </m:den>
                        </m:f>
                      </m:sup>
                    </m:sSup>
                  </m:oMath>
                </a14:m>
                <a:endParaRPr lang="en-AU" dirty="0"/>
              </a:p>
              <a:p>
                <a14:m>
                  <m:oMath xmlns:m="http://schemas.openxmlformats.org/officeDocument/2006/math">
                    <m:acc>
                      <m:accPr>
                        <m:chr m:val="̃"/>
                        <m:ctrlPr>
                          <a:rPr lang="en-AU" i="1">
                            <a:latin typeface="Cambria Math" panose="02040503050406030204" pitchFamily="18" charset="0"/>
                          </a:rPr>
                        </m:ctrlPr>
                      </m:accPr>
                      <m:e>
                        <m:r>
                          <a:rPr lang="en-AU" i="1">
                            <a:latin typeface="Cambria Math" panose="02040503050406030204" pitchFamily="18" charset="0"/>
                          </a:rPr>
                          <m:t>𝑞</m:t>
                        </m:r>
                      </m:e>
                    </m:acc>
                    <m:r>
                      <a:rPr lang="en-AU" i="1">
                        <a:latin typeface="Cambria Math" panose="02040503050406030204" pitchFamily="18" charset="0"/>
                      </a:rPr>
                      <m:t>=</m:t>
                    </m:r>
                    <m:acc>
                      <m:accPr>
                        <m:chr m:val="̃"/>
                        <m:ctrlPr>
                          <a:rPr lang="en-AU" i="1">
                            <a:latin typeface="Cambria Math" panose="02040503050406030204" pitchFamily="18" charset="0"/>
                          </a:rPr>
                        </m:ctrlPr>
                      </m:accPr>
                      <m:e>
                        <m:r>
                          <a:rPr lang="en-AU" i="1">
                            <a:latin typeface="Cambria Math" panose="02040503050406030204" pitchFamily="18" charset="0"/>
                          </a:rPr>
                          <m:t>𝐴</m:t>
                        </m:r>
                      </m:e>
                    </m:acc>
                    <m:sSup>
                      <m:sSupPr>
                        <m:ctrlPr>
                          <a:rPr lang="en-AU" i="1">
                            <a:latin typeface="Cambria Math" panose="02040503050406030204" pitchFamily="18" charset="0"/>
                          </a:rPr>
                        </m:ctrlPr>
                      </m:sSupPr>
                      <m:e>
                        <m:acc>
                          <m:accPr>
                            <m:chr m:val="̃"/>
                            <m:ctrlPr>
                              <a:rPr lang="en-AU" i="1">
                                <a:latin typeface="Cambria Math" panose="02040503050406030204" pitchFamily="18" charset="0"/>
                              </a:rPr>
                            </m:ctrlPr>
                          </m:accPr>
                          <m:e>
                            <m:r>
                              <a:rPr lang="en-AU" i="1">
                                <a:latin typeface="Cambria Math" panose="02040503050406030204" pitchFamily="18" charset="0"/>
                              </a:rPr>
                              <m:t>𝑝</m:t>
                            </m:r>
                          </m:e>
                        </m:acc>
                      </m:e>
                      <m:sup>
                        <m:f>
                          <m:fPr>
                            <m:type m:val="skw"/>
                            <m:ctrlPr>
                              <a:rPr lang="en-AU" i="1">
                                <a:latin typeface="Cambria Math" panose="02040503050406030204" pitchFamily="18" charset="0"/>
                              </a:rPr>
                            </m:ctrlPr>
                          </m:fPr>
                          <m:num>
                            <m:r>
                              <a:rPr lang="en-AU" i="1">
                                <a:latin typeface="Cambria Math" panose="02040503050406030204" pitchFamily="18" charset="0"/>
                              </a:rPr>
                              <m:t>1</m:t>
                            </m:r>
                          </m:num>
                          <m:den>
                            <m:acc>
                              <m:accPr>
                                <m:chr m:val="̃"/>
                                <m:ctrlPr>
                                  <a:rPr lang="en-AU" i="1">
                                    <a:latin typeface="Cambria Math" panose="02040503050406030204" pitchFamily="18" charset="0"/>
                                  </a:rPr>
                                </m:ctrlPr>
                              </m:accPr>
                              <m:e>
                                <m:r>
                                  <a:rPr lang="en-AU" i="1">
                                    <a:latin typeface="Cambria Math" panose="02040503050406030204" pitchFamily="18" charset="0"/>
                                  </a:rPr>
                                  <m:t>𝜌</m:t>
                                </m:r>
                              </m:e>
                            </m:acc>
                            <m:r>
                              <a:rPr lang="en-AU" i="1">
                                <a:latin typeface="Cambria Math" panose="02040503050406030204" pitchFamily="18" charset="0"/>
                              </a:rPr>
                              <m:t>−1</m:t>
                            </m:r>
                          </m:den>
                        </m:f>
                      </m:sup>
                    </m:sSup>
                  </m:oMath>
                </a14:m>
                <a:endParaRPr lang="en-AU" i="1" dirty="0"/>
              </a:p>
              <a:p>
                <a14:m>
                  <m:oMath xmlns:m="http://schemas.openxmlformats.org/officeDocument/2006/math">
                    <m:acc>
                      <m:accPr>
                        <m:chr m:val="̃"/>
                        <m:ctrlPr>
                          <a:rPr lang="en-AU" i="1">
                            <a:latin typeface="Cambria Math" panose="02040503050406030204" pitchFamily="18" charset="0"/>
                          </a:rPr>
                        </m:ctrlPr>
                      </m:accPr>
                      <m:e>
                        <m:r>
                          <a:rPr lang="en-AU" i="1">
                            <a:latin typeface="Cambria Math" panose="02040503050406030204" pitchFamily="18" charset="0"/>
                          </a:rPr>
                          <m:t>𝑞</m:t>
                        </m:r>
                      </m:e>
                    </m:acc>
                    <m:r>
                      <a:rPr lang="en-AU" i="1">
                        <a:latin typeface="Cambria Math" panose="02040503050406030204" pitchFamily="18" charset="0"/>
                      </a:rPr>
                      <m:t>≡</m:t>
                    </m:r>
                    <m:sSup>
                      <m:sSupPr>
                        <m:ctrlPr>
                          <a:rPr lang="en-AU" i="1">
                            <a:latin typeface="Cambria Math" panose="02040503050406030204" pitchFamily="18" charset="0"/>
                          </a:rPr>
                        </m:ctrlPr>
                      </m:sSupPr>
                      <m:e>
                        <m:d>
                          <m:dPr>
                            <m:begChr m:val="["/>
                            <m:endChr m:val="]"/>
                            <m:ctrlPr>
                              <a:rPr lang="en-AU" i="1">
                                <a:latin typeface="Cambria Math" panose="02040503050406030204" pitchFamily="18" charset="0"/>
                              </a:rPr>
                            </m:ctrlPr>
                          </m:dPr>
                          <m:e>
                            <m:sSubSup>
                              <m:sSubSupPr>
                                <m:ctrlPr>
                                  <a:rPr lang="en-AU" i="1">
                                    <a:latin typeface="Cambria Math" panose="02040503050406030204" pitchFamily="18" charset="0"/>
                                  </a:rPr>
                                </m:ctrlPr>
                              </m:sSubSupPr>
                              <m:e>
                                <m:acc>
                                  <m:accPr>
                                    <m:chr m:val="̃"/>
                                    <m:ctrlPr>
                                      <a:rPr lang="en-AU" i="1">
                                        <a:latin typeface="Cambria Math" panose="02040503050406030204" pitchFamily="18" charset="0"/>
                                      </a:rPr>
                                    </m:ctrlPr>
                                  </m:accPr>
                                  <m:e>
                                    <m:r>
                                      <a:rPr lang="en-AU" i="1">
                                        <a:latin typeface="Cambria Math" panose="02040503050406030204" pitchFamily="18" charset="0"/>
                                      </a:rPr>
                                      <m:t>𝑞</m:t>
                                    </m:r>
                                  </m:e>
                                </m:acc>
                              </m:e>
                              <m:sub>
                                <m:r>
                                  <a:rPr lang="en-AU" i="1">
                                    <a:latin typeface="Cambria Math" panose="02040503050406030204" pitchFamily="18" charset="0"/>
                                  </a:rPr>
                                  <m:t>𝑜</m:t>
                                </m:r>
                              </m:sub>
                              <m:sup>
                                <m:r>
                                  <a:rPr lang="en-AU" i="1">
                                    <a:latin typeface="Cambria Math" panose="02040503050406030204" pitchFamily="18" charset="0"/>
                                  </a:rPr>
                                  <m:t>𝜌</m:t>
                                </m:r>
                              </m:sup>
                            </m:sSubSup>
                            <m:r>
                              <a:rPr lang="en-AU" i="1">
                                <a:latin typeface="Cambria Math" panose="02040503050406030204" pitchFamily="18" charset="0"/>
                              </a:rPr>
                              <m:t>+</m:t>
                            </m:r>
                            <m:sSup>
                              <m:sSupPr>
                                <m:ctrlPr>
                                  <a:rPr lang="en-AU" i="1">
                                    <a:latin typeface="Cambria Math" panose="02040503050406030204" pitchFamily="18" charset="0"/>
                                  </a:rPr>
                                </m:ctrlPr>
                              </m:sSupPr>
                              <m:e>
                                <m:d>
                                  <m:dPr>
                                    <m:ctrlPr>
                                      <a:rPr lang="en-AU" i="1">
                                        <a:latin typeface="Cambria Math" panose="02040503050406030204" pitchFamily="18" charset="0"/>
                                      </a:rPr>
                                    </m:ctrlPr>
                                  </m:dPr>
                                  <m:e>
                                    <m:r>
                                      <a:rPr lang="en-AU" i="1">
                                        <a:latin typeface="Cambria Math" panose="02040503050406030204" pitchFamily="18" charset="0"/>
                                      </a:rPr>
                                      <m:t>𝜁</m:t>
                                    </m:r>
                                    <m:sSub>
                                      <m:sSubPr>
                                        <m:ctrlPr>
                                          <a:rPr lang="en-AU" i="1">
                                            <a:latin typeface="Cambria Math" panose="02040503050406030204" pitchFamily="18" charset="0"/>
                                          </a:rPr>
                                        </m:ctrlPr>
                                      </m:sSubPr>
                                      <m:e>
                                        <m:acc>
                                          <m:accPr>
                                            <m:chr m:val="̃"/>
                                            <m:ctrlPr>
                                              <a:rPr lang="en-AU" i="1">
                                                <a:latin typeface="Cambria Math" panose="02040503050406030204" pitchFamily="18" charset="0"/>
                                              </a:rPr>
                                            </m:ctrlPr>
                                          </m:accPr>
                                          <m:e>
                                            <m:r>
                                              <a:rPr lang="en-AU" i="1">
                                                <a:latin typeface="Cambria Math" panose="02040503050406030204" pitchFamily="18" charset="0"/>
                                              </a:rPr>
                                              <m:t>𝑞</m:t>
                                            </m:r>
                                          </m:e>
                                        </m:acc>
                                      </m:e>
                                      <m:sub>
                                        <m:r>
                                          <a:rPr lang="en-AU" i="1">
                                            <a:latin typeface="Cambria Math" panose="02040503050406030204" pitchFamily="18" charset="0"/>
                                          </a:rPr>
                                          <m:t>𝑛</m:t>
                                        </m:r>
                                      </m:sub>
                                    </m:sSub>
                                  </m:e>
                                </m:d>
                              </m:e>
                              <m:sup>
                                <m:r>
                                  <a:rPr lang="en-AU" i="1">
                                    <a:latin typeface="Cambria Math" panose="02040503050406030204" pitchFamily="18" charset="0"/>
                                  </a:rPr>
                                  <m:t>𝜌</m:t>
                                </m:r>
                              </m:sup>
                            </m:sSup>
                          </m:e>
                        </m:d>
                      </m:e>
                      <m:sup>
                        <m:f>
                          <m:fPr>
                            <m:type m:val="lin"/>
                            <m:ctrlPr>
                              <a:rPr lang="en-AU" i="1">
                                <a:latin typeface="Cambria Math" panose="02040503050406030204" pitchFamily="18" charset="0"/>
                              </a:rPr>
                            </m:ctrlPr>
                          </m:fPr>
                          <m:num>
                            <m:r>
                              <a:rPr lang="en-AU" i="1">
                                <a:latin typeface="Cambria Math" panose="02040503050406030204" pitchFamily="18" charset="0"/>
                              </a:rPr>
                              <m:t>1</m:t>
                            </m:r>
                          </m:num>
                          <m:den>
                            <m:r>
                              <a:rPr lang="en-AU" i="1">
                                <a:latin typeface="Cambria Math" panose="02040503050406030204" pitchFamily="18" charset="0"/>
                              </a:rPr>
                              <m:t>𝜌</m:t>
                            </m:r>
                          </m:den>
                        </m:f>
                      </m:sup>
                    </m:sSup>
                  </m:oMath>
                </a14:m>
                <a:endParaRPr lang="en-AU" i="1" dirty="0"/>
              </a:p>
            </p:txBody>
          </p:sp>
        </mc:Choice>
        <mc:Fallback xmlns="">
          <p:sp>
            <p:nvSpPr>
              <p:cNvPr id="3" name="Content Placeholder 2">
                <a:extLst>
                  <a:ext uri="{FF2B5EF4-FFF2-40B4-BE49-F238E27FC236}">
                    <a16:creationId xmlns:a16="http://schemas.microsoft.com/office/drawing/2014/main" id="{17D8B506-35F8-B87C-AE9A-F375A4BFEB45}"/>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AU">
                    <a:noFill/>
                  </a:rPr>
                  <a:t> </a:t>
                </a:r>
              </a:p>
            </p:txBody>
          </p:sp>
        </mc:Fallback>
      </mc:AlternateContent>
    </p:spTree>
    <p:extLst>
      <p:ext uri="{BB962C8B-B14F-4D97-AF65-F5344CB8AC3E}">
        <p14:creationId xmlns:p14="http://schemas.microsoft.com/office/powerpoint/2010/main" val="18347823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3B16E-83DA-2662-45B2-0A3BFA59D642}"/>
              </a:ext>
            </a:extLst>
          </p:cNvPr>
          <p:cNvSpPr>
            <a:spLocks noGrp="1"/>
          </p:cNvSpPr>
          <p:nvPr>
            <p:ph type="title"/>
          </p:nvPr>
        </p:nvSpPr>
        <p:spPr/>
        <p:txBody>
          <a:bodyPr/>
          <a:lstStyle/>
          <a:p>
            <a:r>
              <a:rPr lang="en-AU" dirty="0"/>
              <a:t>Analytical Framework-Economic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832B996-9D4A-FD39-46BA-00C917276DF2}"/>
                  </a:ext>
                </a:extLst>
              </p:cNvPr>
              <p:cNvSpPr>
                <a:spLocks noGrp="1"/>
              </p:cNvSpPr>
              <p:nvPr>
                <p:ph idx="1"/>
              </p:nvPr>
            </p:nvSpPr>
            <p:spPr/>
            <p:txBody>
              <a:bodyPr>
                <a:normAutofit fontScale="92500"/>
              </a:bodyPr>
              <a:lstStyle/>
              <a:p>
                <a:r>
                  <a:rPr lang="en-AU" dirty="0"/>
                  <a:t>Production:</a:t>
                </a:r>
              </a:p>
              <a:p>
                <a:r>
                  <a:rPr lang="en-AU" dirty="0"/>
                  <a:t>A fixed production cost: </a:t>
                </a:r>
                <a:endParaRPr lang="en-AU" i="1" dirty="0"/>
              </a:p>
              <a:p>
                <a:r>
                  <a:rPr lang="en-AU" dirty="0"/>
                  <a:t>Firms can then combine one unit of labour with m units of intermediate inputs to produce s units of existing products, where </a:t>
                </a:r>
                <a14:m>
                  <m:oMath xmlns:m="http://schemas.openxmlformats.org/officeDocument/2006/math">
                    <m:r>
                      <a:rPr lang="en-AU">
                        <a:latin typeface="Cambria Math" panose="02040503050406030204" pitchFamily="18" charset="0"/>
                      </a:rPr>
                      <m:t>𝑠</m:t>
                    </m:r>
                    <m:r>
                      <a:rPr lang="en-AU">
                        <a:latin typeface="Cambria Math" panose="02040503050406030204" pitchFamily="18" charset="0"/>
                      </a:rPr>
                      <m:t>=</m:t>
                    </m:r>
                    <m:sSub>
                      <m:sSubPr>
                        <m:ctrlPr>
                          <a:rPr lang="en-AU" i="1">
                            <a:latin typeface="Cambria Math" panose="02040503050406030204" pitchFamily="18" charset="0"/>
                          </a:rPr>
                        </m:ctrlPr>
                      </m:sSubPr>
                      <m:e>
                        <m:r>
                          <a:rPr lang="en-AU">
                            <a:latin typeface="Cambria Math" panose="02040503050406030204" pitchFamily="18" charset="0"/>
                          </a:rPr>
                          <m:t>𝜆</m:t>
                        </m:r>
                      </m:e>
                      <m:sub>
                        <m:r>
                          <a:rPr lang="en-AU">
                            <a:latin typeface="Cambria Math" panose="02040503050406030204" pitchFamily="18" charset="0"/>
                          </a:rPr>
                          <m:t>1</m:t>
                        </m:r>
                      </m:sub>
                    </m:sSub>
                    <m:r>
                      <a:rPr lang="en-AU">
                        <a:latin typeface="Cambria Math" panose="02040503050406030204" pitchFamily="18" charset="0"/>
                      </a:rPr>
                      <m:t>𝜓</m:t>
                    </m:r>
                  </m:oMath>
                </a14:m>
                <a:r>
                  <a:rPr lang="en-AU" dirty="0"/>
                  <a:t>. </a:t>
                </a:r>
              </a:p>
              <a:p>
                <a:r>
                  <a:rPr lang="en-AU" dirty="0"/>
                  <a:t>To produce new products, firms need to pay an additional fixed cost of innovation (</a:t>
                </a:r>
                <a:r>
                  <a:rPr lang="en-AU" i="1" dirty="0" err="1"/>
                  <a:t>fn</a:t>
                </a:r>
                <a:r>
                  <a:rPr lang="en-AU" dirty="0"/>
                  <a:t>), and combine one unit of labour with </a:t>
                </a:r>
                <a:r>
                  <a:rPr lang="en-AU" i="1" dirty="0"/>
                  <a:t>m</a:t>
                </a:r>
                <a:r>
                  <a:rPr lang="en-AU" dirty="0"/>
                  <a:t> units of intermediate inputs to produce </a:t>
                </a:r>
                <a14:m>
                  <m:oMath xmlns:m="http://schemas.openxmlformats.org/officeDocument/2006/math">
                    <m:sSub>
                      <m:sSubPr>
                        <m:ctrlPr>
                          <a:rPr lang="en-AU" i="1">
                            <a:latin typeface="Cambria Math" panose="02040503050406030204" pitchFamily="18" charset="0"/>
                          </a:rPr>
                        </m:ctrlPr>
                      </m:sSubPr>
                      <m:e>
                        <m:r>
                          <a:rPr lang="en-AU">
                            <a:latin typeface="Cambria Math" panose="02040503050406030204" pitchFamily="18" charset="0"/>
                          </a:rPr>
                          <m:t>𝜆</m:t>
                        </m:r>
                      </m:e>
                      <m:sub>
                        <m:r>
                          <a:rPr lang="en-AU">
                            <a:latin typeface="Cambria Math" panose="02040503050406030204" pitchFamily="18" charset="0"/>
                          </a:rPr>
                          <m:t>2</m:t>
                        </m:r>
                      </m:sub>
                    </m:sSub>
                    <m:r>
                      <a:rPr lang="en-AU">
                        <a:latin typeface="Cambria Math" panose="02040503050406030204" pitchFamily="18" charset="0"/>
                      </a:rPr>
                      <m:t>𝑠</m:t>
                    </m:r>
                  </m:oMath>
                </a14:m>
                <a:r>
                  <a:rPr lang="en-AU" dirty="0"/>
                  <a:t> </a:t>
                </a:r>
              </a:p>
              <a:p>
                <a:r>
                  <a:rPr lang="en-AU" dirty="0"/>
                  <a:t>marginal cost of production can be written as </a:t>
                </a:r>
                <a14:m>
                  <m:oMath xmlns:m="http://schemas.openxmlformats.org/officeDocument/2006/math">
                    <m:r>
                      <a:rPr lang="en-AU">
                        <a:latin typeface="Cambria Math" panose="02040503050406030204" pitchFamily="18" charset="0"/>
                      </a:rPr>
                      <m:t>𝑐</m:t>
                    </m:r>
                    <m:r>
                      <a:rPr lang="en-AU">
                        <a:latin typeface="Cambria Math" panose="02040503050406030204" pitchFamily="18" charset="0"/>
                      </a:rPr>
                      <m:t>=</m:t>
                    </m:r>
                    <m:f>
                      <m:fPr>
                        <m:ctrlPr>
                          <a:rPr lang="en-AU" i="1">
                            <a:latin typeface="Cambria Math" panose="02040503050406030204" pitchFamily="18" charset="0"/>
                          </a:rPr>
                        </m:ctrlPr>
                      </m:fPr>
                      <m:num>
                        <m:d>
                          <m:dPr>
                            <m:ctrlPr>
                              <a:rPr lang="en-AU" i="1">
                                <a:latin typeface="Cambria Math" panose="02040503050406030204" pitchFamily="18" charset="0"/>
                              </a:rPr>
                            </m:ctrlPr>
                          </m:dPr>
                          <m:e>
                            <m:sSub>
                              <m:sSubPr>
                                <m:ctrlPr>
                                  <a:rPr lang="en-AU" i="1">
                                    <a:latin typeface="Cambria Math" panose="02040503050406030204" pitchFamily="18" charset="0"/>
                                  </a:rPr>
                                </m:ctrlPr>
                              </m:sSubPr>
                              <m:e>
                                <m:r>
                                  <a:rPr lang="en-AU">
                                    <a:latin typeface="Cambria Math" panose="02040503050406030204" pitchFamily="18" charset="0"/>
                                  </a:rPr>
                                  <m:t>𝜆</m:t>
                                </m:r>
                              </m:e>
                              <m:sub>
                                <m:r>
                                  <a:rPr lang="en-AU">
                                    <a:latin typeface="Cambria Math" panose="02040503050406030204" pitchFamily="18" charset="0"/>
                                  </a:rPr>
                                  <m:t>2</m:t>
                                </m:r>
                              </m:sub>
                            </m:sSub>
                            <m:r>
                              <a:rPr lang="en-AU">
                                <a:latin typeface="Cambria Math" panose="02040503050406030204" pitchFamily="18" charset="0"/>
                              </a:rPr>
                              <m:t>+</m:t>
                            </m:r>
                            <m:r>
                              <a:rPr lang="en-AU">
                                <a:latin typeface="Cambria Math" panose="02040503050406030204" pitchFamily="18" charset="0"/>
                              </a:rPr>
                              <m:t>𝜂</m:t>
                            </m:r>
                          </m:e>
                        </m:d>
                        <m:d>
                          <m:dPr>
                            <m:ctrlPr>
                              <a:rPr lang="en-AU" i="1">
                                <a:latin typeface="Cambria Math" panose="02040503050406030204" pitchFamily="18" charset="0"/>
                              </a:rPr>
                            </m:ctrlPr>
                          </m:dPr>
                          <m:e>
                            <m:r>
                              <a:rPr lang="en-AU">
                                <a:latin typeface="Cambria Math" panose="02040503050406030204" pitchFamily="18" charset="0"/>
                              </a:rPr>
                              <m:t>𝑤</m:t>
                            </m:r>
                            <m:r>
                              <a:rPr lang="en-AU">
                                <a:latin typeface="Cambria Math" panose="02040503050406030204" pitchFamily="18" charset="0"/>
                              </a:rPr>
                              <m:t>+</m:t>
                            </m:r>
                            <m:r>
                              <a:rPr lang="en-AU">
                                <a:latin typeface="Cambria Math" panose="02040503050406030204" pitchFamily="18" charset="0"/>
                              </a:rPr>
                              <m:t>𝑚</m:t>
                            </m:r>
                          </m:e>
                        </m:d>
                      </m:num>
                      <m:den>
                        <m:sSub>
                          <m:sSubPr>
                            <m:ctrlPr>
                              <a:rPr lang="en-AU" i="1">
                                <a:latin typeface="Cambria Math" panose="02040503050406030204" pitchFamily="18" charset="0"/>
                              </a:rPr>
                            </m:ctrlPr>
                          </m:sSubPr>
                          <m:e>
                            <m:r>
                              <a:rPr lang="en-AU">
                                <a:latin typeface="Cambria Math" panose="02040503050406030204" pitchFamily="18" charset="0"/>
                              </a:rPr>
                              <m:t>𝜆</m:t>
                            </m:r>
                          </m:e>
                          <m:sub>
                            <m:r>
                              <a:rPr lang="en-AU">
                                <a:latin typeface="Cambria Math" panose="02040503050406030204" pitchFamily="18" charset="0"/>
                              </a:rPr>
                              <m:t>2</m:t>
                            </m:r>
                          </m:sub>
                        </m:sSub>
                        <m:sSup>
                          <m:sSupPr>
                            <m:ctrlPr>
                              <a:rPr lang="en-AU" i="1">
                                <a:latin typeface="Cambria Math" panose="02040503050406030204" pitchFamily="18" charset="0"/>
                              </a:rPr>
                            </m:ctrlPr>
                          </m:sSupPr>
                          <m:e>
                            <m:d>
                              <m:dPr>
                                <m:ctrlPr>
                                  <a:rPr lang="en-AU" i="1">
                                    <a:latin typeface="Cambria Math" panose="02040503050406030204" pitchFamily="18" charset="0"/>
                                  </a:rPr>
                                </m:ctrlPr>
                              </m:dPr>
                              <m:e>
                                <m:r>
                                  <a:rPr lang="en-AU">
                                    <a:latin typeface="Cambria Math" panose="02040503050406030204" pitchFamily="18" charset="0"/>
                                  </a:rPr>
                                  <m:t>1+</m:t>
                                </m:r>
                                <m:sSup>
                                  <m:sSupPr>
                                    <m:ctrlPr>
                                      <a:rPr lang="en-AU" i="1">
                                        <a:latin typeface="Cambria Math" panose="02040503050406030204" pitchFamily="18" charset="0"/>
                                      </a:rPr>
                                    </m:ctrlPr>
                                  </m:sSupPr>
                                  <m:e>
                                    <m:r>
                                      <a:rPr lang="en-AU">
                                        <a:latin typeface="Cambria Math" panose="02040503050406030204" pitchFamily="18" charset="0"/>
                                      </a:rPr>
                                      <m:t>𝜁</m:t>
                                    </m:r>
                                  </m:e>
                                  <m:sup>
                                    <m:r>
                                      <a:rPr lang="en-AU">
                                        <a:latin typeface="Cambria Math" panose="02040503050406030204" pitchFamily="18" charset="0"/>
                                      </a:rPr>
                                      <m:t>𝜌</m:t>
                                    </m:r>
                                  </m:sup>
                                </m:sSup>
                                <m:sSup>
                                  <m:sSupPr>
                                    <m:ctrlPr>
                                      <a:rPr lang="en-AU" i="1">
                                        <a:latin typeface="Cambria Math" panose="02040503050406030204" pitchFamily="18" charset="0"/>
                                      </a:rPr>
                                    </m:ctrlPr>
                                  </m:sSupPr>
                                  <m:e>
                                    <m:r>
                                      <a:rPr lang="en-AU">
                                        <a:latin typeface="Cambria Math" panose="02040503050406030204" pitchFamily="18" charset="0"/>
                                      </a:rPr>
                                      <m:t>𝜂</m:t>
                                    </m:r>
                                  </m:e>
                                  <m:sup>
                                    <m:r>
                                      <a:rPr lang="en-AU">
                                        <a:latin typeface="Cambria Math" panose="02040503050406030204" pitchFamily="18" charset="0"/>
                                      </a:rPr>
                                      <m:t>𝜌</m:t>
                                    </m:r>
                                  </m:sup>
                                </m:sSup>
                              </m:e>
                            </m:d>
                          </m:e>
                          <m:sup>
                            <m:f>
                              <m:fPr>
                                <m:type m:val="lin"/>
                                <m:ctrlPr>
                                  <a:rPr lang="en-AU" i="1">
                                    <a:latin typeface="Cambria Math" panose="02040503050406030204" pitchFamily="18" charset="0"/>
                                  </a:rPr>
                                </m:ctrlPr>
                              </m:fPr>
                              <m:num>
                                <m:r>
                                  <a:rPr lang="en-AU">
                                    <a:latin typeface="Cambria Math" panose="02040503050406030204" pitchFamily="18" charset="0"/>
                                  </a:rPr>
                                  <m:t>1</m:t>
                                </m:r>
                              </m:num>
                              <m:den>
                                <m:r>
                                  <a:rPr lang="en-AU">
                                    <a:latin typeface="Cambria Math" panose="02040503050406030204" pitchFamily="18" charset="0"/>
                                  </a:rPr>
                                  <m:t>𝜌</m:t>
                                </m:r>
                              </m:den>
                            </m:f>
                          </m:sup>
                        </m:sSup>
                        <m:r>
                          <a:rPr lang="en-AU">
                            <a:latin typeface="Cambria Math" panose="02040503050406030204" pitchFamily="18" charset="0"/>
                          </a:rPr>
                          <m:t>𝑠</m:t>
                        </m:r>
                      </m:den>
                    </m:f>
                    <m:r>
                      <a:rPr lang="en-AU">
                        <a:latin typeface="Cambria Math" panose="02040503050406030204" pitchFamily="18" charset="0"/>
                      </a:rPr>
                      <m:t>,</m:t>
                    </m:r>
                  </m:oMath>
                </a14:m>
                <a:r>
                  <a:rPr lang="en-AU" dirty="0"/>
                  <a:t> where </a:t>
                </a:r>
                <a14:m>
                  <m:oMath xmlns:m="http://schemas.openxmlformats.org/officeDocument/2006/math">
                    <m:r>
                      <a:rPr lang="en-AU">
                        <a:latin typeface="Cambria Math" panose="02040503050406030204" pitchFamily="18" charset="0"/>
                      </a:rPr>
                      <m:t>𝜂</m:t>
                    </m:r>
                    <m:r>
                      <a:rPr lang="en-AU">
                        <a:latin typeface="Cambria Math" panose="02040503050406030204" pitchFamily="18" charset="0"/>
                      </a:rPr>
                      <m:t>≡</m:t>
                    </m:r>
                    <m:f>
                      <m:fPr>
                        <m:ctrlPr>
                          <a:rPr lang="en-AU" i="1">
                            <a:latin typeface="Cambria Math" panose="02040503050406030204" pitchFamily="18" charset="0"/>
                          </a:rPr>
                        </m:ctrlPr>
                      </m:fPr>
                      <m:num>
                        <m:sSub>
                          <m:sSubPr>
                            <m:ctrlPr>
                              <a:rPr lang="en-AU" i="1">
                                <a:latin typeface="Cambria Math" panose="02040503050406030204" pitchFamily="18" charset="0"/>
                              </a:rPr>
                            </m:ctrlPr>
                          </m:sSubPr>
                          <m:e>
                            <m:r>
                              <a:rPr lang="en-AU">
                                <a:latin typeface="Cambria Math" panose="02040503050406030204" pitchFamily="18" charset="0"/>
                              </a:rPr>
                              <m:t>𝑞</m:t>
                            </m:r>
                          </m:e>
                          <m:sub>
                            <m:r>
                              <a:rPr lang="en-AU">
                                <a:latin typeface="Cambria Math" panose="02040503050406030204" pitchFamily="18" charset="0"/>
                              </a:rPr>
                              <m:t>𝑛</m:t>
                            </m:r>
                          </m:sub>
                        </m:sSub>
                      </m:num>
                      <m:den>
                        <m:sSub>
                          <m:sSubPr>
                            <m:ctrlPr>
                              <a:rPr lang="en-AU" i="1">
                                <a:latin typeface="Cambria Math" panose="02040503050406030204" pitchFamily="18" charset="0"/>
                              </a:rPr>
                            </m:ctrlPr>
                          </m:sSubPr>
                          <m:e>
                            <m:r>
                              <a:rPr lang="en-AU">
                                <a:latin typeface="Cambria Math" panose="02040503050406030204" pitchFamily="18" charset="0"/>
                              </a:rPr>
                              <m:t>𝑞</m:t>
                            </m:r>
                          </m:e>
                          <m:sub>
                            <m:r>
                              <a:rPr lang="en-AU">
                                <a:latin typeface="Cambria Math" panose="02040503050406030204" pitchFamily="18" charset="0"/>
                              </a:rPr>
                              <m:t>𝑜</m:t>
                            </m:r>
                          </m:sub>
                        </m:sSub>
                      </m:den>
                    </m:f>
                  </m:oMath>
                </a14:m>
                <a:endParaRPr lang="en-AU" dirty="0"/>
              </a:p>
              <a:p>
                <a:endParaRPr lang="en-AU" dirty="0"/>
              </a:p>
            </p:txBody>
          </p:sp>
        </mc:Choice>
        <mc:Fallback xmlns="">
          <p:sp>
            <p:nvSpPr>
              <p:cNvPr id="3" name="Content Placeholder 2">
                <a:extLst>
                  <a:ext uri="{FF2B5EF4-FFF2-40B4-BE49-F238E27FC236}">
                    <a16:creationId xmlns:a16="http://schemas.microsoft.com/office/drawing/2014/main" id="{D832B996-9D4A-FD39-46BA-00C917276DF2}"/>
                  </a:ext>
                </a:extLst>
              </p:cNvPr>
              <p:cNvSpPr>
                <a:spLocks noGrp="1" noRot="1" noChangeAspect="1" noMove="1" noResize="1" noEditPoints="1" noAdjustHandles="1" noChangeArrowheads="1" noChangeShapeType="1" noTextEdit="1"/>
              </p:cNvSpPr>
              <p:nvPr>
                <p:ph idx="1"/>
              </p:nvPr>
            </p:nvSpPr>
            <p:spPr>
              <a:blipFill>
                <a:blip r:embed="rId2"/>
                <a:stretch>
                  <a:fillRect l="-928" t="-2101"/>
                </a:stretch>
              </a:blipFill>
            </p:spPr>
            <p:txBody>
              <a:bodyPr/>
              <a:lstStyle/>
              <a:p>
                <a:r>
                  <a:rPr lang="en-AU">
                    <a:noFill/>
                  </a:rPr>
                  <a:t> </a:t>
                </a:r>
              </a:p>
            </p:txBody>
          </p:sp>
        </mc:Fallback>
      </mc:AlternateContent>
    </p:spTree>
    <p:extLst>
      <p:ext uri="{BB962C8B-B14F-4D97-AF65-F5344CB8AC3E}">
        <p14:creationId xmlns:p14="http://schemas.microsoft.com/office/powerpoint/2010/main" val="10184774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4A33D-40FC-7435-32A9-FE7CFED14EC4}"/>
              </a:ext>
            </a:extLst>
          </p:cNvPr>
          <p:cNvSpPr>
            <a:spLocks noGrp="1"/>
          </p:cNvSpPr>
          <p:nvPr>
            <p:ph type="title"/>
          </p:nvPr>
        </p:nvSpPr>
        <p:spPr/>
        <p:txBody>
          <a:bodyPr/>
          <a:lstStyle/>
          <a:p>
            <a:r>
              <a:rPr lang="en-AU" dirty="0"/>
              <a:t>Analytical Framework-Economic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33B577B-CAEF-BA05-683F-596A0B6367B8}"/>
                  </a:ext>
                </a:extLst>
              </p:cNvPr>
              <p:cNvSpPr>
                <a:spLocks noGrp="1"/>
              </p:cNvSpPr>
              <p:nvPr>
                <p:ph idx="1"/>
              </p:nvPr>
            </p:nvSpPr>
            <p:spPr/>
            <p:txBody>
              <a:bodyPr>
                <a:normAutofit/>
              </a:bodyPr>
              <a:lstStyle/>
              <a:p>
                <a:r>
                  <a:rPr lang="en-AU" sz="2600" dirty="0"/>
                  <a:t>Firms’ per-period profit from the domestic market is then </a:t>
                </a:r>
                <a14:m>
                  <m:oMath xmlns:m="http://schemas.openxmlformats.org/officeDocument/2006/math">
                    <m:r>
                      <a:rPr lang="en-AU" sz="2600">
                        <a:latin typeface="Cambria Math" panose="02040503050406030204" pitchFamily="18" charset="0"/>
                      </a:rPr>
                      <m:t>𝜋</m:t>
                    </m:r>
                    <m:r>
                      <a:rPr lang="en-AU" sz="2600">
                        <a:latin typeface="Cambria Math" panose="02040503050406030204" pitchFamily="18" charset="0"/>
                      </a:rPr>
                      <m:t>=</m:t>
                    </m:r>
                    <m:d>
                      <m:dPr>
                        <m:ctrlPr>
                          <a:rPr lang="en-AU" sz="2600" i="1">
                            <a:latin typeface="Cambria Math" panose="02040503050406030204" pitchFamily="18" charset="0"/>
                          </a:rPr>
                        </m:ctrlPr>
                      </m:dPr>
                      <m:e>
                        <m:r>
                          <a:rPr lang="en-AU" sz="2600">
                            <a:latin typeface="Cambria Math" panose="02040503050406030204" pitchFamily="18" charset="0"/>
                          </a:rPr>
                          <m:t>𝑝</m:t>
                        </m:r>
                        <m:r>
                          <a:rPr lang="en-AU" sz="2600">
                            <a:latin typeface="Cambria Math" panose="02040503050406030204" pitchFamily="18" charset="0"/>
                          </a:rPr>
                          <m:t>−</m:t>
                        </m:r>
                        <m:r>
                          <a:rPr lang="en-AU" sz="2600">
                            <a:latin typeface="Cambria Math" panose="02040503050406030204" pitchFamily="18" charset="0"/>
                          </a:rPr>
                          <m:t>𝑐</m:t>
                        </m:r>
                      </m:e>
                    </m:d>
                    <m:r>
                      <a:rPr lang="en-AU" sz="2600">
                        <a:latin typeface="Cambria Math" panose="02040503050406030204" pitchFamily="18" charset="0"/>
                      </a:rPr>
                      <m:t>𝑞</m:t>
                    </m:r>
                    <m:r>
                      <a:rPr lang="en-AU" sz="2600">
                        <a:latin typeface="Cambria Math" panose="02040503050406030204" pitchFamily="18" charset="0"/>
                      </a:rPr>
                      <m:t>−</m:t>
                    </m:r>
                    <m:r>
                      <a:rPr lang="en-AU" sz="2600">
                        <a:latin typeface="Cambria Math" panose="02040503050406030204" pitchFamily="18" charset="0"/>
                      </a:rPr>
                      <m:t>𝑓</m:t>
                    </m:r>
                    <m:r>
                      <a:rPr lang="en-AU" sz="2600">
                        <a:latin typeface="Cambria Math" panose="02040503050406030204" pitchFamily="18" charset="0"/>
                      </a:rPr>
                      <m:t>−</m:t>
                    </m:r>
                    <m:d>
                      <m:dPr>
                        <m:begChr m:val="["/>
                        <m:endChr m:val="]"/>
                        <m:ctrlPr>
                          <a:rPr lang="en-AU" sz="2600" i="1">
                            <a:latin typeface="Cambria Math" panose="02040503050406030204" pitchFamily="18" charset="0"/>
                          </a:rPr>
                        </m:ctrlPr>
                      </m:dPr>
                      <m:e>
                        <m:sSub>
                          <m:sSubPr>
                            <m:ctrlPr>
                              <a:rPr lang="en-AU" sz="2600" i="1">
                                <a:latin typeface="Cambria Math" panose="02040503050406030204" pitchFamily="18" charset="0"/>
                              </a:rPr>
                            </m:ctrlPr>
                          </m:sSubPr>
                          <m:e>
                            <m:r>
                              <a:rPr lang="en-AU" sz="2600">
                                <a:latin typeface="Cambria Math" panose="02040503050406030204" pitchFamily="18" charset="0"/>
                              </a:rPr>
                              <m:t>𝑓</m:t>
                            </m:r>
                          </m:e>
                          <m:sub>
                            <m:r>
                              <a:rPr lang="en-AU" sz="2600">
                                <a:latin typeface="Cambria Math" panose="02040503050406030204" pitchFamily="18" charset="0"/>
                              </a:rPr>
                              <m:t>𝑛</m:t>
                            </m:r>
                          </m:sub>
                        </m:sSub>
                        <m:r>
                          <a:rPr lang="en-AU" sz="2600">
                            <a:latin typeface="Cambria Math" panose="02040503050406030204" pitchFamily="18" charset="0"/>
                          </a:rPr>
                          <m:t>+</m:t>
                        </m:r>
                        <m:sSubSup>
                          <m:sSubSupPr>
                            <m:ctrlPr>
                              <a:rPr lang="en-AU" sz="2600" i="1">
                                <a:latin typeface="Cambria Math" panose="02040503050406030204" pitchFamily="18" charset="0"/>
                              </a:rPr>
                            </m:ctrlPr>
                          </m:sSubSupPr>
                          <m:e>
                            <m:r>
                              <a:rPr lang="en-AU" sz="2600">
                                <a:latin typeface="Cambria Math" panose="02040503050406030204" pitchFamily="18" charset="0"/>
                              </a:rPr>
                              <m:t>𝑓</m:t>
                            </m:r>
                          </m:e>
                          <m:sub>
                            <m:r>
                              <a:rPr lang="en-AU" sz="2600">
                                <a:latin typeface="Cambria Math" panose="02040503050406030204" pitchFamily="18" charset="0"/>
                              </a:rPr>
                              <m:t>𝑛</m:t>
                            </m:r>
                          </m:sub>
                          <m:sup>
                            <m:r>
                              <a:rPr lang="en-AU" sz="2600">
                                <a:latin typeface="Cambria Math" panose="02040503050406030204" pitchFamily="18" charset="0"/>
                              </a:rPr>
                              <m:t>𝑒</m:t>
                            </m:r>
                          </m:sup>
                        </m:sSubSup>
                        <m:d>
                          <m:dPr>
                            <m:ctrlPr>
                              <a:rPr lang="en-AU" sz="2600" i="1">
                                <a:latin typeface="Cambria Math" panose="02040503050406030204" pitchFamily="18" charset="0"/>
                              </a:rPr>
                            </m:ctrlPr>
                          </m:dPr>
                          <m:e>
                            <m:r>
                              <a:rPr lang="en-AU" sz="2600">
                                <a:latin typeface="Cambria Math" panose="02040503050406030204" pitchFamily="18" charset="0"/>
                              </a:rPr>
                              <m:t>1−</m:t>
                            </m:r>
                            <m:sSub>
                              <m:sSubPr>
                                <m:ctrlPr>
                                  <a:rPr lang="en-AU" sz="2600" i="1">
                                    <a:latin typeface="Cambria Math" panose="02040503050406030204" pitchFamily="18" charset="0"/>
                                  </a:rPr>
                                </m:ctrlPr>
                              </m:sSubPr>
                              <m:e>
                                <m:r>
                                  <a:rPr lang="en-AU" sz="2600">
                                    <a:latin typeface="Cambria Math" panose="02040503050406030204" pitchFamily="18" charset="0"/>
                                  </a:rPr>
                                  <m:t>𝜒</m:t>
                                </m:r>
                              </m:e>
                              <m:sub>
                                <m:r>
                                  <a:rPr lang="en-AU" sz="2600">
                                    <a:latin typeface="Cambria Math" panose="02040503050406030204" pitchFamily="18" charset="0"/>
                                  </a:rPr>
                                  <m:t>1,−1</m:t>
                                </m:r>
                              </m:sub>
                            </m:sSub>
                          </m:e>
                        </m:d>
                      </m:e>
                    </m:d>
                    <m:sSub>
                      <m:sSubPr>
                        <m:ctrlPr>
                          <a:rPr lang="en-AU" sz="2600" i="1">
                            <a:latin typeface="Cambria Math" panose="02040503050406030204" pitchFamily="18" charset="0"/>
                          </a:rPr>
                        </m:ctrlPr>
                      </m:sSubPr>
                      <m:e>
                        <m:r>
                          <a:rPr lang="en-AU" sz="2600">
                            <a:latin typeface="Cambria Math" panose="02040503050406030204" pitchFamily="18" charset="0"/>
                          </a:rPr>
                          <m:t>𝜒</m:t>
                        </m:r>
                      </m:e>
                      <m:sub>
                        <m:r>
                          <a:rPr lang="en-AU" sz="2600">
                            <a:latin typeface="Cambria Math" panose="02040503050406030204" pitchFamily="18" charset="0"/>
                          </a:rPr>
                          <m:t>1</m:t>
                        </m:r>
                      </m:sub>
                    </m:sSub>
                  </m:oMath>
                </a14:m>
                <a:endParaRPr lang="en-AU" sz="2600" dirty="0"/>
              </a:p>
              <a:p>
                <a:r>
                  <a:rPr lang="en-AU" sz="2600" dirty="0"/>
                  <a:t>To export, firms need to pay a fixed and entry export costs (</a:t>
                </a:r>
                <a14:m>
                  <m:oMath xmlns:m="http://schemas.openxmlformats.org/officeDocument/2006/math">
                    <m:sSub>
                      <m:sSubPr>
                        <m:ctrlPr>
                          <a:rPr lang="en-AU" sz="2600" i="1">
                            <a:latin typeface="Cambria Math" panose="02040503050406030204" pitchFamily="18" charset="0"/>
                          </a:rPr>
                        </m:ctrlPr>
                      </m:sSubPr>
                      <m:e>
                        <m:r>
                          <a:rPr lang="en-AU" sz="2600">
                            <a:latin typeface="Cambria Math" panose="02040503050406030204" pitchFamily="18" charset="0"/>
                          </a:rPr>
                          <m:t>𝑓</m:t>
                        </m:r>
                      </m:e>
                      <m:sub>
                        <m:r>
                          <a:rPr lang="en-AU" sz="2600">
                            <a:latin typeface="Cambria Math" panose="02040503050406030204" pitchFamily="18" charset="0"/>
                          </a:rPr>
                          <m:t>𝑒</m:t>
                        </m:r>
                      </m:sub>
                    </m:sSub>
                  </m:oMath>
                </a14:m>
                <a:r>
                  <a:rPr lang="en-AU" sz="2600" dirty="0"/>
                  <a:t> and </a:t>
                </a:r>
                <a14:m>
                  <m:oMath xmlns:m="http://schemas.openxmlformats.org/officeDocument/2006/math">
                    <m:sSubSup>
                      <m:sSubSupPr>
                        <m:ctrlPr>
                          <a:rPr lang="en-AU" sz="2600" i="1">
                            <a:latin typeface="Cambria Math" panose="02040503050406030204" pitchFamily="18" charset="0"/>
                          </a:rPr>
                        </m:ctrlPr>
                      </m:sSubSupPr>
                      <m:e>
                        <m:r>
                          <a:rPr lang="en-AU" sz="2600">
                            <a:latin typeface="Cambria Math" panose="02040503050406030204" pitchFamily="18" charset="0"/>
                          </a:rPr>
                          <m:t>𝑓</m:t>
                        </m:r>
                      </m:e>
                      <m:sub>
                        <m:r>
                          <a:rPr lang="en-AU" sz="2600">
                            <a:latin typeface="Cambria Math" panose="02040503050406030204" pitchFamily="18" charset="0"/>
                          </a:rPr>
                          <m:t>𝑒</m:t>
                        </m:r>
                      </m:sub>
                      <m:sup>
                        <m:r>
                          <a:rPr lang="en-AU" sz="2600">
                            <a:latin typeface="Cambria Math" panose="02040503050406030204" pitchFamily="18" charset="0"/>
                          </a:rPr>
                          <m:t>𝑒</m:t>
                        </m:r>
                      </m:sup>
                    </m:sSubSup>
                  </m:oMath>
                </a14:m>
                <a:r>
                  <a:rPr lang="en-AU" sz="2600" dirty="0"/>
                  <a:t> respectively) and an iceberg trade cost (</a:t>
                </a:r>
                <a14:m>
                  <m:oMath xmlns:m="http://schemas.openxmlformats.org/officeDocument/2006/math">
                    <m:r>
                      <a:rPr lang="en-AU" sz="2600">
                        <a:latin typeface="Cambria Math" panose="02040503050406030204" pitchFamily="18" charset="0"/>
                      </a:rPr>
                      <m:t>𝜏</m:t>
                    </m:r>
                  </m:oMath>
                </a14:m>
                <a:r>
                  <a:rPr lang="en-AU" sz="2600" dirty="0"/>
                  <a:t>). </a:t>
                </a:r>
              </a:p>
              <a:p>
                <a:r>
                  <a:rPr lang="en-AU" sz="2600" dirty="0"/>
                  <a:t>Export profit can then be written as </a:t>
                </a:r>
                <a14:m>
                  <m:oMath xmlns:m="http://schemas.openxmlformats.org/officeDocument/2006/math">
                    <m:acc>
                      <m:accPr>
                        <m:chr m:val="̃"/>
                        <m:ctrlPr>
                          <a:rPr lang="en-AU" sz="2600" i="1">
                            <a:latin typeface="Cambria Math" panose="02040503050406030204" pitchFamily="18" charset="0"/>
                          </a:rPr>
                        </m:ctrlPr>
                      </m:accPr>
                      <m:e>
                        <m:r>
                          <a:rPr lang="en-AU" sz="2600">
                            <a:latin typeface="Cambria Math" panose="02040503050406030204" pitchFamily="18" charset="0"/>
                          </a:rPr>
                          <m:t>𝜋</m:t>
                        </m:r>
                      </m:e>
                    </m:acc>
                    <m:r>
                      <a:rPr lang="en-AU" sz="2600">
                        <a:latin typeface="Cambria Math" panose="02040503050406030204" pitchFamily="18" charset="0"/>
                      </a:rPr>
                      <m:t>=</m:t>
                    </m:r>
                    <m:d>
                      <m:dPr>
                        <m:ctrlPr>
                          <a:rPr lang="en-AU" sz="2600" i="1">
                            <a:latin typeface="Cambria Math" panose="02040503050406030204" pitchFamily="18" charset="0"/>
                          </a:rPr>
                        </m:ctrlPr>
                      </m:dPr>
                      <m:e>
                        <m:acc>
                          <m:accPr>
                            <m:chr m:val="̃"/>
                            <m:ctrlPr>
                              <a:rPr lang="en-AU" sz="2600" i="1">
                                <a:latin typeface="Cambria Math" panose="02040503050406030204" pitchFamily="18" charset="0"/>
                              </a:rPr>
                            </m:ctrlPr>
                          </m:accPr>
                          <m:e>
                            <m:r>
                              <a:rPr lang="en-AU" sz="2600">
                                <a:latin typeface="Cambria Math" panose="02040503050406030204" pitchFamily="18" charset="0"/>
                              </a:rPr>
                              <m:t>𝑝</m:t>
                            </m:r>
                          </m:e>
                        </m:acc>
                        <m:r>
                          <a:rPr lang="en-AU" sz="2600">
                            <a:latin typeface="Cambria Math" panose="02040503050406030204" pitchFamily="18" charset="0"/>
                          </a:rPr>
                          <m:t>−</m:t>
                        </m:r>
                        <m:r>
                          <a:rPr lang="en-AU" sz="2600">
                            <a:latin typeface="Cambria Math" panose="02040503050406030204" pitchFamily="18" charset="0"/>
                          </a:rPr>
                          <m:t>𝜏</m:t>
                        </m:r>
                        <m:r>
                          <a:rPr lang="en-AU" sz="2600">
                            <a:latin typeface="Cambria Math" panose="02040503050406030204" pitchFamily="18" charset="0"/>
                          </a:rPr>
                          <m:t>𝑐</m:t>
                        </m:r>
                      </m:e>
                    </m:d>
                    <m:acc>
                      <m:accPr>
                        <m:chr m:val="̃"/>
                        <m:ctrlPr>
                          <a:rPr lang="en-AU" sz="2600" i="1">
                            <a:latin typeface="Cambria Math" panose="02040503050406030204" pitchFamily="18" charset="0"/>
                          </a:rPr>
                        </m:ctrlPr>
                      </m:accPr>
                      <m:e>
                        <m:r>
                          <a:rPr lang="en-AU" sz="2600">
                            <a:latin typeface="Cambria Math" panose="02040503050406030204" pitchFamily="18" charset="0"/>
                          </a:rPr>
                          <m:t>𝑞</m:t>
                        </m:r>
                      </m:e>
                    </m:acc>
                    <m:r>
                      <a:rPr lang="en-AU" sz="2600">
                        <a:latin typeface="Cambria Math" panose="02040503050406030204" pitchFamily="18" charset="0"/>
                      </a:rPr>
                      <m:t>−</m:t>
                    </m:r>
                    <m:d>
                      <m:dPr>
                        <m:begChr m:val="["/>
                        <m:endChr m:val="]"/>
                        <m:ctrlPr>
                          <a:rPr lang="en-AU" sz="2600" i="1">
                            <a:latin typeface="Cambria Math" panose="02040503050406030204" pitchFamily="18" charset="0"/>
                          </a:rPr>
                        </m:ctrlPr>
                      </m:dPr>
                      <m:e>
                        <m:sSub>
                          <m:sSubPr>
                            <m:ctrlPr>
                              <a:rPr lang="en-AU" sz="2600" i="1">
                                <a:latin typeface="Cambria Math" panose="02040503050406030204" pitchFamily="18" charset="0"/>
                              </a:rPr>
                            </m:ctrlPr>
                          </m:sSubPr>
                          <m:e>
                            <m:r>
                              <a:rPr lang="en-AU" sz="2600">
                                <a:latin typeface="Cambria Math" panose="02040503050406030204" pitchFamily="18" charset="0"/>
                              </a:rPr>
                              <m:t>𝑓</m:t>
                            </m:r>
                          </m:e>
                          <m:sub>
                            <m:r>
                              <a:rPr lang="en-AU" sz="2600">
                                <a:latin typeface="Cambria Math" panose="02040503050406030204" pitchFamily="18" charset="0"/>
                              </a:rPr>
                              <m:t>𝑒</m:t>
                            </m:r>
                          </m:sub>
                        </m:sSub>
                        <m:r>
                          <a:rPr lang="en-AU" sz="2600">
                            <a:latin typeface="Cambria Math" panose="02040503050406030204" pitchFamily="18" charset="0"/>
                          </a:rPr>
                          <m:t>+</m:t>
                        </m:r>
                        <m:sSubSup>
                          <m:sSubSupPr>
                            <m:ctrlPr>
                              <a:rPr lang="en-AU" sz="2600" i="1">
                                <a:latin typeface="Cambria Math" panose="02040503050406030204" pitchFamily="18" charset="0"/>
                              </a:rPr>
                            </m:ctrlPr>
                          </m:sSubSupPr>
                          <m:e>
                            <m:r>
                              <a:rPr lang="en-AU" sz="2600">
                                <a:latin typeface="Cambria Math" panose="02040503050406030204" pitchFamily="18" charset="0"/>
                              </a:rPr>
                              <m:t>𝑓</m:t>
                            </m:r>
                          </m:e>
                          <m:sub>
                            <m:r>
                              <a:rPr lang="en-AU" sz="2600">
                                <a:latin typeface="Cambria Math" panose="02040503050406030204" pitchFamily="18" charset="0"/>
                              </a:rPr>
                              <m:t>𝑒</m:t>
                            </m:r>
                          </m:sub>
                          <m:sup>
                            <m:r>
                              <a:rPr lang="en-AU" sz="2600">
                                <a:latin typeface="Cambria Math" panose="02040503050406030204" pitchFamily="18" charset="0"/>
                              </a:rPr>
                              <m:t>𝑒</m:t>
                            </m:r>
                          </m:sup>
                        </m:sSubSup>
                        <m:d>
                          <m:dPr>
                            <m:ctrlPr>
                              <a:rPr lang="en-AU" sz="2600" i="1">
                                <a:latin typeface="Cambria Math" panose="02040503050406030204" pitchFamily="18" charset="0"/>
                              </a:rPr>
                            </m:ctrlPr>
                          </m:dPr>
                          <m:e>
                            <m:r>
                              <a:rPr lang="en-AU" sz="2600">
                                <a:latin typeface="Cambria Math" panose="02040503050406030204" pitchFamily="18" charset="0"/>
                              </a:rPr>
                              <m:t>1−</m:t>
                            </m:r>
                            <m:sSub>
                              <m:sSubPr>
                                <m:ctrlPr>
                                  <a:rPr lang="en-AU" sz="2600" i="1">
                                    <a:latin typeface="Cambria Math" panose="02040503050406030204" pitchFamily="18" charset="0"/>
                                  </a:rPr>
                                </m:ctrlPr>
                              </m:sSubPr>
                              <m:e>
                                <m:r>
                                  <a:rPr lang="en-AU" sz="2600">
                                    <a:latin typeface="Cambria Math" panose="02040503050406030204" pitchFamily="18" charset="0"/>
                                  </a:rPr>
                                  <m:t>𝜒</m:t>
                                </m:r>
                              </m:e>
                              <m:sub>
                                <m:r>
                                  <a:rPr lang="en-AU" sz="2600">
                                    <a:latin typeface="Cambria Math" panose="02040503050406030204" pitchFamily="18" charset="0"/>
                                  </a:rPr>
                                  <m:t>2,−1</m:t>
                                </m:r>
                              </m:sub>
                            </m:sSub>
                          </m:e>
                        </m:d>
                      </m:e>
                    </m:d>
                  </m:oMath>
                </a14:m>
                <a:endParaRPr lang="en-AU" sz="2600" dirty="0"/>
              </a:p>
              <a:p>
                <a:r>
                  <a:rPr lang="en-AU" sz="2600" dirty="0"/>
                  <a:t>At stage five, firms set optimal prices as a markup over marginal cost of production, namely </a:t>
                </a:r>
                <a14:m>
                  <m:oMath xmlns:m="http://schemas.openxmlformats.org/officeDocument/2006/math">
                    <m:r>
                      <a:rPr lang="en-AU" sz="2600">
                        <a:latin typeface="Cambria Math" panose="02040503050406030204" pitchFamily="18" charset="0"/>
                      </a:rPr>
                      <m:t>𝑝</m:t>
                    </m:r>
                    <m:r>
                      <a:rPr lang="en-AU" sz="2600">
                        <a:latin typeface="Cambria Math" panose="02040503050406030204" pitchFamily="18" charset="0"/>
                      </a:rPr>
                      <m:t>=</m:t>
                    </m:r>
                    <m:f>
                      <m:fPr>
                        <m:ctrlPr>
                          <a:rPr lang="en-AU" sz="2600" i="1">
                            <a:latin typeface="Cambria Math" panose="02040503050406030204" pitchFamily="18" charset="0"/>
                          </a:rPr>
                        </m:ctrlPr>
                      </m:fPr>
                      <m:num>
                        <m:r>
                          <a:rPr lang="en-AU" sz="2600">
                            <a:latin typeface="Cambria Math" panose="02040503050406030204" pitchFamily="18" charset="0"/>
                          </a:rPr>
                          <m:t>𝑐</m:t>
                        </m:r>
                      </m:num>
                      <m:den>
                        <m:r>
                          <a:rPr lang="en-AU" sz="2600">
                            <a:latin typeface="Cambria Math" panose="02040503050406030204" pitchFamily="18" charset="0"/>
                          </a:rPr>
                          <m:t>𝜌</m:t>
                        </m:r>
                      </m:den>
                    </m:f>
                  </m:oMath>
                </a14:m>
                <a:r>
                  <a:rPr lang="en-AU" sz="2600" dirty="0"/>
                  <a:t> and </a:t>
                </a:r>
                <a14:m>
                  <m:oMath xmlns:m="http://schemas.openxmlformats.org/officeDocument/2006/math">
                    <m:acc>
                      <m:accPr>
                        <m:chr m:val="̃"/>
                        <m:ctrlPr>
                          <a:rPr lang="en-AU" sz="2600" i="1">
                            <a:latin typeface="Cambria Math" panose="02040503050406030204" pitchFamily="18" charset="0"/>
                          </a:rPr>
                        </m:ctrlPr>
                      </m:accPr>
                      <m:e>
                        <m:r>
                          <a:rPr lang="en-AU" sz="2600">
                            <a:latin typeface="Cambria Math" panose="02040503050406030204" pitchFamily="18" charset="0"/>
                          </a:rPr>
                          <m:t>𝑝</m:t>
                        </m:r>
                      </m:e>
                    </m:acc>
                    <m:r>
                      <a:rPr lang="en-AU" sz="2600">
                        <a:latin typeface="Cambria Math" panose="02040503050406030204" pitchFamily="18" charset="0"/>
                      </a:rPr>
                      <m:t>=</m:t>
                    </m:r>
                    <m:f>
                      <m:fPr>
                        <m:ctrlPr>
                          <a:rPr lang="en-AU" sz="2600" i="1">
                            <a:latin typeface="Cambria Math" panose="02040503050406030204" pitchFamily="18" charset="0"/>
                          </a:rPr>
                        </m:ctrlPr>
                      </m:fPr>
                      <m:num>
                        <m:r>
                          <a:rPr lang="en-AU" sz="2600">
                            <a:latin typeface="Cambria Math" panose="02040503050406030204" pitchFamily="18" charset="0"/>
                          </a:rPr>
                          <m:t>𝜏</m:t>
                        </m:r>
                        <m:r>
                          <a:rPr lang="en-AU" sz="2600">
                            <a:latin typeface="Cambria Math" panose="02040503050406030204" pitchFamily="18" charset="0"/>
                          </a:rPr>
                          <m:t>𝑐</m:t>
                        </m:r>
                      </m:num>
                      <m:den>
                        <m:acc>
                          <m:accPr>
                            <m:chr m:val="̃"/>
                            <m:ctrlPr>
                              <a:rPr lang="en-AU" sz="2600" i="1">
                                <a:latin typeface="Cambria Math" panose="02040503050406030204" pitchFamily="18" charset="0"/>
                              </a:rPr>
                            </m:ctrlPr>
                          </m:accPr>
                          <m:e>
                            <m:r>
                              <a:rPr lang="en-AU" sz="2600">
                                <a:latin typeface="Cambria Math" panose="02040503050406030204" pitchFamily="18" charset="0"/>
                              </a:rPr>
                              <m:t>𝜌</m:t>
                            </m:r>
                          </m:e>
                        </m:acc>
                      </m:den>
                    </m:f>
                  </m:oMath>
                </a14:m>
                <a:endParaRPr lang="en-AU" sz="2600" dirty="0"/>
              </a:p>
              <a:p>
                <a:r>
                  <a:rPr lang="en-AU" sz="2600" dirty="0"/>
                  <a:t>At stage four, firms’ optimal level of product innovation, should they decide to innovate, is </a:t>
                </a:r>
                <a14:m>
                  <m:oMath xmlns:m="http://schemas.openxmlformats.org/officeDocument/2006/math">
                    <m:r>
                      <a:rPr lang="en-AU" sz="2600">
                        <a:latin typeface="Cambria Math" panose="02040503050406030204" pitchFamily="18" charset="0"/>
                      </a:rPr>
                      <m:t>𝜂</m:t>
                    </m:r>
                    <m:r>
                      <a:rPr lang="en-AU" sz="2600">
                        <a:latin typeface="Cambria Math" panose="02040503050406030204" pitchFamily="18" charset="0"/>
                      </a:rPr>
                      <m:t>=</m:t>
                    </m:r>
                    <m:sSubSup>
                      <m:sSubSupPr>
                        <m:ctrlPr>
                          <a:rPr lang="en-AU" sz="2600" i="1">
                            <a:latin typeface="Cambria Math" panose="02040503050406030204" pitchFamily="18" charset="0"/>
                          </a:rPr>
                        </m:ctrlPr>
                      </m:sSubSupPr>
                      <m:e>
                        <m:r>
                          <a:rPr lang="en-AU" sz="2600">
                            <a:latin typeface="Cambria Math" panose="02040503050406030204" pitchFamily="18" charset="0"/>
                          </a:rPr>
                          <m:t>𝜆</m:t>
                        </m:r>
                      </m:e>
                      <m:sub>
                        <m:r>
                          <a:rPr lang="en-AU" sz="2600">
                            <a:latin typeface="Cambria Math" panose="02040503050406030204" pitchFamily="18" charset="0"/>
                          </a:rPr>
                          <m:t>2</m:t>
                        </m:r>
                      </m:sub>
                      <m:sup>
                        <m:f>
                          <m:fPr>
                            <m:ctrlPr>
                              <a:rPr lang="en-AU" sz="2600" i="1">
                                <a:latin typeface="Cambria Math" panose="02040503050406030204" pitchFamily="18" charset="0"/>
                              </a:rPr>
                            </m:ctrlPr>
                          </m:fPr>
                          <m:num>
                            <m:r>
                              <a:rPr lang="en-AU" sz="2600">
                                <a:latin typeface="Cambria Math" panose="02040503050406030204" pitchFamily="18" charset="0"/>
                              </a:rPr>
                              <m:t>1</m:t>
                            </m:r>
                          </m:num>
                          <m:den>
                            <m:r>
                              <a:rPr lang="en-AU" sz="2600">
                                <a:latin typeface="Cambria Math" panose="02040503050406030204" pitchFamily="18" charset="0"/>
                              </a:rPr>
                              <m:t>1−</m:t>
                            </m:r>
                            <m:r>
                              <a:rPr lang="en-AU" sz="2600">
                                <a:latin typeface="Cambria Math" panose="02040503050406030204" pitchFamily="18" charset="0"/>
                              </a:rPr>
                              <m:t>𝜌</m:t>
                            </m:r>
                          </m:den>
                        </m:f>
                      </m:sup>
                    </m:sSubSup>
                    <m:sSup>
                      <m:sSupPr>
                        <m:ctrlPr>
                          <a:rPr lang="en-AU" sz="2600" i="1">
                            <a:latin typeface="Cambria Math" panose="02040503050406030204" pitchFamily="18" charset="0"/>
                          </a:rPr>
                        </m:ctrlPr>
                      </m:sSupPr>
                      <m:e>
                        <m:r>
                          <a:rPr lang="en-AU" sz="2600">
                            <a:latin typeface="Cambria Math" panose="02040503050406030204" pitchFamily="18" charset="0"/>
                          </a:rPr>
                          <m:t>𝜁</m:t>
                        </m:r>
                      </m:e>
                      <m:sup>
                        <m:f>
                          <m:fPr>
                            <m:ctrlPr>
                              <a:rPr lang="en-AU" sz="2600" i="1">
                                <a:latin typeface="Cambria Math" panose="02040503050406030204" pitchFamily="18" charset="0"/>
                              </a:rPr>
                            </m:ctrlPr>
                          </m:fPr>
                          <m:num>
                            <m:r>
                              <a:rPr lang="en-AU" sz="2600">
                                <a:latin typeface="Cambria Math" panose="02040503050406030204" pitchFamily="18" charset="0"/>
                              </a:rPr>
                              <m:t>𝜌</m:t>
                            </m:r>
                          </m:num>
                          <m:den>
                            <m:r>
                              <a:rPr lang="en-AU" sz="2600">
                                <a:latin typeface="Cambria Math" panose="02040503050406030204" pitchFamily="18" charset="0"/>
                              </a:rPr>
                              <m:t>1−</m:t>
                            </m:r>
                            <m:r>
                              <a:rPr lang="en-AU" sz="2600">
                                <a:latin typeface="Cambria Math" panose="02040503050406030204" pitchFamily="18" charset="0"/>
                              </a:rPr>
                              <m:t>𝜌</m:t>
                            </m:r>
                          </m:den>
                        </m:f>
                      </m:sup>
                    </m:sSup>
                  </m:oMath>
                </a14:m>
                <a:r>
                  <a:rPr lang="en-AU" sz="2600" dirty="0"/>
                  <a:t>. </a:t>
                </a:r>
              </a:p>
            </p:txBody>
          </p:sp>
        </mc:Choice>
        <mc:Fallback xmlns="">
          <p:sp>
            <p:nvSpPr>
              <p:cNvPr id="3" name="Content Placeholder 2">
                <a:extLst>
                  <a:ext uri="{FF2B5EF4-FFF2-40B4-BE49-F238E27FC236}">
                    <a16:creationId xmlns:a16="http://schemas.microsoft.com/office/drawing/2014/main" id="{933B577B-CAEF-BA05-683F-596A0B6367B8}"/>
                  </a:ext>
                </a:extLst>
              </p:cNvPr>
              <p:cNvSpPr>
                <a:spLocks noGrp="1" noRot="1" noChangeAspect="1" noMove="1" noResize="1" noEditPoints="1" noAdjustHandles="1" noChangeArrowheads="1" noChangeShapeType="1" noTextEdit="1"/>
              </p:cNvSpPr>
              <p:nvPr>
                <p:ph idx="1"/>
              </p:nvPr>
            </p:nvSpPr>
            <p:spPr>
              <a:blipFill>
                <a:blip r:embed="rId2"/>
                <a:stretch>
                  <a:fillRect l="-928" t="-2101" r="-1507" b="-2941"/>
                </a:stretch>
              </a:blipFill>
            </p:spPr>
            <p:txBody>
              <a:bodyPr/>
              <a:lstStyle/>
              <a:p>
                <a:r>
                  <a:rPr lang="en-AU">
                    <a:noFill/>
                  </a:rPr>
                  <a:t> </a:t>
                </a:r>
              </a:p>
            </p:txBody>
          </p:sp>
        </mc:Fallback>
      </mc:AlternateContent>
    </p:spTree>
    <p:extLst>
      <p:ext uri="{BB962C8B-B14F-4D97-AF65-F5344CB8AC3E}">
        <p14:creationId xmlns:p14="http://schemas.microsoft.com/office/powerpoint/2010/main" val="3537252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C9DBC-C0D6-1936-9A9A-D71CF047564A}"/>
              </a:ext>
            </a:extLst>
          </p:cNvPr>
          <p:cNvSpPr>
            <a:spLocks noGrp="1"/>
          </p:cNvSpPr>
          <p:nvPr>
            <p:ph type="title"/>
          </p:nvPr>
        </p:nvSpPr>
        <p:spPr/>
        <p:txBody>
          <a:bodyPr/>
          <a:lstStyle/>
          <a:p>
            <a:r>
              <a:rPr lang="en-AU" dirty="0"/>
              <a:t>Analytical Framework-Economic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164CD9B-8A32-0815-9AFE-5CA80C93D104}"/>
                  </a:ext>
                </a:extLst>
              </p:cNvPr>
              <p:cNvSpPr>
                <a:spLocks noGrp="1"/>
              </p:cNvSpPr>
              <p:nvPr>
                <p:ph idx="1"/>
              </p:nvPr>
            </p:nvSpPr>
            <p:spPr/>
            <p:txBody>
              <a:bodyPr>
                <a:normAutofit fontScale="92500" lnSpcReduction="20000"/>
              </a:bodyPr>
              <a:lstStyle/>
              <a:p>
                <a:r>
                  <a:rPr lang="en-AU" sz="2600" dirty="0"/>
                  <a:t>firms’ optimal per-period profit from domestic and export markets at stage four are:</a:t>
                </a:r>
              </a:p>
              <a:p>
                <a14:m>
                  <m:oMath xmlns:m="http://schemas.openxmlformats.org/officeDocument/2006/math">
                    <m:r>
                      <a:rPr lang="en-AU" sz="2600">
                        <a:latin typeface="Cambria Math" panose="02040503050406030204" pitchFamily="18" charset="0"/>
                      </a:rPr>
                      <m:t>𝜋</m:t>
                    </m:r>
                    <m:d>
                      <m:dPr>
                        <m:ctrlPr>
                          <a:rPr lang="en-AU" sz="2600" i="1">
                            <a:latin typeface="Cambria Math" panose="02040503050406030204" pitchFamily="18" charset="0"/>
                          </a:rPr>
                        </m:ctrlPr>
                      </m:dPr>
                      <m:e>
                        <m:sSub>
                          <m:sSubPr>
                            <m:ctrlPr>
                              <a:rPr lang="en-AU" sz="2600" i="1">
                                <a:latin typeface="Cambria Math" panose="02040503050406030204" pitchFamily="18" charset="0"/>
                              </a:rPr>
                            </m:ctrlPr>
                          </m:sSubPr>
                          <m:e>
                            <m:r>
                              <a:rPr lang="en-AU" sz="2600">
                                <a:latin typeface="Cambria Math" panose="02040503050406030204" pitchFamily="18" charset="0"/>
                              </a:rPr>
                              <m:t>𝜒</m:t>
                            </m:r>
                          </m:e>
                          <m:sub>
                            <m:r>
                              <a:rPr lang="en-AU" sz="2600">
                                <a:latin typeface="Cambria Math" panose="02040503050406030204" pitchFamily="18" charset="0"/>
                              </a:rPr>
                              <m:t>1</m:t>
                            </m:r>
                          </m:sub>
                        </m:sSub>
                        <m:r>
                          <a:rPr lang="en-AU" sz="2600">
                            <a:latin typeface="Cambria Math" panose="02040503050406030204" pitchFamily="18" charset="0"/>
                          </a:rPr>
                          <m:t>=0</m:t>
                        </m:r>
                      </m:e>
                    </m:d>
                    <m:r>
                      <a:rPr lang="en-AU" sz="2600">
                        <a:latin typeface="Cambria Math" panose="02040503050406030204" pitchFamily="18" charset="0"/>
                      </a:rPr>
                      <m:t>=</m:t>
                    </m:r>
                    <m:d>
                      <m:dPr>
                        <m:ctrlPr>
                          <a:rPr lang="en-AU" sz="2600" i="1">
                            <a:latin typeface="Cambria Math" panose="02040503050406030204" pitchFamily="18" charset="0"/>
                          </a:rPr>
                        </m:ctrlPr>
                      </m:dPr>
                      <m:e>
                        <m:r>
                          <a:rPr lang="en-AU" sz="2600">
                            <a:latin typeface="Cambria Math" panose="02040503050406030204" pitchFamily="18" charset="0"/>
                          </a:rPr>
                          <m:t>1−</m:t>
                        </m:r>
                        <m:r>
                          <a:rPr lang="en-AU" sz="2600">
                            <a:latin typeface="Cambria Math" panose="02040503050406030204" pitchFamily="18" charset="0"/>
                          </a:rPr>
                          <m:t>𝜌</m:t>
                        </m:r>
                      </m:e>
                    </m:d>
                    <m:sSup>
                      <m:sSupPr>
                        <m:ctrlPr>
                          <a:rPr lang="en-AU" sz="2600" i="1">
                            <a:latin typeface="Cambria Math" panose="02040503050406030204" pitchFamily="18" charset="0"/>
                          </a:rPr>
                        </m:ctrlPr>
                      </m:sSupPr>
                      <m:e>
                        <m:r>
                          <a:rPr lang="en-AU" sz="2600">
                            <a:latin typeface="Cambria Math" panose="02040503050406030204" pitchFamily="18" charset="0"/>
                          </a:rPr>
                          <m:t>𝜌</m:t>
                        </m:r>
                      </m:e>
                      <m:sup>
                        <m:f>
                          <m:fPr>
                            <m:ctrlPr>
                              <a:rPr lang="en-AU" sz="2600" i="1">
                                <a:latin typeface="Cambria Math" panose="02040503050406030204" pitchFamily="18" charset="0"/>
                              </a:rPr>
                            </m:ctrlPr>
                          </m:fPr>
                          <m:num>
                            <m:r>
                              <a:rPr lang="en-AU" sz="2600">
                                <a:latin typeface="Cambria Math" panose="02040503050406030204" pitchFamily="18" charset="0"/>
                              </a:rPr>
                              <m:t>𝜌</m:t>
                            </m:r>
                          </m:num>
                          <m:den>
                            <m:r>
                              <a:rPr lang="en-AU" sz="2600">
                                <a:latin typeface="Cambria Math" panose="02040503050406030204" pitchFamily="18" charset="0"/>
                              </a:rPr>
                              <m:t>1−</m:t>
                            </m:r>
                            <m:r>
                              <a:rPr lang="en-AU" sz="2600">
                                <a:latin typeface="Cambria Math" panose="02040503050406030204" pitchFamily="18" charset="0"/>
                              </a:rPr>
                              <m:t>𝜌</m:t>
                            </m:r>
                          </m:den>
                        </m:f>
                      </m:sup>
                    </m:sSup>
                    <m:r>
                      <a:rPr lang="en-AU" sz="2600">
                        <a:latin typeface="Cambria Math" panose="02040503050406030204" pitchFamily="18" charset="0"/>
                      </a:rPr>
                      <m:t>𝐴</m:t>
                    </m:r>
                    <m:sSup>
                      <m:sSupPr>
                        <m:ctrlPr>
                          <a:rPr lang="en-AU" sz="2600" i="1">
                            <a:latin typeface="Cambria Math" panose="02040503050406030204" pitchFamily="18" charset="0"/>
                          </a:rPr>
                        </m:ctrlPr>
                      </m:sSupPr>
                      <m:e>
                        <m:d>
                          <m:dPr>
                            <m:ctrlPr>
                              <a:rPr lang="en-AU" sz="2600" i="1">
                                <a:latin typeface="Cambria Math" panose="02040503050406030204" pitchFamily="18" charset="0"/>
                              </a:rPr>
                            </m:ctrlPr>
                          </m:dPr>
                          <m:e>
                            <m:r>
                              <a:rPr lang="en-AU" sz="2600">
                                <a:latin typeface="Cambria Math" panose="02040503050406030204" pitchFamily="18" charset="0"/>
                              </a:rPr>
                              <m:t>𝑤</m:t>
                            </m:r>
                            <m:r>
                              <a:rPr lang="en-AU" sz="2600">
                                <a:latin typeface="Cambria Math" panose="02040503050406030204" pitchFamily="18" charset="0"/>
                              </a:rPr>
                              <m:t>+</m:t>
                            </m:r>
                            <m:r>
                              <a:rPr lang="en-AU" sz="2600">
                                <a:latin typeface="Cambria Math" panose="02040503050406030204" pitchFamily="18" charset="0"/>
                              </a:rPr>
                              <m:t>𝑚</m:t>
                            </m:r>
                          </m:e>
                        </m:d>
                      </m:e>
                      <m:sup>
                        <m:f>
                          <m:fPr>
                            <m:ctrlPr>
                              <a:rPr lang="en-AU" sz="2600" i="1">
                                <a:latin typeface="Cambria Math" panose="02040503050406030204" pitchFamily="18" charset="0"/>
                              </a:rPr>
                            </m:ctrlPr>
                          </m:fPr>
                          <m:num>
                            <m:r>
                              <a:rPr lang="en-AU" sz="2600">
                                <a:latin typeface="Cambria Math" panose="02040503050406030204" pitchFamily="18" charset="0"/>
                              </a:rPr>
                              <m:t>𝜌</m:t>
                            </m:r>
                          </m:num>
                          <m:den>
                            <m:r>
                              <a:rPr lang="en-AU" sz="2600">
                                <a:latin typeface="Cambria Math" panose="02040503050406030204" pitchFamily="18" charset="0"/>
                              </a:rPr>
                              <m:t>𝜌</m:t>
                            </m:r>
                            <m:r>
                              <a:rPr lang="en-AU" sz="2600">
                                <a:latin typeface="Cambria Math" panose="02040503050406030204" pitchFamily="18" charset="0"/>
                              </a:rPr>
                              <m:t>−1</m:t>
                            </m:r>
                          </m:den>
                        </m:f>
                      </m:sup>
                    </m:sSup>
                    <m:sSup>
                      <m:sSupPr>
                        <m:ctrlPr>
                          <a:rPr lang="en-AU" sz="2600" i="1">
                            <a:latin typeface="Cambria Math" panose="02040503050406030204" pitchFamily="18" charset="0"/>
                          </a:rPr>
                        </m:ctrlPr>
                      </m:sSupPr>
                      <m:e>
                        <m:r>
                          <a:rPr lang="en-AU" sz="2600">
                            <a:latin typeface="Cambria Math" panose="02040503050406030204" pitchFamily="18" charset="0"/>
                          </a:rPr>
                          <m:t>𝜓</m:t>
                        </m:r>
                      </m:e>
                      <m:sup>
                        <m:f>
                          <m:fPr>
                            <m:ctrlPr>
                              <a:rPr lang="en-AU" sz="2600" i="1">
                                <a:latin typeface="Cambria Math" panose="02040503050406030204" pitchFamily="18" charset="0"/>
                              </a:rPr>
                            </m:ctrlPr>
                          </m:fPr>
                          <m:num>
                            <m:r>
                              <a:rPr lang="en-AU" sz="2600">
                                <a:latin typeface="Cambria Math" panose="02040503050406030204" pitchFamily="18" charset="0"/>
                              </a:rPr>
                              <m:t>𝜌</m:t>
                            </m:r>
                          </m:num>
                          <m:den>
                            <m:r>
                              <a:rPr lang="en-AU" sz="2600">
                                <a:latin typeface="Cambria Math" panose="02040503050406030204" pitchFamily="18" charset="0"/>
                              </a:rPr>
                              <m:t>1−</m:t>
                            </m:r>
                            <m:r>
                              <a:rPr lang="en-AU" sz="2600">
                                <a:latin typeface="Cambria Math" panose="02040503050406030204" pitchFamily="18" charset="0"/>
                              </a:rPr>
                              <m:t>𝜌</m:t>
                            </m:r>
                          </m:den>
                        </m:f>
                      </m:sup>
                    </m:sSup>
                    <m:sSubSup>
                      <m:sSubSupPr>
                        <m:ctrlPr>
                          <a:rPr lang="en-AU" sz="2600" i="1">
                            <a:latin typeface="Cambria Math" panose="02040503050406030204" pitchFamily="18" charset="0"/>
                          </a:rPr>
                        </m:ctrlPr>
                      </m:sSubSupPr>
                      <m:e>
                        <m:r>
                          <a:rPr lang="en-AU" sz="2600">
                            <a:latin typeface="Cambria Math" panose="02040503050406030204" pitchFamily="18" charset="0"/>
                          </a:rPr>
                          <m:t>𝜆</m:t>
                        </m:r>
                      </m:e>
                      <m:sub>
                        <m:r>
                          <a:rPr lang="en-AU" sz="2600">
                            <a:latin typeface="Cambria Math" panose="02040503050406030204" pitchFamily="18" charset="0"/>
                          </a:rPr>
                          <m:t>1</m:t>
                        </m:r>
                      </m:sub>
                      <m:sup>
                        <m:f>
                          <m:fPr>
                            <m:ctrlPr>
                              <a:rPr lang="en-AU" sz="2600" i="1">
                                <a:latin typeface="Cambria Math" panose="02040503050406030204" pitchFamily="18" charset="0"/>
                              </a:rPr>
                            </m:ctrlPr>
                          </m:fPr>
                          <m:num>
                            <m:r>
                              <a:rPr lang="en-AU" sz="2600">
                                <a:latin typeface="Cambria Math" panose="02040503050406030204" pitchFamily="18" charset="0"/>
                              </a:rPr>
                              <m:t>𝜌</m:t>
                            </m:r>
                          </m:num>
                          <m:den>
                            <m:r>
                              <a:rPr lang="en-AU" sz="2600">
                                <a:latin typeface="Cambria Math" panose="02040503050406030204" pitchFamily="18" charset="0"/>
                              </a:rPr>
                              <m:t>1−</m:t>
                            </m:r>
                            <m:r>
                              <a:rPr lang="en-AU" sz="2600">
                                <a:latin typeface="Cambria Math" panose="02040503050406030204" pitchFamily="18" charset="0"/>
                              </a:rPr>
                              <m:t>𝜌</m:t>
                            </m:r>
                          </m:den>
                        </m:f>
                      </m:sup>
                    </m:sSubSup>
                    <m:r>
                      <a:rPr lang="en-AU" sz="2600">
                        <a:latin typeface="Cambria Math" panose="02040503050406030204" pitchFamily="18" charset="0"/>
                      </a:rPr>
                      <m:t>−</m:t>
                    </m:r>
                    <m:r>
                      <a:rPr lang="en-AU" sz="2600">
                        <a:latin typeface="Cambria Math" panose="02040503050406030204" pitchFamily="18" charset="0"/>
                      </a:rPr>
                      <m:t>𝑓</m:t>
                    </m:r>
                  </m:oMath>
                </a14:m>
                <a:endParaRPr lang="en-AU" sz="2600" dirty="0"/>
              </a:p>
              <a:p>
                <a14:m>
                  <m:oMath xmlns:m="http://schemas.openxmlformats.org/officeDocument/2006/math">
                    <m:r>
                      <a:rPr lang="en-AU" sz="2600">
                        <a:latin typeface="Cambria Math" panose="02040503050406030204" pitchFamily="18" charset="0"/>
                      </a:rPr>
                      <m:t>𝜋</m:t>
                    </m:r>
                    <m:d>
                      <m:dPr>
                        <m:ctrlPr>
                          <a:rPr lang="en-AU" sz="2600" i="1">
                            <a:latin typeface="Cambria Math" panose="02040503050406030204" pitchFamily="18" charset="0"/>
                          </a:rPr>
                        </m:ctrlPr>
                      </m:dPr>
                      <m:e>
                        <m:sSub>
                          <m:sSubPr>
                            <m:ctrlPr>
                              <a:rPr lang="en-AU" sz="2600" i="1">
                                <a:latin typeface="Cambria Math" panose="02040503050406030204" pitchFamily="18" charset="0"/>
                              </a:rPr>
                            </m:ctrlPr>
                          </m:sSubPr>
                          <m:e>
                            <m:r>
                              <a:rPr lang="en-AU" sz="2600">
                                <a:latin typeface="Cambria Math" panose="02040503050406030204" pitchFamily="18" charset="0"/>
                              </a:rPr>
                              <m:t>𝜒</m:t>
                            </m:r>
                          </m:e>
                          <m:sub>
                            <m:r>
                              <a:rPr lang="en-AU" sz="2600">
                                <a:latin typeface="Cambria Math" panose="02040503050406030204" pitchFamily="18" charset="0"/>
                              </a:rPr>
                              <m:t>1</m:t>
                            </m:r>
                          </m:sub>
                        </m:sSub>
                        <m:r>
                          <a:rPr lang="en-AU" sz="2600">
                            <a:latin typeface="Cambria Math" panose="02040503050406030204" pitchFamily="18" charset="0"/>
                          </a:rPr>
                          <m:t>=1</m:t>
                        </m:r>
                      </m:e>
                    </m:d>
                    <m:r>
                      <a:rPr lang="en-AU" sz="2600">
                        <a:latin typeface="Cambria Math" panose="02040503050406030204" pitchFamily="18" charset="0"/>
                      </a:rPr>
                      <m:t>=</m:t>
                    </m:r>
                    <m:d>
                      <m:dPr>
                        <m:ctrlPr>
                          <a:rPr lang="en-AU" sz="2600" i="1">
                            <a:latin typeface="Cambria Math" panose="02040503050406030204" pitchFamily="18" charset="0"/>
                          </a:rPr>
                        </m:ctrlPr>
                      </m:dPr>
                      <m:e>
                        <m:r>
                          <a:rPr lang="en-AU" sz="2600">
                            <a:latin typeface="Cambria Math" panose="02040503050406030204" pitchFamily="18" charset="0"/>
                          </a:rPr>
                          <m:t>1−</m:t>
                        </m:r>
                        <m:r>
                          <a:rPr lang="en-AU" sz="2600">
                            <a:latin typeface="Cambria Math" panose="02040503050406030204" pitchFamily="18" charset="0"/>
                          </a:rPr>
                          <m:t>𝜌</m:t>
                        </m:r>
                      </m:e>
                    </m:d>
                    <m:sSup>
                      <m:sSupPr>
                        <m:ctrlPr>
                          <a:rPr lang="en-AU" sz="2600" i="1">
                            <a:latin typeface="Cambria Math" panose="02040503050406030204" pitchFamily="18" charset="0"/>
                          </a:rPr>
                        </m:ctrlPr>
                      </m:sSupPr>
                      <m:e>
                        <m:r>
                          <a:rPr lang="en-AU" sz="2600">
                            <a:latin typeface="Cambria Math" panose="02040503050406030204" pitchFamily="18" charset="0"/>
                          </a:rPr>
                          <m:t>𝜌</m:t>
                        </m:r>
                      </m:e>
                      <m:sup>
                        <m:f>
                          <m:fPr>
                            <m:ctrlPr>
                              <a:rPr lang="en-AU" sz="2600" i="1">
                                <a:latin typeface="Cambria Math" panose="02040503050406030204" pitchFamily="18" charset="0"/>
                              </a:rPr>
                            </m:ctrlPr>
                          </m:fPr>
                          <m:num>
                            <m:r>
                              <a:rPr lang="en-AU" sz="2600">
                                <a:latin typeface="Cambria Math" panose="02040503050406030204" pitchFamily="18" charset="0"/>
                              </a:rPr>
                              <m:t>𝜌</m:t>
                            </m:r>
                          </m:num>
                          <m:den>
                            <m:r>
                              <a:rPr lang="en-AU" sz="2600">
                                <a:latin typeface="Cambria Math" panose="02040503050406030204" pitchFamily="18" charset="0"/>
                              </a:rPr>
                              <m:t>1−</m:t>
                            </m:r>
                            <m:r>
                              <a:rPr lang="en-AU" sz="2600">
                                <a:latin typeface="Cambria Math" panose="02040503050406030204" pitchFamily="18" charset="0"/>
                              </a:rPr>
                              <m:t>𝜌</m:t>
                            </m:r>
                          </m:den>
                        </m:f>
                      </m:sup>
                    </m:sSup>
                    <m:r>
                      <a:rPr lang="en-AU" sz="2600">
                        <a:latin typeface="Cambria Math" panose="02040503050406030204" pitchFamily="18" charset="0"/>
                      </a:rPr>
                      <m:t>𝐴</m:t>
                    </m:r>
                    <m:sSup>
                      <m:sSupPr>
                        <m:ctrlPr>
                          <a:rPr lang="en-AU" sz="2600" i="1">
                            <a:latin typeface="Cambria Math" panose="02040503050406030204" pitchFamily="18" charset="0"/>
                          </a:rPr>
                        </m:ctrlPr>
                      </m:sSupPr>
                      <m:e>
                        <m:d>
                          <m:dPr>
                            <m:ctrlPr>
                              <a:rPr lang="en-AU" sz="2600" i="1">
                                <a:latin typeface="Cambria Math" panose="02040503050406030204" pitchFamily="18" charset="0"/>
                              </a:rPr>
                            </m:ctrlPr>
                          </m:dPr>
                          <m:e>
                            <m:r>
                              <a:rPr lang="en-AU" sz="2600">
                                <a:latin typeface="Cambria Math" panose="02040503050406030204" pitchFamily="18" charset="0"/>
                              </a:rPr>
                              <m:t>𝑤</m:t>
                            </m:r>
                            <m:r>
                              <a:rPr lang="en-AU" sz="2600">
                                <a:latin typeface="Cambria Math" panose="02040503050406030204" pitchFamily="18" charset="0"/>
                              </a:rPr>
                              <m:t>+</m:t>
                            </m:r>
                            <m:r>
                              <a:rPr lang="en-AU" sz="2600">
                                <a:latin typeface="Cambria Math" panose="02040503050406030204" pitchFamily="18" charset="0"/>
                              </a:rPr>
                              <m:t>𝑚</m:t>
                            </m:r>
                          </m:e>
                        </m:d>
                      </m:e>
                      <m:sup>
                        <m:f>
                          <m:fPr>
                            <m:ctrlPr>
                              <a:rPr lang="en-AU" sz="2600" i="1">
                                <a:latin typeface="Cambria Math" panose="02040503050406030204" pitchFamily="18" charset="0"/>
                              </a:rPr>
                            </m:ctrlPr>
                          </m:fPr>
                          <m:num>
                            <m:r>
                              <a:rPr lang="en-AU" sz="2600">
                                <a:latin typeface="Cambria Math" panose="02040503050406030204" pitchFamily="18" charset="0"/>
                              </a:rPr>
                              <m:t>𝜌</m:t>
                            </m:r>
                          </m:num>
                          <m:den>
                            <m:r>
                              <a:rPr lang="en-AU" sz="2600">
                                <a:latin typeface="Cambria Math" panose="02040503050406030204" pitchFamily="18" charset="0"/>
                              </a:rPr>
                              <m:t>𝜌</m:t>
                            </m:r>
                            <m:r>
                              <a:rPr lang="en-AU" sz="2600">
                                <a:latin typeface="Cambria Math" panose="02040503050406030204" pitchFamily="18" charset="0"/>
                              </a:rPr>
                              <m:t>−1</m:t>
                            </m:r>
                          </m:den>
                        </m:f>
                      </m:sup>
                    </m:sSup>
                    <m:sSup>
                      <m:sSupPr>
                        <m:ctrlPr>
                          <a:rPr lang="en-AU" sz="2600" i="1">
                            <a:latin typeface="Cambria Math" panose="02040503050406030204" pitchFamily="18" charset="0"/>
                          </a:rPr>
                        </m:ctrlPr>
                      </m:sSupPr>
                      <m:e>
                        <m:r>
                          <a:rPr lang="en-AU" sz="2600">
                            <a:latin typeface="Cambria Math" panose="02040503050406030204" pitchFamily="18" charset="0"/>
                          </a:rPr>
                          <m:t>𝜓</m:t>
                        </m:r>
                      </m:e>
                      <m:sup>
                        <m:f>
                          <m:fPr>
                            <m:ctrlPr>
                              <a:rPr lang="en-AU" sz="2600" i="1">
                                <a:latin typeface="Cambria Math" panose="02040503050406030204" pitchFamily="18" charset="0"/>
                              </a:rPr>
                            </m:ctrlPr>
                          </m:fPr>
                          <m:num>
                            <m:r>
                              <a:rPr lang="en-AU" sz="2600">
                                <a:latin typeface="Cambria Math" panose="02040503050406030204" pitchFamily="18" charset="0"/>
                              </a:rPr>
                              <m:t>𝜌</m:t>
                            </m:r>
                          </m:num>
                          <m:den>
                            <m:r>
                              <a:rPr lang="en-AU" sz="2600">
                                <a:latin typeface="Cambria Math" panose="02040503050406030204" pitchFamily="18" charset="0"/>
                              </a:rPr>
                              <m:t>1−</m:t>
                            </m:r>
                            <m:r>
                              <a:rPr lang="en-AU" sz="2600">
                                <a:latin typeface="Cambria Math" panose="02040503050406030204" pitchFamily="18" charset="0"/>
                              </a:rPr>
                              <m:t>𝜌</m:t>
                            </m:r>
                          </m:den>
                        </m:f>
                      </m:sup>
                    </m:sSup>
                    <m:d>
                      <m:dPr>
                        <m:ctrlPr>
                          <a:rPr lang="en-AU" sz="2600" i="1">
                            <a:latin typeface="Cambria Math" panose="02040503050406030204" pitchFamily="18" charset="0"/>
                          </a:rPr>
                        </m:ctrlPr>
                      </m:dPr>
                      <m:e>
                        <m:r>
                          <a:rPr lang="en-AU" sz="2600">
                            <a:latin typeface="Cambria Math" panose="02040503050406030204" pitchFamily="18" charset="0"/>
                          </a:rPr>
                          <m:t>1+</m:t>
                        </m:r>
                        <m:sSubSup>
                          <m:sSubSupPr>
                            <m:ctrlPr>
                              <a:rPr lang="en-AU" sz="2600" i="1">
                                <a:latin typeface="Cambria Math" panose="02040503050406030204" pitchFamily="18" charset="0"/>
                              </a:rPr>
                            </m:ctrlPr>
                          </m:sSubSupPr>
                          <m:e>
                            <m:r>
                              <a:rPr lang="en-AU" sz="2600">
                                <a:latin typeface="Cambria Math" panose="02040503050406030204" pitchFamily="18" charset="0"/>
                              </a:rPr>
                              <m:t>𝜆</m:t>
                            </m:r>
                          </m:e>
                          <m:sub>
                            <m:r>
                              <a:rPr lang="en-AU" sz="2600">
                                <a:latin typeface="Cambria Math" panose="02040503050406030204" pitchFamily="18" charset="0"/>
                              </a:rPr>
                              <m:t>2</m:t>
                            </m:r>
                          </m:sub>
                          <m:sup>
                            <m:f>
                              <m:fPr>
                                <m:ctrlPr>
                                  <a:rPr lang="en-AU" sz="2600" i="1">
                                    <a:latin typeface="Cambria Math" panose="02040503050406030204" pitchFamily="18" charset="0"/>
                                  </a:rPr>
                                </m:ctrlPr>
                              </m:fPr>
                              <m:num>
                                <m:r>
                                  <a:rPr lang="en-AU" sz="2600">
                                    <a:latin typeface="Cambria Math" panose="02040503050406030204" pitchFamily="18" charset="0"/>
                                  </a:rPr>
                                  <m:t>𝜌</m:t>
                                </m:r>
                              </m:num>
                              <m:den>
                                <m:r>
                                  <a:rPr lang="en-AU" sz="2600">
                                    <a:latin typeface="Cambria Math" panose="02040503050406030204" pitchFamily="18" charset="0"/>
                                  </a:rPr>
                                  <m:t>1−</m:t>
                                </m:r>
                                <m:r>
                                  <a:rPr lang="en-AU" sz="2600">
                                    <a:latin typeface="Cambria Math" panose="02040503050406030204" pitchFamily="18" charset="0"/>
                                  </a:rPr>
                                  <m:t>𝜌</m:t>
                                </m:r>
                              </m:den>
                            </m:f>
                          </m:sup>
                        </m:sSubSup>
                        <m:sSup>
                          <m:sSupPr>
                            <m:ctrlPr>
                              <a:rPr lang="en-AU" sz="2600" i="1">
                                <a:latin typeface="Cambria Math" panose="02040503050406030204" pitchFamily="18" charset="0"/>
                              </a:rPr>
                            </m:ctrlPr>
                          </m:sSupPr>
                          <m:e>
                            <m:r>
                              <a:rPr lang="en-AU" sz="2600">
                                <a:latin typeface="Cambria Math" panose="02040503050406030204" pitchFamily="18" charset="0"/>
                              </a:rPr>
                              <m:t>𝜁</m:t>
                            </m:r>
                          </m:e>
                          <m:sup>
                            <m:f>
                              <m:fPr>
                                <m:ctrlPr>
                                  <a:rPr lang="en-AU" sz="2600" i="1">
                                    <a:latin typeface="Cambria Math" panose="02040503050406030204" pitchFamily="18" charset="0"/>
                                  </a:rPr>
                                </m:ctrlPr>
                              </m:fPr>
                              <m:num>
                                <m:r>
                                  <a:rPr lang="en-AU" sz="2600">
                                    <a:latin typeface="Cambria Math" panose="02040503050406030204" pitchFamily="18" charset="0"/>
                                  </a:rPr>
                                  <m:t>𝜌</m:t>
                                </m:r>
                              </m:num>
                              <m:den>
                                <m:r>
                                  <a:rPr lang="en-AU" sz="2600">
                                    <a:latin typeface="Cambria Math" panose="02040503050406030204" pitchFamily="18" charset="0"/>
                                  </a:rPr>
                                  <m:t>1−</m:t>
                                </m:r>
                                <m:r>
                                  <a:rPr lang="en-AU" sz="2600">
                                    <a:latin typeface="Cambria Math" panose="02040503050406030204" pitchFamily="18" charset="0"/>
                                  </a:rPr>
                                  <m:t>𝜌</m:t>
                                </m:r>
                              </m:den>
                            </m:f>
                          </m:sup>
                        </m:sSup>
                      </m:e>
                    </m:d>
                    <m:sSubSup>
                      <m:sSubSupPr>
                        <m:ctrlPr>
                          <a:rPr lang="en-AU" sz="2600" i="1">
                            <a:latin typeface="Cambria Math" panose="02040503050406030204" pitchFamily="18" charset="0"/>
                          </a:rPr>
                        </m:ctrlPr>
                      </m:sSubSupPr>
                      <m:e>
                        <m:r>
                          <a:rPr lang="en-AU" sz="2600">
                            <a:latin typeface="Cambria Math" panose="02040503050406030204" pitchFamily="18" charset="0"/>
                          </a:rPr>
                          <m:t>𝜆</m:t>
                        </m:r>
                      </m:e>
                      <m:sub>
                        <m:r>
                          <a:rPr lang="en-AU" sz="2600">
                            <a:latin typeface="Cambria Math" panose="02040503050406030204" pitchFamily="18" charset="0"/>
                          </a:rPr>
                          <m:t>1</m:t>
                        </m:r>
                      </m:sub>
                      <m:sup>
                        <m:f>
                          <m:fPr>
                            <m:ctrlPr>
                              <a:rPr lang="en-AU" sz="2600" i="1">
                                <a:latin typeface="Cambria Math" panose="02040503050406030204" pitchFamily="18" charset="0"/>
                              </a:rPr>
                            </m:ctrlPr>
                          </m:fPr>
                          <m:num>
                            <m:r>
                              <a:rPr lang="en-AU" sz="2600">
                                <a:latin typeface="Cambria Math" panose="02040503050406030204" pitchFamily="18" charset="0"/>
                              </a:rPr>
                              <m:t>𝜌</m:t>
                            </m:r>
                          </m:num>
                          <m:den>
                            <m:r>
                              <a:rPr lang="en-AU" sz="2600">
                                <a:latin typeface="Cambria Math" panose="02040503050406030204" pitchFamily="18" charset="0"/>
                              </a:rPr>
                              <m:t>1−</m:t>
                            </m:r>
                            <m:r>
                              <a:rPr lang="en-AU" sz="2600">
                                <a:latin typeface="Cambria Math" panose="02040503050406030204" pitchFamily="18" charset="0"/>
                              </a:rPr>
                              <m:t>𝜌</m:t>
                            </m:r>
                          </m:den>
                        </m:f>
                      </m:sup>
                    </m:sSubSup>
                    <m:r>
                      <a:rPr lang="en-AU" sz="2600">
                        <a:latin typeface="Cambria Math" panose="02040503050406030204" pitchFamily="18" charset="0"/>
                      </a:rPr>
                      <m:t>−</m:t>
                    </m:r>
                    <m:r>
                      <a:rPr lang="en-AU" sz="2600">
                        <a:latin typeface="Cambria Math" panose="02040503050406030204" pitchFamily="18" charset="0"/>
                      </a:rPr>
                      <m:t>𝑓</m:t>
                    </m:r>
                    <m:r>
                      <a:rPr lang="en-AU" sz="2600">
                        <a:latin typeface="Cambria Math" panose="02040503050406030204" pitchFamily="18" charset="0"/>
                      </a:rPr>
                      <m:t>−</m:t>
                    </m:r>
                    <m:r>
                      <a:rPr lang="en-AU" i="1">
                        <a:latin typeface="Cambria Math" panose="02040503050406030204" pitchFamily="18" charset="0"/>
                      </a:rPr>
                      <m:t>−</m:t>
                    </m:r>
                    <m:d>
                      <m:dPr>
                        <m:begChr m:val="["/>
                        <m:endChr m:val="]"/>
                        <m:ctrlPr>
                          <a:rPr lang="en-AU" i="1">
                            <a:latin typeface="Cambria Math" panose="02040503050406030204" pitchFamily="18" charset="0"/>
                          </a:rPr>
                        </m:ctrlPr>
                      </m:dPr>
                      <m:e>
                        <m:sSub>
                          <m:sSubPr>
                            <m:ctrlPr>
                              <a:rPr lang="en-AU" i="1">
                                <a:latin typeface="Cambria Math" panose="02040503050406030204" pitchFamily="18" charset="0"/>
                              </a:rPr>
                            </m:ctrlPr>
                          </m:sSubPr>
                          <m:e>
                            <m:r>
                              <a:rPr lang="en-AU" i="1">
                                <a:latin typeface="Cambria Math" panose="02040503050406030204" pitchFamily="18" charset="0"/>
                              </a:rPr>
                              <m:t>𝑓</m:t>
                            </m:r>
                          </m:e>
                          <m:sub>
                            <m:r>
                              <a:rPr lang="en-AU" i="1">
                                <a:latin typeface="Cambria Math" panose="02040503050406030204" pitchFamily="18" charset="0"/>
                              </a:rPr>
                              <m:t>𝑛</m:t>
                            </m:r>
                          </m:sub>
                        </m:sSub>
                        <m:r>
                          <a:rPr lang="en-AU" i="1">
                            <a:latin typeface="Cambria Math" panose="02040503050406030204" pitchFamily="18" charset="0"/>
                          </a:rPr>
                          <m:t>+</m:t>
                        </m:r>
                        <m:sSubSup>
                          <m:sSubSupPr>
                            <m:ctrlPr>
                              <a:rPr lang="en-AU" i="1">
                                <a:latin typeface="Cambria Math" panose="02040503050406030204" pitchFamily="18" charset="0"/>
                              </a:rPr>
                            </m:ctrlPr>
                          </m:sSubSupPr>
                          <m:e>
                            <m:r>
                              <a:rPr lang="en-AU" i="1">
                                <a:latin typeface="Cambria Math" panose="02040503050406030204" pitchFamily="18" charset="0"/>
                              </a:rPr>
                              <m:t>𝑓</m:t>
                            </m:r>
                          </m:e>
                          <m:sub>
                            <m:r>
                              <a:rPr lang="en-AU" i="1">
                                <a:latin typeface="Cambria Math" panose="02040503050406030204" pitchFamily="18" charset="0"/>
                              </a:rPr>
                              <m:t>𝑛</m:t>
                            </m:r>
                          </m:sub>
                          <m:sup>
                            <m:r>
                              <a:rPr lang="en-AU" i="1">
                                <a:latin typeface="Cambria Math" panose="02040503050406030204" pitchFamily="18" charset="0"/>
                              </a:rPr>
                              <m:t>𝑒</m:t>
                            </m:r>
                          </m:sup>
                        </m:sSubSup>
                        <m:d>
                          <m:dPr>
                            <m:ctrlPr>
                              <a:rPr lang="en-AU" i="1">
                                <a:latin typeface="Cambria Math" panose="02040503050406030204" pitchFamily="18" charset="0"/>
                              </a:rPr>
                            </m:ctrlPr>
                          </m:dPr>
                          <m:e>
                            <m:r>
                              <a:rPr lang="en-AU" i="1">
                                <a:latin typeface="Cambria Math" panose="02040503050406030204" pitchFamily="18" charset="0"/>
                              </a:rPr>
                              <m:t>1−</m:t>
                            </m:r>
                            <m:sSub>
                              <m:sSubPr>
                                <m:ctrlPr>
                                  <a:rPr lang="en-AU" i="1">
                                    <a:latin typeface="Cambria Math" panose="02040503050406030204" pitchFamily="18" charset="0"/>
                                  </a:rPr>
                                </m:ctrlPr>
                              </m:sSubPr>
                              <m:e>
                                <m:r>
                                  <a:rPr lang="en-AU" i="1">
                                    <a:latin typeface="Cambria Math" panose="02040503050406030204" pitchFamily="18" charset="0"/>
                                  </a:rPr>
                                  <m:t>𝜒</m:t>
                                </m:r>
                              </m:e>
                              <m:sub>
                                <m:r>
                                  <a:rPr lang="en-AU" i="1">
                                    <a:latin typeface="Cambria Math" panose="02040503050406030204" pitchFamily="18" charset="0"/>
                                  </a:rPr>
                                  <m:t>1,−1</m:t>
                                </m:r>
                              </m:sub>
                            </m:sSub>
                          </m:e>
                        </m:d>
                      </m:e>
                    </m:d>
                  </m:oMath>
                </a14:m>
                <a:endParaRPr lang="en-AU" sz="2600" dirty="0"/>
              </a:p>
              <a:p>
                <a14:m>
                  <m:oMath xmlns:m="http://schemas.openxmlformats.org/officeDocument/2006/math">
                    <m:acc>
                      <m:accPr>
                        <m:chr m:val="̃"/>
                        <m:ctrlPr>
                          <a:rPr lang="en-AU" sz="2600" i="1">
                            <a:latin typeface="Cambria Math" panose="02040503050406030204" pitchFamily="18" charset="0"/>
                          </a:rPr>
                        </m:ctrlPr>
                      </m:accPr>
                      <m:e>
                        <m:r>
                          <a:rPr lang="en-AU" sz="2600">
                            <a:latin typeface="Cambria Math" panose="02040503050406030204" pitchFamily="18" charset="0"/>
                          </a:rPr>
                          <m:t>𝜋</m:t>
                        </m:r>
                      </m:e>
                    </m:acc>
                    <m:d>
                      <m:dPr>
                        <m:ctrlPr>
                          <a:rPr lang="en-AU" sz="2600" i="1">
                            <a:latin typeface="Cambria Math" panose="02040503050406030204" pitchFamily="18" charset="0"/>
                          </a:rPr>
                        </m:ctrlPr>
                      </m:dPr>
                      <m:e>
                        <m:sSub>
                          <m:sSubPr>
                            <m:ctrlPr>
                              <a:rPr lang="en-AU" sz="2600" i="1">
                                <a:latin typeface="Cambria Math" panose="02040503050406030204" pitchFamily="18" charset="0"/>
                              </a:rPr>
                            </m:ctrlPr>
                          </m:sSubPr>
                          <m:e>
                            <m:r>
                              <a:rPr lang="en-AU" sz="2600">
                                <a:latin typeface="Cambria Math" panose="02040503050406030204" pitchFamily="18" charset="0"/>
                              </a:rPr>
                              <m:t>𝜒</m:t>
                            </m:r>
                          </m:e>
                          <m:sub>
                            <m:r>
                              <a:rPr lang="en-AU" sz="2600">
                                <a:latin typeface="Cambria Math" panose="02040503050406030204" pitchFamily="18" charset="0"/>
                              </a:rPr>
                              <m:t>1</m:t>
                            </m:r>
                          </m:sub>
                        </m:sSub>
                        <m:r>
                          <a:rPr lang="en-AU" sz="2600">
                            <a:latin typeface="Cambria Math" panose="02040503050406030204" pitchFamily="18" charset="0"/>
                          </a:rPr>
                          <m:t>=0</m:t>
                        </m:r>
                      </m:e>
                    </m:d>
                    <m:r>
                      <a:rPr lang="en-AU" sz="2600">
                        <a:latin typeface="Cambria Math" panose="02040503050406030204" pitchFamily="18" charset="0"/>
                      </a:rPr>
                      <m:t>=</m:t>
                    </m:r>
                    <m:d>
                      <m:dPr>
                        <m:ctrlPr>
                          <a:rPr lang="en-AU" sz="2600" i="1">
                            <a:latin typeface="Cambria Math" panose="02040503050406030204" pitchFamily="18" charset="0"/>
                          </a:rPr>
                        </m:ctrlPr>
                      </m:dPr>
                      <m:e>
                        <m:r>
                          <a:rPr lang="en-AU" sz="2600">
                            <a:latin typeface="Cambria Math" panose="02040503050406030204" pitchFamily="18" charset="0"/>
                          </a:rPr>
                          <m:t>1−</m:t>
                        </m:r>
                        <m:acc>
                          <m:accPr>
                            <m:chr m:val="̃"/>
                            <m:ctrlPr>
                              <a:rPr lang="en-AU" sz="2600" i="1">
                                <a:latin typeface="Cambria Math" panose="02040503050406030204" pitchFamily="18" charset="0"/>
                              </a:rPr>
                            </m:ctrlPr>
                          </m:accPr>
                          <m:e>
                            <m:r>
                              <a:rPr lang="en-AU" sz="2600">
                                <a:latin typeface="Cambria Math" panose="02040503050406030204" pitchFamily="18" charset="0"/>
                              </a:rPr>
                              <m:t>𝜌</m:t>
                            </m:r>
                          </m:e>
                        </m:acc>
                      </m:e>
                    </m:d>
                    <m:sSup>
                      <m:sSupPr>
                        <m:ctrlPr>
                          <a:rPr lang="en-AU" sz="2600" i="1">
                            <a:latin typeface="Cambria Math" panose="02040503050406030204" pitchFamily="18" charset="0"/>
                          </a:rPr>
                        </m:ctrlPr>
                      </m:sSupPr>
                      <m:e>
                        <m:acc>
                          <m:accPr>
                            <m:chr m:val="̃"/>
                            <m:ctrlPr>
                              <a:rPr lang="en-AU" sz="2600" i="1">
                                <a:latin typeface="Cambria Math" panose="02040503050406030204" pitchFamily="18" charset="0"/>
                              </a:rPr>
                            </m:ctrlPr>
                          </m:accPr>
                          <m:e>
                            <m:r>
                              <a:rPr lang="en-AU" sz="2600">
                                <a:latin typeface="Cambria Math" panose="02040503050406030204" pitchFamily="18" charset="0"/>
                              </a:rPr>
                              <m:t>𝜌</m:t>
                            </m:r>
                          </m:e>
                        </m:acc>
                      </m:e>
                      <m:sup>
                        <m:f>
                          <m:fPr>
                            <m:ctrlPr>
                              <a:rPr lang="en-AU" sz="2600" i="1">
                                <a:latin typeface="Cambria Math" panose="02040503050406030204" pitchFamily="18" charset="0"/>
                              </a:rPr>
                            </m:ctrlPr>
                          </m:fPr>
                          <m:num>
                            <m:acc>
                              <m:accPr>
                                <m:chr m:val="̃"/>
                                <m:ctrlPr>
                                  <a:rPr lang="en-AU" sz="2600" i="1">
                                    <a:latin typeface="Cambria Math" panose="02040503050406030204" pitchFamily="18" charset="0"/>
                                  </a:rPr>
                                </m:ctrlPr>
                              </m:accPr>
                              <m:e>
                                <m:r>
                                  <a:rPr lang="en-AU" sz="2600">
                                    <a:latin typeface="Cambria Math" panose="02040503050406030204" pitchFamily="18" charset="0"/>
                                  </a:rPr>
                                  <m:t>𝜌</m:t>
                                </m:r>
                              </m:e>
                            </m:acc>
                          </m:num>
                          <m:den>
                            <m:r>
                              <a:rPr lang="en-AU" sz="2600">
                                <a:latin typeface="Cambria Math" panose="02040503050406030204" pitchFamily="18" charset="0"/>
                              </a:rPr>
                              <m:t>1−</m:t>
                            </m:r>
                            <m:acc>
                              <m:accPr>
                                <m:chr m:val="̃"/>
                                <m:ctrlPr>
                                  <a:rPr lang="en-AU" sz="2600" i="1">
                                    <a:latin typeface="Cambria Math" panose="02040503050406030204" pitchFamily="18" charset="0"/>
                                  </a:rPr>
                                </m:ctrlPr>
                              </m:accPr>
                              <m:e>
                                <m:r>
                                  <a:rPr lang="en-AU" sz="2600">
                                    <a:latin typeface="Cambria Math" panose="02040503050406030204" pitchFamily="18" charset="0"/>
                                  </a:rPr>
                                  <m:t>𝜌</m:t>
                                </m:r>
                              </m:e>
                            </m:acc>
                          </m:den>
                        </m:f>
                      </m:sup>
                    </m:sSup>
                    <m:sSup>
                      <m:sSupPr>
                        <m:ctrlPr>
                          <a:rPr lang="en-AU" sz="2600" i="1">
                            <a:latin typeface="Cambria Math" panose="02040503050406030204" pitchFamily="18" charset="0"/>
                          </a:rPr>
                        </m:ctrlPr>
                      </m:sSupPr>
                      <m:e>
                        <m:r>
                          <a:rPr lang="en-AU" sz="2600">
                            <a:latin typeface="Cambria Math" panose="02040503050406030204" pitchFamily="18" charset="0"/>
                          </a:rPr>
                          <m:t>𝜏</m:t>
                        </m:r>
                      </m:e>
                      <m:sup>
                        <m:f>
                          <m:fPr>
                            <m:ctrlPr>
                              <a:rPr lang="en-AU" sz="2600" i="1">
                                <a:latin typeface="Cambria Math" panose="02040503050406030204" pitchFamily="18" charset="0"/>
                              </a:rPr>
                            </m:ctrlPr>
                          </m:fPr>
                          <m:num>
                            <m:acc>
                              <m:accPr>
                                <m:chr m:val="̃"/>
                                <m:ctrlPr>
                                  <a:rPr lang="en-AU" sz="2600" i="1">
                                    <a:latin typeface="Cambria Math" panose="02040503050406030204" pitchFamily="18" charset="0"/>
                                  </a:rPr>
                                </m:ctrlPr>
                              </m:accPr>
                              <m:e>
                                <m:r>
                                  <a:rPr lang="en-AU" sz="2600">
                                    <a:latin typeface="Cambria Math" panose="02040503050406030204" pitchFamily="18" charset="0"/>
                                  </a:rPr>
                                  <m:t>𝜌</m:t>
                                </m:r>
                              </m:e>
                            </m:acc>
                          </m:num>
                          <m:den>
                            <m:acc>
                              <m:accPr>
                                <m:chr m:val="̃"/>
                                <m:ctrlPr>
                                  <a:rPr lang="en-AU" sz="2600" i="1">
                                    <a:latin typeface="Cambria Math" panose="02040503050406030204" pitchFamily="18" charset="0"/>
                                  </a:rPr>
                                </m:ctrlPr>
                              </m:accPr>
                              <m:e>
                                <m:r>
                                  <a:rPr lang="en-AU" sz="2600">
                                    <a:latin typeface="Cambria Math" panose="02040503050406030204" pitchFamily="18" charset="0"/>
                                  </a:rPr>
                                  <m:t>𝜌</m:t>
                                </m:r>
                              </m:e>
                            </m:acc>
                            <m:r>
                              <a:rPr lang="en-AU" sz="2600">
                                <a:latin typeface="Cambria Math" panose="02040503050406030204" pitchFamily="18" charset="0"/>
                              </a:rPr>
                              <m:t>−1</m:t>
                            </m:r>
                          </m:den>
                        </m:f>
                      </m:sup>
                    </m:sSup>
                    <m:acc>
                      <m:accPr>
                        <m:chr m:val="̃"/>
                        <m:ctrlPr>
                          <a:rPr lang="en-AU" sz="2600" i="1">
                            <a:latin typeface="Cambria Math" panose="02040503050406030204" pitchFamily="18" charset="0"/>
                          </a:rPr>
                        </m:ctrlPr>
                      </m:accPr>
                      <m:e>
                        <m:r>
                          <a:rPr lang="en-AU" sz="2600">
                            <a:latin typeface="Cambria Math" panose="02040503050406030204" pitchFamily="18" charset="0"/>
                          </a:rPr>
                          <m:t>𝐴</m:t>
                        </m:r>
                      </m:e>
                    </m:acc>
                    <m:sSup>
                      <m:sSupPr>
                        <m:ctrlPr>
                          <a:rPr lang="en-AU" sz="2600" i="1">
                            <a:latin typeface="Cambria Math" panose="02040503050406030204" pitchFamily="18" charset="0"/>
                          </a:rPr>
                        </m:ctrlPr>
                      </m:sSupPr>
                      <m:e>
                        <m:d>
                          <m:dPr>
                            <m:ctrlPr>
                              <a:rPr lang="en-AU" sz="2600" i="1">
                                <a:latin typeface="Cambria Math" panose="02040503050406030204" pitchFamily="18" charset="0"/>
                              </a:rPr>
                            </m:ctrlPr>
                          </m:dPr>
                          <m:e>
                            <m:r>
                              <a:rPr lang="en-AU" sz="2600">
                                <a:latin typeface="Cambria Math" panose="02040503050406030204" pitchFamily="18" charset="0"/>
                              </a:rPr>
                              <m:t>𝑤</m:t>
                            </m:r>
                            <m:r>
                              <a:rPr lang="en-AU" sz="2600">
                                <a:latin typeface="Cambria Math" panose="02040503050406030204" pitchFamily="18" charset="0"/>
                              </a:rPr>
                              <m:t>+</m:t>
                            </m:r>
                            <m:r>
                              <a:rPr lang="en-AU" sz="2600">
                                <a:latin typeface="Cambria Math" panose="02040503050406030204" pitchFamily="18" charset="0"/>
                              </a:rPr>
                              <m:t>𝑚</m:t>
                            </m:r>
                          </m:e>
                        </m:d>
                      </m:e>
                      <m:sup>
                        <m:f>
                          <m:fPr>
                            <m:ctrlPr>
                              <a:rPr lang="en-AU" sz="2600" i="1">
                                <a:latin typeface="Cambria Math" panose="02040503050406030204" pitchFamily="18" charset="0"/>
                              </a:rPr>
                            </m:ctrlPr>
                          </m:fPr>
                          <m:num>
                            <m:acc>
                              <m:accPr>
                                <m:chr m:val="̃"/>
                                <m:ctrlPr>
                                  <a:rPr lang="en-AU" sz="2600" i="1">
                                    <a:latin typeface="Cambria Math" panose="02040503050406030204" pitchFamily="18" charset="0"/>
                                  </a:rPr>
                                </m:ctrlPr>
                              </m:accPr>
                              <m:e>
                                <m:r>
                                  <a:rPr lang="en-AU" sz="2600">
                                    <a:latin typeface="Cambria Math" panose="02040503050406030204" pitchFamily="18" charset="0"/>
                                  </a:rPr>
                                  <m:t>𝜌</m:t>
                                </m:r>
                              </m:e>
                            </m:acc>
                          </m:num>
                          <m:den>
                            <m:acc>
                              <m:accPr>
                                <m:chr m:val="̃"/>
                                <m:ctrlPr>
                                  <a:rPr lang="en-AU" sz="2600" i="1">
                                    <a:latin typeface="Cambria Math" panose="02040503050406030204" pitchFamily="18" charset="0"/>
                                  </a:rPr>
                                </m:ctrlPr>
                              </m:accPr>
                              <m:e>
                                <m:r>
                                  <a:rPr lang="en-AU" sz="2600">
                                    <a:latin typeface="Cambria Math" panose="02040503050406030204" pitchFamily="18" charset="0"/>
                                  </a:rPr>
                                  <m:t>𝜌</m:t>
                                </m:r>
                              </m:e>
                            </m:acc>
                            <m:r>
                              <a:rPr lang="en-AU" sz="2600">
                                <a:latin typeface="Cambria Math" panose="02040503050406030204" pitchFamily="18" charset="0"/>
                              </a:rPr>
                              <m:t>−1</m:t>
                            </m:r>
                          </m:den>
                        </m:f>
                      </m:sup>
                    </m:sSup>
                    <m:sSup>
                      <m:sSupPr>
                        <m:ctrlPr>
                          <a:rPr lang="en-AU" sz="2600" i="1">
                            <a:latin typeface="Cambria Math" panose="02040503050406030204" pitchFamily="18" charset="0"/>
                          </a:rPr>
                        </m:ctrlPr>
                      </m:sSupPr>
                      <m:e>
                        <m:r>
                          <a:rPr lang="en-AU" sz="2600">
                            <a:latin typeface="Cambria Math" panose="02040503050406030204" pitchFamily="18" charset="0"/>
                          </a:rPr>
                          <m:t>𝜓</m:t>
                        </m:r>
                      </m:e>
                      <m:sup>
                        <m:f>
                          <m:fPr>
                            <m:ctrlPr>
                              <a:rPr lang="en-AU" sz="2600" i="1">
                                <a:latin typeface="Cambria Math" panose="02040503050406030204" pitchFamily="18" charset="0"/>
                              </a:rPr>
                            </m:ctrlPr>
                          </m:fPr>
                          <m:num>
                            <m:acc>
                              <m:accPr>
                                <m:chr m:val="̃"/>
                                <m:ctrlPr>
                                  <a:rPr lang="en-AU" sz="2600" i="1">
                                    <a:latin typeface="Cambria Math" panose="02040503050406030204" pitchFamily="18" charset="0"/>
                                  </a:rPr>
                                </m:ctrlPr>
                              </m:accPr>
                              <m:e>
                                <m:r>
                                  <a:rPr lang="en-AU" sz="2600">
                                    <a:latin typeface="Cambria Math" panose="02040503050406030204" pitchFamily="18" charset="0"/>
                                  </a:rPr>
                                  <m:t>𝜌</m:t>
                                </m:r>
                              </m:e>
                            </m:acc>
                          </m:num>
                          <m:den>
                            <m:r>
                              <a:rPr lang="en-AU" sz="2600">
                                <a:latin typeface="Cambria Math" panose="02040503050406030204" pitchFamily="18" charset="0"/>
                              </a:rPr>
                              <m:t>1−</m:t>
                            </m:r>
                            <m:acc>
                              <m:accPr>
                                <m:chr m:val="̃"/>
                                <m:ctrlPr>
                                  <a:rPr lang="en-AU" sz="2600" i="1">
                                    <a:latin typeface="Cambria Math" panose="02040503050406030204" pitchFamily="18" charset="0"/>
                                  </a:rPr>
                                </m:ctrlPr>
                              </m:accPr>
                              <m:e>
                                <m:r>
                                  <a:rPr lang="en-AU" sz="2600">
                                    <a:latin typeface="Cambria Math" panose="02040503050406030204" pitchFamily="18" charset="0"/>
                                  </a:rPr>
                                  <m:t>𝜌</m:t>
                                </m:r>
                              </m:e>
                            </m:acc>
                          </m:den>
                        </m:f>
                      </m:sup>
                    </m:sSup>
                    <m:sSubSup>
                      <m:sSubSupPr>
                        <m:ctrlPr>
                          <a:rPr lang="en-AU" sz="2600" i="1">
                            <a:latin typeface="Cambria Math" panose="02040503050406030204" pitchFamily="18" charset="0"/>
                          </a:rPr>
                        </m:ctrlPr>
                      </m:sSubSupPr>
                      <m:e>
                        <m:r>
                          <a:rPr lang="en-AU" sz="2600">
                            <a:latin typeface="Cambria Math" panose="02040503050406030204" pitchFamily="18" charset="0"/>
                          </a:rPr>
                          <m:t>𝜆</m:t>
                        </m:r>
                      </m:e>
                      <m:sub>
                        <m:r>
                          <a:rPr lang="en-AU" sz="2600">
                            <a:latin typeface="Cambria Math" panose="02040503050406030204" pitchFamily="18" charset="0"/>
                          </a:rPr>
                          <m:t>1</m:t>
                        </m:r>
                      </m:sub>
                      <m:sup>
                        <m:f>
                          <m:fPr>
                            <m:ctrlPr>
                              <a:rPr lang="en-AU" sz="2600" i="1">
                                <a:latin typeface="Cambria Math" panose="02040503050406030204" pitchFamily="18" charset="0"/>
                              </a:rPr>
                            </m:ctrlPr>
                          </m:fPr>
                          <m:num>
                            <m:acc>
                              <m:accPr>
                                <m:chr m:val="̃"/>
                                <m:ctrlPr>
                                  <a:rPr lang="en-AU" sz="2600" i="1">
                                    <a:latin typeface="Cambria Math" panose="02040503050406030204" pitchFamily="18" charset="0"/>
                                  </a:rPr>
                                </m:ctrlPr>
                              </m:accPr>
                              <m:e>
                                <m:r>
                                  <a:rPr lang="en-AU" sz="2600">
                                    <a:latin typeface="Cambria Math" panose="02040503050406030204" pitchFamily="18" charset="0"/>
                                  </a:rPr>
                                  <m:t>𝜌</m:t>
                                </m:r>
                              </m:e>
                            </m:acc>
                          </m:num>
                          <m:den>
                            <m:r>
                              <a:rPr lang="en-AU" sz="2600">
                                <a:latin typeface="Cambria Math" panose="02040503050406030204" pitchFamily="18" charset="0"/>
                              </a:rPr>
                              <m:t>1−</m:t>
                            </m:r>
                            <m:acc>
                              <m:accPr>
                                <m:chr m:val="̃"/>
                                <m:ctrlPr>
                                  <a:rPr lang="en-AU" sz="2600" i="1">
                                    <a:latin typeface="Cambria Math" panose="02040503050406030204" pitchFamily="18" charset="0"/>
                                  </a:rPr>
                                </m:ctrlPr>
                              </m:accPr>
                              <m:e>
                                <m:r>
                                  <a:rPr lang="en-AU" sz="2600">
                                    <a:latin typeface="Cambria Math" panose="02040503050406030204" pitchFamily="18" charset="0"/>
                                  </a:rPr>
                                  <m:t>𝜌</m:t>
                                </m:r>
                              </m:e>
                            </m:acc>
                          </m:den>
                        </m:f>
                      </m:sup>
                    </m:sSubSup>
                    <m:r>
                      <a:rPr lang="en-AU" sz="2600">
                        <a:latin typeface="Cambria Math" panose="02040503050406030204" pitchFamily="18" charset="0"/>
                      </a:rPr>
                      <m:t>−</m:t>
                    </m:r>
                    <m:d>
                      <m:dPr>
                        <m:begChr m:val="["/>
                        <m:endChr m:val="]"/>
                        <m:ctrlPr>
                          <a:rPr lang="en-AU" sz="2600" i="1">
                            <a:latin typeface="Cambria Math" panose="02040503050406030204" pitchFamily="18" charset="0"/>
                          </a:rPr>
                        </m:ctrlPr>
                      </m:dPr>
                      <m:e>
                        <m:sSub>
                          <m:sSubPr>
                            <m:ctrlPr>
                              <a:rPr lang="en-AU" sz="2600" i="1">
                                <a:latin typeface="Cambria Math" panose="02040503050406030204" pitchFamily="18" charset="0"/>
                              </a:rPr>
                            </m:ctrlPr>
                          </m:sSubPr>
                          <m:e>
                            <m:r>
                              <a:rPr lang="en-AU" sz="2600">
                                <a:latin typeface="Cambria Math" panose="02040503050406030204" pitchFamily="18" charset="0"/>
                              </a:rPr>
                              <m:t>𝑓</m:t>
                            </m:r>
                          </m:e>
                          <m:sub>
                            <m:r>
                              <a:rPr lang="en-AU" sz="2600">
                                <a:latin typeface="Cambria Math" panose="02040503050406030204" pitchFamily="18" charset="0"/>
                              </a:rPr>
                              <m:t>𝑒</m:t>
                            </m:r>
                          </m:sub>
                        </m:sSub>
                        <m:r>
                          <a:rPr lang="en-AU" sz="2600">
                            <a:latin typeface="Cambria Math" panose="02040503050406030204" pitchFamily="18" charset="0"/>
                          </a:rPr>
                          <m:t>+</m:t>
                        </m:r>
                        <m:sSubSup>
                          <m:sSubSupPr>
                            <m:ctrlPr>
                              <a:rPr lang="en-AU" sz="2600" i="1">
                                <a:latin typeface="Cambria Math" panose="02040503050406030204" pitchFamily="18" charset="0"/>
                              </a:rPr>
                            </m:ctrlPr>
                          </m:sSubSupPr>
                          <m:e>
                            <m:r>
                              <a:rPr lang="en-AU" sz="2600">
                                <a:latin typeface="Cambria Math" panose="02040503050406030204" pitchFamily="18" charset="0"/>
                              </a:rPr>
                              <m:t>𝑓</m:t>
                            </m:r>
                          </m:e>
                          <m:sub>
                            <m:r>
                              <a:rPr lang="en-AU" sz="2600">
                                <a:latin typeface="Cambria Math" panose="02040503050406030204" pitchFamily="18" charset="0"/>
                              </a:rPr>
                              <m:t>𝑒</m:t>
                            </m:r>
                          </m:sub>
                          <m:sup>
                            <m:r>
                              <a:rPr lang="en-AU" sz="2600">
                                <a:latin typeface="Cambria Math" panose="02040503050406030204" pitchFamily="18" charset="0"/>
                              </a:rPr>
                              <m:t>𝑒</m:t>
                            </m:r>
                          </m:sup>
                        </m:sSubSup>
                        <m:d>
                          <m:dPr>
                            <m:ctrlPr>
                              <a:rPr lang="en-AU" sz="2600" i="1">
                                <a:latin typeface="Cambria Math" panose="02040503050406030204" pitchFamily="18" charset="0"/>
                              </a:rPr>
                            </m:ctrlPr>
                          </m:dPr>
                          <m:e>
                            <m:r>
                              <a:rPr lang="en-AU" sz="2600">
                                <a:latin typeface="Cambria Math" panose="02040503050406030204" pitchFamily="18" charset="0"/>
                              </a:rPr>
                              <m:t>1−</m:t>
                            </m:r>
                            <m:sSub>
                              <m:sSubPr>
                                <m:ctrlPr>
                                  <a:rPr lang="en-AU" sz="2600" i="1">
                                    <a:latin typeface="Cambria Math" panose="02040503050406030204" pitchFamily="18" charset="0"/>
                                  </a:rPr>
                                </m:ctrlPr>
                              </m:sSubPr>
                              <m:e>
                                <m:r>
                                  <a:rPr lang="en-AU" sz="2600">
                                    <a:latin typeface="Cambria Math" panose="02040503050406030204" pitchFamily="18" charset="0"/>
                                  </a:rPr>
                                  <m:t>𝜒</m:t>
                                </m:r>
                              </m:e>
                              <m:sub>
                                <m:r>
                                  <a:rPr lang="en-AU" sz="2600">
                                    <a:latin typeface="Cambria Math" panose="02040503050406030204" pitchFamily="18" charset="0"/>
                                  </a:rPr>
                                  <m:t>2,−1</m:t>
                                </m:r>
                              </m:sub>
                            </m:sSub>
                          </m:e>
                        </m:d>
                      </m:e>
                    </m:d>
                  </m:oMath>
                </a14:m>
                <a:endParaRPr lang="en-AU" sz="2600" dirty="0"/>
              </a:p>
              <a:p>
                <a14:m>
                  <m:oMath xmlns:m="http://schemas.openxmlformats.org/officeDocument/2006/math">
                    <m:acc>
                      <m:accPr>
                        <m:chr m:val="̃"/>
                        <m:ctrlPr>
                          <a:rPr lang="en-AU" sz="2600" i="1">
                            <a:latin typeface="Cambria Math" panose="02040503050406030204" pitchFamily="18" charset="0"/>
                          </a:rPr>
                        </m:ctrlPr>
                      </m:accPr>
                      <m:e>
                        <m:r>
                          <a:rPr lang="en-AU" sz="2600">
                            <a:latin typeface="Cambria Math" panose="02040503050406030204" pitchFamily="18" charset="0"/>
                          </a:rPr>
                          <m:t>𝜋</m:t>
                        </m:r>
                      </m:e>
                    </m:acc>
                    <m:d>
                      <m:dPr>
                        <m:ctrlPr>
                          <a:rPr lang="en-AU" sz="2600" i="1">
                            <a:latin typeface="Cambria Math" panose="02040503050406030204" pitchFamily="18" charset="0"/>
                          </a:rPr>
                        </m:ctrlPr>
                      </m:dPr>
                      <m:e>
                        <m:sSub>
                          <m:sSubPr>
                            <m:ctrlPr>
                              <a:rPr lang="en-AU" sz="2600" i="1">
                                <a:latin typeface="Cambria Math" panose="02040503050406030204" pitchFamily="18" charset="0"/>
                              </a:rPr>
                            </m:ctrlPr>
                          </m:sSubPr>
                          <m:e>
                            <m:r>
                              <a:rPr lang="en-AU" sz="2600">
                                <a:latin typeface="Cambria Math" panose="02040503050406030204" pitchFamily="18" charset="0"/>
                              </a:rPr>
                              <m:t>𝜒</m:t>
                            </m:r>
                          </m:e>
                          <m:sub>
                            <m:r>
                              <a:rPr lang="en-AU" sz="2600">
                                <a:latin typeface="Cambria Math" panose="02040503050406030204" pitchFamily="18" charset="0"/>
                              </a:rPr>
                              <m:t>1</m:t>
                            </m:r>
                          </m:sub>
                        </m:sSub>
                        <m:r>
                          <a:rPr lang="en-AU" sz="2600">
                            <a:latin typeface="Cambria Math" panose="02040503050406030204" pitchFamily="18" charset="0"/>
                          </a:rPr>
                          <m:t>=1</m:t>
                        </m:r>
                      </m:e>
                    </m:d>
                    <m:r>
                      <a:rPr lang="en-AU" sz="2600">
                        <a:latin typeface="Cambria Math" panose="02040503050406030204" pitchFamily="18" charset="0"/>
                      </a:rPr>
                      <m:t>=</m:t>
                    </m:r>
                    <m:d>
                      <m:dPr>
                        <m:ctrlPr>
                          <a:rPr lang="en-AU" sz="2600" i="1">
                            <a:latin typeface="Cambria Math" panose="02040503050406030204" pitchFamily="18" charset="0"/>
                          </a:rPr>
                        </m:ctrlPr>
                      </m:dPr>
                      <m:e>
                        <m:r>
                          <a:rPr lang="en-AU" sz="2600">
                            <a:latin typeface="Cambria Math" panose="02040503050406030204" pitchFamily="18" charset="0"/>
                          </a:rPr>
                          <m:t>1−</m:t>
                        </m:r>
                        <m:acc>
                          <m:accPr>
                            <m:chr m:val="̃"/>
                            <m:ctrlPr>
                              <a:rPr lang="en-AU" sz="2600" i="1">
                                <a:latin typeface="Cambria Math" panose="02040503050406030204" pitchFamily="18" charset="0"/>
                              </a:rPr>
                            </m:ctrlPr>
                          </m:accPr>
                          <m:e>
                            <m:r>
                              <a:rPr lang="en-AU" sz="2600">
                                <a:latin typeface="Cambria Math" panose="02040503050406030204" pitchFamily="18" charset="0"/>
                              </a:rPr>
                              <m:t>𝜌</m:t>
                            </m:r>
                          </m:e>
                        </m:acc>
                      </m:e>
                    </m:d>
                    <m:sSup>
                      <m:sSupPr>
                        <m:ctrlPr>
                          <a:rPr lang="en-AU" sz="2600" i="1">
                            <a:latin typeface="Cambria Math" panose="02040503050406030204" pitchFamily="18" charset="0"/>
                          </a:rPr>
                        </m:ctrlPr>
                      </m:sSupPr>
                      <m:e>
                        <m:r>
                          <a:rPr lang="en-AU" sz="2600">
                            <a:latin typeface="Cambria Math" panose="02040503050406030204" pitchFamily="18" charset="0"/>
                          </a:rPr>
                          <m:t>𝜌</m:t>
                        </m:r>
                      </m:e>
                      <m:sup>
                        <m:f>
                          <m:fPr>
                            <m:ctrlPr>
                              <a:rPr lang="en-AU" sz="2600" i="1">
                                <a:latin typeface="Cambria Math" panose="02040503050406030204" pitchFamily="18" charset="0"/>
                              </a:rPr>
                            </m:ctrlPr>
                          </m:fPr>
                          <m:num>
                            <m:acc>
                              <m:accPr>
                                <m:chr m:val="̃"/>
                                <m:ctrlPr>
                                  <a:rPr lang="en-AU" sz="2600" i="1">
                                    <a:latin typeface="Cambria Math" panose="02040503050406030204" pitchFamily="18" charset="0"/>
                                  </a:rPr>
                                </m:ctrlPr>
                              </m:accPr>
                              <m:e>
                                <m:r>
                                  <a:rPr lang="en-AU" sz="2600">
                                    <a:latin typeface="Cambria Math" panose="02040503050406030204" pitchFamily="18" charset="0"/>
                                  </a:rPr>
                                  <m:t>𝜌</m:t>
                                </m:r>
                              </m:e>
                            </m:acc>
                          </m:num>
                          <m:den>
                            <m:r>
                              <a:rPr lang="en-AU" sz="2600">
                                <a:latin typeface="Cambria Math" panose="02040503050406030204" pitchFamily="18" charset="0"/>
                              </a:rPr>
                              <m:t>1−</m:t>
                            </m:r>
                            <m:acc>
                              <m:accPr>
                                <m:chr m:val="̃"/>
                                <m:ctrlPr>
                                  <a:rPr lang="en-AU" sz="2600" i="1">
                                    <a:latin typeface="Cambria Math" panose="02040503050406030204" pitchFamily="18" charset="0"/>
                                  </a:rPr>
                                </m:ctrlPr>
                              </m:accPr>
                              <m:e>
                                <m:r>
                                  <a:rPr lang="en-AU" sz="2600">
                                    <a:latin typeface="Cambria Math" panose="02040503050406030204" pitchFamily="18" charset="0"/>
                                  </a:rPr>
                                  <m:t>𝜌</m:t>
                                </m:r>
                              </m:e>
                            </m:acc>
                          </m:den>
                        </m:f>
                      </m:sup>
                    </m:sSup>
                    <m:sSup>
                      <m:sSupPr>
                        <m:ctrlPr>
                          <a:rPr lang="en-AU" sz="2600" i="1">
                            <a:latin typeface="Cambria Math" panose="02040503050406030204" pitchFamily="18" charset="0"/>
                          </a:rPr>
                        </m:ctrlPr>
                      </m:sSupPr>
                      <m:e>
                        <m:r>
                          <a:rPr lang="en-AU" sz="2600">
                            <a:latin typeface="Cambria Math" panose="02040503050406030204" pitchFamily="18" charset="0"/>
                          </a:rPr>
                          <m:t>𝜏</m:t>
                        </m:r>
                      </m:e>
                      <m:sup>
                        <m:f>
                          <m:fPr>
                            <m:ctrlPr>
                              <a:rPr lang="en-AU" sz="2600" i="1">
                                <a:latin typeface="Cambria Math" panose="02040503050406030204" pitchFamily="18" charset="0"/>
                              </a:rPr>
                            </m:ctrlPr>
                          </m:fPr>
                          <m:num>
                            <m:acc>
                              <m:accPr>
                                <m:chr m:val="̃"/>
                                <m:ctrlPr>
                                  <a:rPr lang="en-AU" sz="2600" i="1">
                                    <a:latin typeface="Cambria Math" panose="02040503050406030204" pitchFamily="18" charset="0"/>
                                  </a:rPr>
                                </m:ctrlPr>
                              </m:accPr>
                              <m:e>
                                <m:r>
                                  <a:rPr lang="en-AU" sz="2600">
                                    <a:latin typeface="Cambria Math" panose="02040503050406030204" pitchFamily="18" charset="0"/>
                                  </a:rPr>
                                  <m:t>𝜌</m:t>
                                </m:r>
                              </m:e>
                            </m:acc>
                          </m:num>
                          <m:den>
                            <m:acc>
                              <m:accPr>
                                <m:chr m:val="̃"/>
                                <m:ctrlPr>
                                  <a:rPr lang="en-AU" sz="2600" i="1">
                                    <a:latin typeface="Cambria Math" panose="02040503050406030204" pitchFamily="18" charset="0"/>
                                  </a:rPr>
                                </m:ctrlPr>
                              </m:accPr>
                              <m:e>
                                <m:r>
                                  <a:rPr lang="en-AU" sz="2600">
                                    <a:latin typeface="Cambria Math" panose="02040503050406030204" pitchFamily="18" charset="0"/>
                                  </a:rPr>
                                  <m:t>𝜌</m:t>
                                </m:r>
                              </m:e>
                            </m:acc>
                            <m:r>
                              <a:rPr lang="en-AU" sz="2600">
                                <a:latin typeface="Cambria Math" panose="02040503050406030204" pitchFamily="18" charset="0"/>
                              </a:rPr>
                              <m:t>−1</m:t>
                            </m:r>
                          </m:den>
                        </m:f>
                      </m:sup>
                    </m:sSup>
                    <m:acc>
                      <m:accPr>
                        <m:chr m:val="̃"/>
                        <m:ctrlPr>
                          <a:rPr lang="en-AU" sz="2600" i="1">
                            <a:latin typeface="Cambria Math" panose="02040503050406030204" pitchFamily="18" charset="0"/>
                          </a:rPr>
                        </m:ctrlPr>
                      </m:accPr>
                      <m:e>
                        <m:r>
                          <a:rPr lang="en-AU" sz="2600">
                            <a:latin typeface="Cambria Math" panose="02040503050406030204" pitchFamily="18" charset="0"/>
                          </a:rPr>
                          <m:t>𝐴</m:t>
                        </m:r>
                      </m:e>
                    </m:acc>
                    <m:sSup>
                      <m:sSupPr>
                        <m:ctrlPr>
                          <a:rPr lang="en-AU" sz="2600" i="1">
                            <a:latin typeface="Cambria Math" panose="02040503050406030204" pitchFamily="18" charset="0"/>
                          </a:rPr>
                        </m:ctrlPr>
                      </m:sSupPr>
                      <m:e>
                        <m:d>
                          <m:dPr>
                            <m:ctrlPr>
                              <a:rPr lang="en-AU" sz="2600" i="1">
                                <a:latin typeface="Cambria Math" panose="02040503050406030204" pitchFamily="18" charset="0"/>
                              </a:rPr>
                            </m:ctrlPr>
                          </m:dPr>
                          <m:e>
                            <m:r>
                              <a:rPr lang="en-AU" sz="2600">
                                <a:latin typeface="Cambria Math" panose="02040503050406030204" pitchFamily="18" charset="0"/>
                              </a:rPr>
                              <m:t>𝑤</m:t>
                            </m:r>
                            <m:r>
                              <a:rPr lang="en-AU" sz="2600">
                                <a:latin typeface="Cambria Math" panose="02040503050406030204" pitchFamily="18" charset="0"/>
                              </a:rPr>
                              <m:t>+</m:t>
                            </m:r>
                            <m:r>
                              <a:rPr lang="en-AU" sz="2600">
                                <a:latin typeface="Cambria Math" panose="02040503050406030204" pitchFamily="18" charset="0"/>
                              </a:rPr>
                              <m:t>𝑚</m:t>
                            </m:r>
                          </m:e>
                        </m:d>
                      </m:e>
                      <m:sup>
                        <m:f>
                          <m:fPr>
                            <m:ctrlPr>
                              <a:rPr lang="en-AU" sz="2600" i="1">
                                <a:latin typeface="Cambria Math" panose="02040503050406030204" pitchFamily="18" charset="0"/>
                              </a:rPr>
                            </m:ctrlPr>
                          </m:fPr>
                          <m:num>
                            <m:acc>
                              <m:accPr>
                                <m:chr m:val="̃"/>
                                <m:ctrlPr>
                                  <a:rPr lang="en-AU" sz="2600" i="1">
                                    <a:latin typeface="Cambria Math" panose="02040503050406030204" pitchFamily="18" charset="0"/>
                                  </a:rPr>
                                </m:ctrlPr>
                              </m:accPr>
                              <m:e>
                                <m:r>
                                  <a:rPr lang="en-AU" sz="2600">
                                    <a:latin typeface="Cambria Math" panose="02040503050406030204" pitchFamily="18" charset="0"/>
                                  </a:rPr>
                                  <m:t>𝜌</m:t>
                                </m:r>
                              </m:e>
                            </m:acc>
                          </m:num>
                          <m:den>
                            <m:acc>
                              <m:accPr>
                                <m:chr m:val="̃"/>
                                <m:ctrlPr>
                                  <a:rPr lang="en-AU" sz="2600" i="1">
                                    <a:latin typeface="Cambria Math" panose="02040503050406030204" pitchFamily="18" charset="0"/>
                                  </a:rPr>
                                </m:ctrlPr>
                              </m:accPr>
                              <m:e>
                                <m:r>
                                  <a:rPr lang="en-AU" sz="2600">
                                    <a:latin typeface="Cambria Math" panose="02040503050406030204" pitchFamily="18" charset="0"/>
                                  </a:rPr>
                                  <m:t>𝜌</m:t>
                                </m:r>
                              </m:e>
                            </m:acc>
                            <m:r>
                              <a:rPr lang="en-AU" sz="2600">
                                <a:latin typeface="Cambria Math" panose="02040503050406030204" pitchFamily="18" charset="0"/>
                              </a:rPr>
                              <m:t>−1</m:t>
                            </m:r>
                          </m:den>
                        </m:f>
                      </m:sup>
                    </m:sSup>
                    <m:sSup>
                      <m:sSupPr>
                        <m:ctrlPr>
                          <a:rPr lang="en-AU" sz="2600" i="1">
                            <a:latin typeface="Cambria Math" panose="02040503050406030204" pitchFamily="18" charset="0"/>
                          </a:rPr>
                        </m:ctrlPr>
                      </m:sSupPr>
                      <m:e>
                        <m:r>
                          <a:rPr lang="en-AU" sz="2600">
                            <a:latin typeface="Cambria Math" panose="02040503050406030204" pitchFamily="18" charset="0"/>
                          </a:rPr>
                          <m:t>𝜓</m:t>
                        </m:r>
                      </m:e>
                      <m:sup>
                        <m:f>
                          <m:fPr>
                            <m:ctrlPr>
                              <a:rPr lang="en-AU" sz="2600" i="1">
                                <a:latin typeface="Cambria Math" panose="02040503050406030204" pitchFamily="18" charset="0"/>
                              </a:rPr>
                            </m:ctrlPr>
                          </m:fPr>
                          <m:num>
                            <m:acc>
                              <m:accPr>
                                <m:chr m:val="̃"/>
                                <m:ctrlPr>
                                  <a:rPr lang="en-AU" sz="2600" i="1">
                                    <a:latin typeface="Cambria Math" panose="02040503050406030204" pitchFamily="18" charset="0"/>
                                  </a:rPr>
                                </m:ctrlPr>
                              </m:accPr>
                              <m:e>
                                <m:r>
                                  <a:rPr lang="en-AU" sz="2600">
                                    <a:latin typeface="Cambria Math" panose="02040503050406030204" pitchFamily="18" charset="0"/>
                                  </a:rPr>
                                  <m:t>𝜌</m:t>
                                </m:r>
                              </m:e>
                            </m:acc>
                          </m:num>
                          <m:den>
                            <m:r>
                              <a:rPr lang="en-AU" sz="2600">
                                <a:latin typeface="Cambria Math" panose="02040503050406030204" pitchFamily="18" charset="0"/>
                              </a:rPr>
                              <m:t>1−</m:t>
                            </m:r>
                            <m:acc>
                              <m:accPr>
                                <m:chr m:val="̃"/>
                                <m:ctrlPr>
                                  <a:rPr lang="en-AU" sz="2600" i="1">
                                    <a:latin typeface="Cambria Math" panose="02040503050406030204" pitchFamily="18" charset="0"/>
                                  </a:rPr>
                                </m:ctrlPr>
                              </m:accPr>
                              <m:e>
                                <m:r>
                                  <a:rPr lang="en-AU" sz="2600">
                                    <a:latin typeface="Cambria Math" panose="02040503050406030204" pitchFamily="18" charset="0"/>
                                  </a:rPr>
                                  <m:t>𝜌</m:t>
                                </m:r>
                              </m:e>
                            </m:acc>
                          </m:den>
                        </m:f>
                      </m:sup>
                    </m:sSup>
                    <m:sSup>
                      <m:sSupPr>
                        <m:ctrlPr>
                          <a:rPr lang="en-AU" sz="2600" i="1">
                            <a:latin typeface="Cambria Math" panose="02040503050406030204" pitchFamily="18" charset="0"/>
                          </a:rPr>
                        </m:ctrlPr>
                      </m:sSupPr>
                      <m:e>
                        <m:d>
                          <m:dPr>
                            <m:ctrlPr>
                              <a:rPr lang="en-AU" sz="2600" i="1">
                                <a:latin typeface="Cambria Math" panose="02040503050406030204" pitchFamily="18" charset="0"/>
                              </a:rPr>
                            </m:ctrlPr>
                          </m:dPr>
                          <m:e>
                            <m:r>
                              <a:rPr lang="en-AU" sz="2600">
                                <a:latin typeface="Cambria Math" panose="02040503050406030204" pitchFamily="18" charset="0"/>
                              </a:rPr>
                              <m:t>1+</m:t>
                            </m:r>
                            <m:sSubSup>
                              <m:sSubSupPr>
                                <m:ctrlPr>
                                  <a:rPr lang="en-AU" sz="2600" i="1">
                                    <a:latin typeface="Cambria Math" panose="02040503050406030204" pitchFamily="18" charset="0"/>
                                  </a:rPr>
                                </m:ctrlPr>
                              </m:sSubSupPr>
                              <m:e>
                                <m:r>
                                  <a:rPr lang="en-AU" sz="2600">
                                    <a:latin typeface="Cambria Math" panose="02040503050406030204" pitchFamily="18" charset="0"/>
                                  </a:rPr>
                                  <m:t>𝜆</m:t>
                                </m:r>
                              </m:e>
                              <m:sub>
                                <m:r>
                                  <a:rPr lang="en-AU" sz="2600">
                                    <a:latin typeface="Cambria Math" panose="02040503050406030204" pitchFamily="18" charset="0"/>
                                  </a:rPr>
                                  <m:t>2</m:t>
                                </m:r>
                              </m:sub>
                              <m:sup>
                                <m:f>
                                  <m:fPr>
                                    <m:ctrlPr>
                                      <a:rPr lang="en-AU" sz="2600" i="1">
                                        <a:latin typeface="Cambria Math" panose="02040503050406030204" pitchFamily="18" charset="0"/>
                                      </a:rPr>
                                    </m:ctrlPr>
                                  </m:fPr>
                                  <m:num>
                                    <m:r>
                                      <a:rPr lang="en-AU" sz="2600">
                                        <a:latin typeface="Cambria Math" panose="02040503050406030204" pitchFamily="18" charset="0"/>
                                      </a:rPr>
                                      <m:t>𝜌</m:t>
                                    </m:r>
                                  </m:num>
                                  <m:den>
                                    <m:r>
                                      <a:rPr lang="en-AU" sz="2600">
                                        <a:latin typeface="Cambria Math" panose="02040503050406030204" pitchFamily="18" charset="0"/>
                                      </a:rPr>
                                      <m:t>1−</m:t>
                                    </m:r>
                                    <m:r>
                                      <a:rPr lang="en-AU" sz="2600">
                                        <a:latin typeface="Cambria Math" panose="02040503050406030204" pitchFamily="18" charset="0"/>
                                      </a:rPr>
                                      <m:t>𝜌</m:t>
                                    </m:r>
                                  </m:den>
                                </m:f>
                              </m:sup>
                            </m:sSubSup>
                            <m:sSup>
                              <m:sSupPr>
                                <m:ctrlPr>
                                  <a:rPr lang="en-AU" sz="2600" i="1">
                                    <a:latin typeface="Cambria Math" panose="02040503050406030204" pitchFamily="18" charset="0"/>
                                  </a:rPr>
                                </m:ctrlPr>
                              </m:sSupPr>
                              <m:e>
                                <m:r>
                                  <a:rPr lang="en-AU" sz="2600">
                                    <a:latin typeface="Cambria Math" panose="02040503050406030204" pitchFamily="18" charset="0"/>
                                  </a:rPr>
                                  <m:t>𝜁</m:t>
                                </m:r>
                              </m:e>
                              <m:sup>
                                <m:f>
                                  <m:fPr>
                                    <m:ctrlPr>
                                      <a:rPr lang="en-AU" sz="2600" i="1">
                                        <a:latin typeface="Cambria Math" panose="02040503050406030204" pitchFamily="18" charset="0"/>
                                      </a:rPr>
                                    </m:ctrlPr>
                                  </m:fPr>
                                  <m:num>
                                    <m:r>
                                      <a:rPr lang="en-AU" sz="2600">
                                        <a:latin typeface="Cambria Math" panose="02040503050406030204" pitchFamily="18" charset="0"/>
                                      </a:rPr>
                                      <m:t>𝜌</m:t>
                                    </m:r>
                                  </m:num>
                                  <m:den>
                                    <m:r>
                                      <a:rPr lang="en-AU" sz="2600">
                                        <a:latin typeface="Cambria Math" panose="02040503050406030204" pitchFamily="18" charset="0"/>
                                      </a:rPr>
                                      <m:t>1−</m:t>
                                    </m:r>
                                    <m:r>
                                      <a:rPr lang="en-AU" sz="2600">
                                        <a:latin typeface="Cambria Math" panose="02040503050406030204" pitchFamily="18" charset="0"/>
                                      </a:rPr>
                                      <m:t>𝜌</m:t>
                                    </m:r>
                                  </m:den>
                                </m:f>
                              </m:sup>
                            </m:sSup>
                          </m:e>
                        </m:d>
                      </m:e>
                      <m:sup>
                        <m:f>
                          <m:fPr>
                            <m:ctrlPr>
                              <a:rPr lang="en-AU" sz="2600" i="1">
                                <a:latin typeface="Cambria Math" panose="02040503050406030204" pitchFamily="18" charset="0"/>
                              </a:rPr>
                            </m:ctrlPr>
                          </m:fPr>
                          <m:num>
                            <m:acc>
                              <m:accPr>
                                <m:chr m:val="̃"/>
                                <m:ctrlPr>
                                  <a:rPr lang="en-AU" sz="2600" i="1">
                                    <a:latin typeface="Cambria Math" panose="02040503050406030204" pitchFamily="18" charset="0"/>
                                  </a:rPr>
                                </m:ctrlPr>
                              </m:accPr>
                              <m:e>
                                <m:r>
                                  <a:rPr lang="en-AU" sz="2600">
                                    <a:latin typeface="Cambria Math" panose="02040503050406030204" pitchFamily="18" charset="0"/>
                                  </a:rPr>
                                  <m:t>𝜌</m:t>
                                </m:r>
                              </m:e>
                            </m:acc>
                          </m:num>
                          <m:den>
                            <m:acc>
                              <m:accPr>
                                <m:chr m:val="̃"/>
                                <m:ctrlPr>
                                  <a:rPr lang="en-AU" sz="2600" i="1">
                                    <a:latin typeface="Cambria Math" panose="02040503050406030204" pitchFamily="18" charset="0"/>
                                  </a:rPr>
                                </m:ctrlPr>
                              </m:accPr>
                              <m:e>
                                <m:r>
                                  <a:rPr lang="en-AU" sz="2600">
                                    <a:latin typeface="Cambria Math" panose="02040503050406030204" pitchFamily="18" charset="0"/>
                                  </a:rPr>
                                  <m:t>𝜌</m:t>
                                </m:r>
                              </m:e>
                            </m:acc>
                            <m:r>
                              <a:rPr lang="en-AU" sz="2600">
                                <a:latin typeface="Cambria Math" panose="02040503050406030204" pitchFamily="18" charset="0"/>
                              </a:rPr>
                              <m:t>−1</m:t>
                            </m:r>
                          </m:den>
                        </m:f>
                        <m:r>
                          <a:rPr lang="en-AU" sz="2600">
                            <a:latin typeface="Cambria Math" panose="02040503050406030204" pitchFamily="18" charset="0"/>
                          </a:rPr>
                          <m:t> </m:t>
                        </m:r>
                        <m:f>
                          <m:fPr>
                            <m:ctrlPr>
                              <a:rPr lang="en-AU" sz="2600" i="1">
                                <a:latin typeface="Cambria Math" panose="02040503050406030204" pitchFamily="18" charset="0"/>
                              </a:rPr>
                            </m:ctrlPr>
                          </m:fPr>
                          <m:num>
                            <m:r>
                              <a:rPr lang="en-AU" sz="2600">
                                <a:latin typeface="Cambria Math" panose="02040503050406030204" pitchFamily="18" charset="0"/>
                              </a:rPr>
                              <m:t>1−</m:t>
                            </m:r>
                            <m:r>
                              <a:rPr lang="en-AU" sz="2600">
                                <a:latin typeface="Cambria Math" panose="02040503050406030204" pitchFamily="18" charset="0"/>
                              </a:rPr>
                              <m:t>𝜌</m:t>
                            </m:r>
                          </m:num>
                          <m:den>
                            <m:r>
                              <a:rPr lang="en-AU" sz="2600">
                                <a:latin typeface="Cambria Math" panose="02040503050406030204" pitchFamily="18" charset="0"/>
                              </a:rPr>
                              <m:t>𝜌</m:t>
                            </m:r>
                          </m:den>
                        </m:f>
                      </m:sup>
                    </m:sSup>
                    <m:sSubSup>
                      <m:sSubSupPr>
                        <m:ctrlPr>
                          <a:rPr lang="en-AU" sz="2600" i="1">
                            <a:latin typeface="Cambria Math" panose="02040503050406030204" pitchFamily="18" charset="0"/>
                          </a:rPr>
                        </m:ctrlPr>
                      </m:sSubSupPr>
                      <m:e>
                        <m:r>
                          <a:rPr lang="en-AU" sz="2600">
                            <a:latin typeface="Cambria Math" panose="02040503050406030204" pitchFamily="18" charset="0"/>
                          </a:rPr>
                          <m:t>𝜆</m:t>
                        </m:r>
                      </m:e>
                      <m:sub>
                        <m:r>
                          <a:rPr lang="en-AU" sz="2600">
                            <a:latin typeface="Cambria Math" panose="02040503050406030204" pitchFamily="18" charset="0"/>
                          </a:rPr>
                          <m:t>1</m:t>
                        </m:r>
                      </m:sub>
                      <m:sup>
                        <m:f>
                          <m:fPr>
                            <m:ctrlPr>
                              <a:rPr lang="en-AU" sz="2600" i="1">
                                <a:latin typeface="Cambria Math" panose="02040503050406030204" pitchFamily="18" charset="0"/>
                              </a:rPr>
                            </m:ctrlPr>
                          </m:fPr>
                          <m:num>
                            <m:acc>
                              <m:accPr>
                                <m:chr m:val="̃"/>
                                <m:ctrlPr>
                                  <a:rPr lang="en-AU" sz="2600" i="1">
                                    <a:latin typeface="Cambria Math" panose="02040503050406030204" pitchFamily="18" charset="0"/>
                                  </a:rPr>
                                </m:ctrlPr>
                              </m:accPr>
                              <m:e>
                                <m:r>
                                  <a:rPr lang="en-AU" sz="2600">
                                    <a:latin typeface="Cambria Math" panose="02040503050406030204" pitchFamily="18" charset="0"/>
                                  </a:rPr>
                                  <m:t>𝜌</m:t>
                                </m:r>
                              </m:e>
                            </m:acc>
                          </m:num>
                          <m:den>
                            <m:r>
                              <a:rPr lang="en-AU" sz="2600">
                                <a:latin typeface="Cambria Math" panose="02040503050406030204" pitchFamily="18" charset="0"/>
                              </a:rPr>
                              <m:t>1−</m:t>
                            </m:r>
                            <m:acc>
                              <m:accPr>
                                <m:chr m:val="̃"/>
                                <m:ctrlPr>
                                  <a:rPr lang="en-AU" sz="2600" i="1">
                                    <a:latin typeface="Cambria Math" panose="02040503050406030204" pitchFamily="18" charset="0"/>
                                  </a:rPr>
                                </m:ctrlPr>
                              </m:accPr>
                              <m:e>
                                <m:r>
                                  <a:rPr lang="en-AU" sz="2600">
                                    <a:latin typeface="Cambria Math" panose="02040503050406030204" pitchFamily="18" charset="0"/>
                                  </a:rPr>
                                  <m:t>𝜌</m:t>
                                </m:r>
                              </m:e>
                            </m:acc>
                          </m:den>
                        </m:f>
                      </m:sup>
                    </m:sSubSup>
                    <m:r>
                      <a:rPr lang="en-AU" sz="2600">
                        <a:latin typeface="Cambria Math" panose="02040503050406030204" pitchFamily="18" charset="0"/>
                      </a:rPr>
                      <m:t>−</m:t>
                    </m:r>
                    <m:d>
                      <m:dPr>
                        <m:begChr m:val="["/>
                        <m:endChr m:val="]"/>
                        <m:ctrlPr>
                          <a:rPr lang="en-AU" sz="2600" i="1">
                            <a:latin typeface="Cambria Math" panose="02040503050406030204" pitchFamily="18" charset="0"/>
                          </a:rPr>
                        </m:ctrlPr>
                      </m:dPr>
                      <m:e>
                        <m:sSub>
                          <m:sSubPr>
                            <m:ctrlPr>
                              <a:rPr lang="en-AU" sz="2600" i="1">
                                <a:latin typeface="Cambria Math" panose="02040503050406030204" pitchFamily="18" charset="0"/>
                              </a:rPr>
                            </m:ctrlPr>
                          </m:sSubPr>
                          <m:e>
                            <m:r>
                              <a:rPr lang="en-AU" sz="2600">
                                <a:latin typeface="Cambria Math" panose="02040503050406030204" pitchFamily="18" charset="0"/>
                              </a:rPr>
                              <m:t>𝑓</m:t>
                            </m:r>
                          </m:e>
                          <m:sub>
                            <m:r>
                              <a:rPr lang="en-AU" sz="2600">
                                <a:latin typeface="Cambria Math" panose="02040503050406030204" pitchFamily="18" charset="0"/>
                              </a:rPr>
                              <m:t>𝑒</m:t>
                            </m:r>
                          </m:sub>
                        </m:sSub>
                        <m:r>
                          <a:rPr lang="en-AU" sz="2600">
                            <a:latin typeface="Cambria Math" panose="02040503050406030204" pitchFamily="18" charset="0"/>
                          </a:rPr>
                          <m:t>+</m:t>
                        </m:r>
                        <m:sSubSup>
                          <m:sSubSupPr>
                            <m:ctrlPr>
                              <a:rPr lang="en-AU" sz="2600" i="1">
                                <a:latin typeface="Cambria Math" panose="02040503050406030204" pitchFamily="18" charset="0"/>
                              </a:rPr>
                            </m:ctrlPr>
                          </m:sSubSupPr>
                          <m:e>
                            <m:r>
                              <a:rPr lang="en-AU" sz="2600">
                                <a:latin typeface="Cambria Math" panose="02040503050406030204" pitchFamily="18" charset="0"/>
                              </a:rPr>
                              <m:t>𝑓</m:t>
                            </m:r>
                          </m:e>
                          <m:sub>
                            <m:r>
                              <a:rPr lang="en-AU" sz="2600">
                                <a:latin typeface="Cambria Math" panose="02040503050406030204" pitchFamily="18" charset="0"/>
                              </a:rPr>
                              <m:t>𝑒</m:t>
                            </m:r>
                          </m:sub>
                          <m:sup>
                            <m:r>
                              <a:rPr lang="en-AU" sz="2600">
                                <a:latin typeface="Cambria Math" panose="02040503050406030204" pitchFamily="18" charset="0"/>
                              </a:rPr>
                              <m:t>𝑒</m:t>
                            </m:r>
                          </m:sup>
                        </m:sSubSup>
                        <m:d>
                          <m:dPr>
                            <m:ctrlPr>
                              <a:rPr lang="en-AU" sz="2600" i="1">
                                <a:latin typeface="Cambria Math" panose="02040503050406030204" pitchFamily="18" charset="0"/>
                              </a:rPr>
                            </m:ctrlPr>
                          </m:dPr>
                          <m:e>
                            <m:r>
                              <a:rPr lang="en-AU" sz="2600">
                                <a:latin typeface="Cambria Math" panose="02040503050406030204" pitchFamily="18" charset="0"/>
                              </a:rPr>
                              <m:t>1−</m:t>
                            </m:r>
                            <m:sSub>
                              <m:sSubPr>
                                <m:ctrlPr>
                                  <a:rPr lang="en-AU" sz="2600" i="1">
                                    <a:latin typeface="Cambria Math" panose="02040503050406030204" pitchFamily="18" charset="0"/>
                                  </a:rPr>
                                </m:ctrlPr>
                              </m:sSubPr>
                              <m:e>
                                <m:r>
                                  <a:rPr lang="en-AU" sz="2600">
                                    <a:latin typeface="Cambria Math" panose="02040503050406030204" pitchFamily="18" charset="0"/>
                                  </a:rPr>
                                  <m:t>𝜒</m:t>
                                </m:r>
                              </m:e>
                              <m:sub>
                                <m:r>
                                  <a:rPr lang="en-AU" sz="2600">
                                    <a:latin typeface="Cambria Math" panose="02040503050406030204" pitchFamily="18" charset="0"/>
                                  </a:rPr>
                                  <m:t>2,−1</m:t>
                                </m:r>
                              </m:sub>
                            </m:sSub>
                          </m:e>
                        </m:d>
                      </m:e>
                    </m:d>
                  </m:oMath>
                </a14:m>
                <a:r>
                  <a:rPr lang="en-AU" sz="2600" dirty="0"/>
                  <a:t>, </a:t>
                </a:r>
              </a:p>
            </p:txBody>
          </p:sp>
        </mc:Choice>
        <mc:Fallback xmlns="">
          <p:sp>
            <p:nvSpPr>
              <p:cNvPr id="3" name="Content Placeholder 2">
                <a:extLst>
                  <a:ext uri="{FF2B5EF4-FFF2-40B4-BE49-F238E27FC236}">
                    <a16:creationId xmlns:a16="http://schemas.microsoft.com/office/drawing/2014/main" id="{2164CD9B-8A32-0815-9AFE-5CA80C93D104}"/>
                  </a:ext>
                </a:extLst>
              </p:cNvPr>
              <p:cNvSpPr>
                <a:spLocks noGrp="1" noRot="1" noChangeAspect="1" noMove="1" noResize="1" noEditPoints="1" noAdjustHandles="1" noChangeArrowheads="1" noChangeShapeType="1" noTextEdit="1"/>
              </p:cNvSpPr>
              <p:nvPr>
                <p:ph idx="1"/>
              </p:nvPr>
            </p:nvSpPr>
            <p:spPr>
              <a:blipFill>
                <a:blip r:embed="rId2"/>
                <a:stretch>
                  <a:fillRect l="-812" t="-3221"/>
                </a:stretch>
              </a:blipFill>
            </p:spPr>
            <p:txBody>
              <a:bodyPr/>
              <a:lstStyle/>
              <a:p>
                <a:r>
                  <a:rPr lang="en-AU">
                    <a:noFill/>
                  </a:rPr>
                  <a:t> </a:t>
                </a:r>
              </a:p>
            </p:txBody>
          </p:sp>
        </mc:Fallback>
      </mc:AlternateContent>
    </p:spTree>
    <p:extLst>
      <p:ext uri="{BB962C8B-B14F-4D97-AF65-F5344CB8AC3E}">
        <p14:creationId xmlns:p14="http://schemas.microsoft.com/office/powerpoint/2010/main" val="28547525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C05FF-33B4-4989-18B7-6D82015A9D40}"/>
              </a:ext>
            </a:extLst>
          </p:cNvPr>
          <p:cNvSpPr>
            <a:spLocks noGrp="1"/>
          </p:cNvSpPr>
          <p:nvPr>
            <p:ph type="title"/>
          </p:nvPr>
        </p:nvSpPr>
        <p:spPr/>
        <p:txBody>
          <a:bodyPr/>
          <a:lstStyle/>
          <a:p>
            <a:r>
              <a:rPr lang="en-AU" dirty="0"/>
              <a:t>Analytical Framework-Economic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56FF2BD-EDDF-0D69-513B-931FBFDC1F88}"/>
                  </a:ext>
                </a:extLst>
              </p:cNvPr>
              <p:cNvSpPr>
                <a:spLocks noGrp="1"/>
              </p:cNvSpPr>
              <p:nvPr>
                <p:ph idx="1"/>
              </p:nvPr>
            </p:nvSpPr>
            <p:spPr/>
            <p:txBody>
              <a:bodyPr>
                <a:normAutofit/>
              </a:bodyPr>
              <a:lstStyle/>
              <a:p>
                <a:r>
                  <a:rPr lang="en-AU" sz="2600" dirty="0"/>
                  <a:t>At stage three, if a firm decides to innovate and/or export, it needs to pay entry costs, which are waived if it innovates and exports in the previous period, due to re-utilizing facilities in the past period. </a:t>
                </a:r>
              </a:p>
              <a:p>
                <a:r>
                  <a:rPr lang="en-AU" sz="2600" dirty="0"/>
                  <a:t>In addition, decisions at stage three affect the evolution of state variable (</a:t>
                </a:r>
                <a14:m>
                  <m:oMath xmlns:m="http://schemas.openxmlformats.org/officeDocument/2006/math">
                    <m:f>
                      <m:fPr>
                        <m:ctrlPr>
                          <a:rPr lang="en-AU" sz="2600" i="1">
                            <a:latin typeface="Cambria Math" panose="02040503050406030204" pitchFamily="18" charset="0"/>
                          </a:rPr>
                        </m:ctrlPr>
                      </m:fPr>
                      <m:num>
                        <m:r>
                          <a:rPr lang="en-AU" sz="2600">
                            <a:latin typeface="Cambria Math" panose="02040503050406030204" pitchFamily="18" charset="0"/>
                          </a:rPr>
                          <m:t>𝜓</m:t>
                        </m:r>
                      </m:num>
                      <m:den>
                        <m:r>
                          <a:rPr lang="en-AU" sz="2600">
                            <a:latin typeface="Cambria Math" panose="02040503050406030204" pitchFamily="18" charset="0"/>
                          </a:rPr>
                          <m:t>𝑤</m:t>
                        </m:r>
                        <m:r>
                          <a:rPr lang="en-AU" sz="2600">
                            <a:latin typeface="Cambria Math" panose="02040503050406030204" pitchFamily="18" charset="0"/>
                          </a:rPr>
                          <m:t>+</m:t>
                        </m:r>
                        <m:r>
                          <a:rPr lang="en-AU" sz="2600">
                            <a:latin typeface="Cambria Math" panose="02040503050406030204" pitchFamily="18" charset="0"/>
                          </a:rPr>
                          <m:t>𝑚</m:t>
                        </m:r>
                      </m:den>
                    </m:f>
                  </m:oMath>
                </a14:m>
                <a:r>
                  <a:rPr lang="en-AU" sz="2600" dirty="0"/>
                  <a:t>). Therefore, the stage three decisions are dynamic. </a:t>
                </a:r>
              </a:p>
              <a:p>
                <a:r>
                  <a:rPr lang="en-AU" sz="2600" dirty="0"/>
                  <a:t>In making decisions, firms form belief on the evolution of state variables. </a:t>
                </a:r>
              </a:p>
            </p:txBody>
          </p:sp>
        </mc:Choice>
        <mc:Fallback xmlns="">
          <p:sp>
            <p:nvSpPr>
              <p:cNvPr id="3" name="Content Placeholder 2">
                <a:extLst>
                  <a:ext uri="{FF2B5EF4-FFF2-40B4-BE49-F238E27FC236}">
                    <a16:creationId xmlns:a16="http://schemas.microsoft.com/office/drawing/2014/main" id="{556FF2BD-EDDF-0D69-513B-931FBFDC1F88}"/>
                  </a:ext>
                </a:extLst>
              </p:cNvPr>
              <p:cNvSpPr>
                <a:spLocks noGrp="1" noRot="1" noChangeAspect="1" noMove="1" noResize="1" noEditPoints="1" noAdjustHandles="1" noChangeArrowheads="1" noChangeShapeType="1" noTextEdit="1"/>
              </p:cNvSpPr>
              <p:nvPr>
                <p:ph idx="1"/>
              </p:nvPr>
            </p:nvSpPr>
            <p:spPr>
              <a:blipFill>
                <a:blip r:embed="rId2"/>
                <a:stretch>
                  <a:fillRect l="-928" t="-2101"/>
                </a:stretch>
              </a:blipFill>
            </p:spPr>
            <p:txBody>
              <a:bodyPr/>
              <a:lstStyle/>
              <a:p>
                <a:r>
                  <a:rPr lang="en-AU">
                    <a:noFill/>
                  </a:rPr>
                  <a:t> </a:t>
                </a:r>
              </a:p>
            </p:txBody>
          </p:sp>
        </mc:Fallback>
      </mc:AlternateContent>
    </p:spTree>
    <p:extLst>
      <p:ext uri="{BB962C8B-B14F-4D97-AF65-F5344CB8AC3E}">
        <p14:creationId xmlns:p14="http://schemas.microsoft.com/office/powerpoint/2010/main" val="33066634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153B3-AFA0-F0E9-B0B6-EBDD772A08AD}"/>
              </a:ext>
            </a:extLst>
          </p:cNvPr>
          <p:cNvSpPr>
            <a:spLocks noGrp="1"/>
          </p:cNvSpPr>
          <p:nvPr>
            <p:ph type="title"/>
          </p:nvPr>
        </p:nvSpPr>
        <p:spPr/>
        <p:txBody>
          <a:bodyPr/>
          <a:lstStyle/>
          <a:p>
            <a:r>
              <a:rPr lang="en-AU" dirty="0"/>
              <a:t>Analytical Framework-Economic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1DF6E23-C231-1CD9-8DE4-2590E0D774CD}"/>
                  </a:ext>
                </a:extLst>
              </p:cNvPr>
              <p:cNvSpPr>
                <a:spLocks noGrp="1"/>
              </p:cNvSpPr>
              <p:nvPr>
                <p:ph idx="1"/>
              </p:nvPr>
            </p:nvSpPr>
            <p:spPr/>
            <p:txBody>
              <a:bodyPr>
                <a:normAutofit lnSpcReduction="10000"/>
              </a:bodyPr>
              <a:lstStyle/>
              <a:p>
                <a:r>
                  <a:rPr lang="en-AU" sz="2600" b="1" dirty="0"/>
                  <a:t>Firms’ </a:t>
                </a:r>
                <a:r>
                  <a:rPr lang="en-AU" sz="2600" b="1" i="1" dirty="0"/>
                  <a:t>belief</a:t>
                </a:r>
                <a:r>
                  <a:rPr lang="en-AU" sz="2600" dirty="0"/>
                  <a:t>. </a:t>
                </a:r>
              </a:p>
              <a:p>
                <a:r>
                  <a:rPr lang="en-AU" sz="2600" dirty="0"/>
                  <a:t>For the future shocks, which affect </a:t>
                </a:r>
                <a14:m>
                  <m:oMath xmlns:m="http://schemas.openxmlformats.org/officeDocument/2006/math">
                    <m:r>
                      <a:rPr lang="en-AU" sz="2600">
                        <a:latin typeface="Cambria Math" panose="02040503050406030204" pitchFamily="18" charset="0"/>
                      </a:rPr>
                      <m:t>𝐴</m:t>
                    </m:r>
                  </m:oMath>
                </a14:m>
                <a:r>
                  <a:rPr lang="en-AU" sz="2600" dirty="0"/>
                  <a:t> and </a:t>
                </a:r>
                <a14:m>
                  <m:oMath xmlns:m="http://schemas.openxmlformats.org/officeDocument/2006/math">
                    <m:acc>
                      <m:accPr>
                        <m:chr m:val="̃"/>
                        <m:ctrlPr>
                          <a:rPr lang="en-AU" sz="2600" i="1">
                            <a:latin typeface="Cambria Math" panose="02040503050406030204" pitchFamily="18" charset="0"/>
                          </a:rPr>
                        </m:ctrlPr>
                      </m:accPr>
                      <m:e>
                        <m:r>
                          <a:rPr lang="en-AU" sz="2600">
                            <a:latin typeface="Cambria Math" panose="02040503050406030204" pitchFamily="18" charset="0"/>
                          </a:rPr>
                          <m:t>𝐴</m:t>
                        </m:r>
                      </m:e>
                    </m:acc>
                  </m:oMath>
                </a14:m>
                <a:r>
                  <a:rPr lang="en-AU" sz="2600" dirty="0"/>
                  <a:t>, firms understand that there is a probability of </a:t>
                </a:r>
                <a14:m>
                  <m:oMath xmlns:m="http://schemas.openxmlformats.org/officeDocument/2006/math">
                    <m:r>
                      <a:rPr lang="en-AU" sz="2600">
                        <a:latin typeface="Cambria Math" panose="02040503050406030204" pitchFamily="18" charset="0"/>
                      </a:rPr>
                      <m:t>1−</m:t>
                    </m:r>
                    <m:r>
                      <a:rPr lang="en-AU" sz="2600">
                        <a:latin typeface="Cambria Math" panose="02040503050406030204" pitchFamily="18" charset="0"/>
                      </a:rPr>
                      <m:t>𝜎</m:t>
                    </m:r>
                  </m:oMath>
                </a14:m>
                <a:r>
                  <a:rPr lang="en-AU" sz="2600" dirty="0"/>
                  <a:t> </a:t>
                </a:r>
                <a14:m>
                  <m:oMath xmlns:m="http://schemas.openxmlformats.org/officeDocument/2006/math">
                    <m:d>
                      <m:dPr>
                        <m:ctrlPr>
                          <a:rPr lang="en-AU" sz="2600" i="1">
                            <a:latin typeface="Cambria Math" panose="02040503050406030204" pitchFamily="18" charset="0"/>
                          </a:rPr>
                        </m:ctrlPr>
                      </m:dPr>
                      <m:e>
                        <m:r>
                          <a:rPr lang="en-AU" sz="2600">
                            <a:latin typeface="Cambria Math" panose="02040503050406030204" pitchFamily="18" charset="0"/>
                          </a:rPr>
                          <m:t>0&lt;</m:t>
                        </m:r>
                        <m:r>
                          <a:rPr lang="en-AU" sz="2600">
                            <a:latin typeface="Cambria Math" panose="02040503050406030204" pitchFamily="18" charset="0"/>
                          </a:rPr>
                          <m:t>𝜎</m:t>
                        </m:r>
                        <m:r>
                          <a:rPr lang="en-AU" sz="2600">
                            <a:latin typeface="Cambria Math" panose="02040503050406030204" pitchFamily="18" charset="0"/>
                          </a:rPr>
                          <m:t>&lt;1</m:t>
                        </m:r>
                      </m:e>
                    </m:d>
                  </m:oMath>
                </a14:m>
                <a:r>
                  <a:rPr lang="en-AU" sz="2600" dirty="0"/>
                  <a:t> that negative shocks will occur, resulting in exit in the next period. Conditional on staying in the market, firms forecast </a:t>
                </a:r>
                <a14:m>
                  <m:oMath xmlns:m="http://schemas.openxmlformats.org/officeDocument/2006/math">
                    <m:r>
                      <a:rPr lang="en-AU" sz="2600">
                        <a:latin typeface="Cambria Math" panose="02040503050406030204" pitchFamily="18" charset="0"/>
                      </a:rPr>
                      <m:t>𝐴</m:t>
                    </m:r>
                  </m:oMath>
                </a14:m>
                <a:r>
                  <a:rPr lang="en-AU" sz="2600" dirty="0"/>
                  <a:t> and </a:t>
                </a:r>
                <a14:m>
                  <m:oMath xmlns:m="http://schemas.openxmlformats.org/officeDocument/2006/math">
                    <m:acc>
                      <m:accPr>
                        <m:chr m:val="̃"/>
                        <m:ctrlPr>
                          <a:rPr lang="en-AU" sz="2600" i="1">
                            <a:latin typeface="Cambria Math" panose="02040503050406030204" pitchFamily="18" charset="0"/>
                          </a:rPr>
                        </m:ctrlPr>
                      </m:accPr>
                      <m:e>
                        <m:r>
                          <a:rPr lang="en-AU" sz="2600">
                            <a:latin typeface="Cambria Math" panose="02040503050406030204" pitchFamily="18" charset="0"/>
                          </a:rPr>
                          <m:t>𝐴</m:t>
                        </m:r>
                      </m:e>
                    </m:acc>
                  </m:oMath>
                </a14:m>
                <a:r>
                  <a:rPr lang="en-AU" sz="2600" dirty="0"/>
                  <a:t> of next period by this period’s </a:t>
                </a:r>
                <a14:m>
                  <m:oMath xmlns:m="http://schemas.openxmlformats.org/officeDocument/2006/math">
                    <m:r>
                      <a:rPr lang="en-AU" sz="2600">
                        <a:latin typeface="Cambria Math" panose="02040503050406030204" pitchFamily="18" charset="0"/>
                      </a:rPr>
                      <m:t>𝐴</m:t>
                    </m:r>
                  </m:oMath>
                </a14:m>
                <a:r>
                  <a:rPr lang="en-AU" sz="2600" dirty="0"/>
                  <a:t> and </a:t>
                </a:r>
                <a14:m>
                  <m:oMath xmlns:m="http://schemas.openxmlformats.org/officeDocument/2006/math">
                    <m:acc>
                      <m:accPr>
                        <m:chr m:val="̃"/>
                        <m:ctrlPr>
                          <a:rPr lang="en-AU" sz="2600" i="1">
                            <a:latin typeface="Cambria Math" panose="02040503050406030204" pitchFamily="18" charset="0"/>
                          </a:rPr>
                        </m:ctrlPr>
                      </m:accPr>
                      <m:e>
                        <m:r>
                          <a:rPr lang="en-AU" sz="2600">
                            <a:latin typeface="Cambria Math" panose="02040503050406030204" pitchFamily="18" charset="0"/>
                          </a:rPr>
                          <m:t>𝐴</m:t>
                        </m:r>
                      </m:e>
                    </m:acc>
                  </m:oMath>
                </a14:m>
                <a:r>
                  <a:rPr lang="en-AU" sz="2600" dirty="0"/>
                  <a:t> (akin to an adaptive expectation). </a:t>
                </a:r>
              </a:p>
              <a:p>
                <a:r>
                  <a:rPr lang="en-AU" sz="2600" dirty="0"/>
                  <a:t>For the state variable (</a:t>
                </a:r>
                <a14:m>
                  <m:oMath xmlns:m="http://schemas.openxmlformats.org/officeDocument/2006/math">
                    <m:f>
                      <m:fPr>
                        <m:ctrlPr>
                          <a:rPr lang="en-AU" sz="2600" i="1">
                            <a:latin typeface="Cambria Math" panose="02040503050406030204" pitchFamily="18" charset="0"/>
                          </a:rPr>
                        </m:ctrlPr>
                      </m:fPr>
                      <m:num>
                        <m:r>
                          <a:rPr lang="en-AU" sz="2600">
                            <a:latin typeface="Cambria Math" panose="02040503050406030204" pitchFamily="18" charset="0"/>
                          </a:rPr>
                          <m:t>𝜓</m:t>
                        </m:r>
                      </m:num>
                      <m:den>
                        <m:r>
                          <a:rPr lang="en-AU" sz="2600">
                            <a:latin typeface="Cambria Math" panose="02040503050406030204" pitchFamily="18" charset="0"/>
                          </a:rPr>
                          <m:t>𝑤</m:t>
                        </m:r>
                        <m:r>
                          <a:rPr lang="en-AU" sz="2600">
                            <a:latin typeface="Cambria Math" panose="02040503050406030204" pitchFamily="18" charset="0"/>
                          </a:rPr>
                          <m:t>+</m:t>
                        </m:r>
                        <m:r>
                          <a:rPr lang="en-AU" sz="2600">
                            <a:latin typeface="Cambria Math" panose="02040503050406030204" pitchFamily="18" charset="0"/>
                          </a:rPr>
                          <m:t>𝑚</m:t>
                        </m:r>
                      </m:den>
                    </m:f>
                  </m:oMath>
                </a14:m>
                <a:r>
                  <a:rPr lang="en-AU" sz="2600" dirty="0"/>
                  <a:t>), firms understand that it follows a discrete-state Markov chain, conditional on entry and stay in the market, where the transition probability depends on today’s decisions of whether to innovate and export. Firms estimate the transition probability matrixes from the past experience and other available information. In equilibrium, firms’ estimates of the transition probability are correct.</a:t>
                </a:r>
              </a:p>
              <a:p>
                <a:endParaRPr lang="en-AU" dirty="0"/>
              </a:p>
            </p:txBody>
          </p:sp>
        </mc:Choice>
        <mc:Fallback xmlns="">
          <p:sp>
            <p:nvSpPr>
              <p:cNvPr id="3" name="Content Placeholder 2">
                <a:extLst>
                  <a:ext uri="{FF2B5EF4-FFF2-40B4-BE49-F238E27FC236}">
                    <a16:creationId xmlns:a16="http://schemas.microsoft.com/office/drawing/2014/main" id="{71DF6E23-C231-1CD9-8DE4-2590E0D774CD}"/>
                  </a:ext>
                </a:extLst>
              </p:cNvPr>
              <p:cNvSpPr>
                <a:spLocks noGrp="1" noRot="1" noChangeAspect="1" noMove="1" noResize="1" noEditPoints="1" noAdjustHandles="1" noChangeArrowheads="1" noChangeShapeType="1" noTextEdit="1"/>
              </p:cNvSpPr>
              <p:nvPr>
                <p:ph idx="1"/>
              </p:nvPr>
            </p:nvSpPr>
            <p:spPr>
              <a:blipFill>
                <a:blip r:embed="rId2"/>
                <a:stretch>
                  <a:fillRect l="-928" t="-2801" r="-754" b="-2941"/>
                </a:stretch>
              </a:blipFill>
            </p:spPr>
            <p:txBody>
              <a:bodyPr/>
              <a:lstStyle/>
              <a:p>
                <a:r>
                  <a:rPr lang="en-AU">
                    <a:noFill/>
                  </a:rPr>
                  <a:t> </a:t>
                </a:r>
              </a:p>
            </p:txBody>
          </p:sp>
        </mc:Fallback>
      </mc:AlternateContent>
    </p:spTree>
    <p:extLst>
      <p:ext uri="{BB962C8B-B14F-4D97-AF65-F5344CB8AC3E}">
        <p14:creationId xmlns:p14="http://schemas.microsoft.com/office/powerpoint/2010/main" val="19212278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6EFFD-FCAF-BAC8-9BF4-3F2DD8181473}"/>
              </a:ext>
            </a:extLst>
          </p:cNvPr>
          <p:cNvSpPr>
            <a:spLocks noGrp="1"/>
          </p:cNvSpPr>
          <p:nvPr>
            <p:ph type="title"/>
          </p:nvPr>
        </p:nvSpPr>
        <p:spPr/>
        <p:txBody>
          <a:bodyPr/>
          <a:lstStyle/>
          <a:p>
            <a:r>
              <a:rPr lang="en-AU" dirty="0"/>
              <a:t>Analytical Framework-Economic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2630D1-BF1B-9684-5136-BA064D90ACCB}"/>
                  </a:ext>
                </a:extLst>
              </p:cNvPr>
              <p:cNvSpPr>
                <a:spLocks noGrp="1"/>
              </p:cNvSpPr>
              <p:nvPr>
                <p:ph idx="1"/>
              </p:nvPr>
            </p:nvSpPr>
            <p:spPr/>
            <p:txBody>
              <a:bodyPr>
                <a:normAutofit/>
              </a:bodyPr>
              <a:lstStyle/>
              <a:p>
                <a:r>
                  <a:rPr lang="en-AU" sz="2600" dirty="0"/>
                  <a:t>Given firms’ belief, we can obtain their value functions. </a:t>
                </a:r>
              </a:p>
              <a:p>
                <a:r>
                  <a:rPr lang="en-AU" sz="2600" dirty="0"/>
                  <a:t>The value of choosing </a:t>
                </a:r>
                <a14:m>
                  <m:oMath xmlns:m="http://schemas.openxmlformats.org/officeDocument/2006/math">
                    <m:d>
                      <m:dPr>
                        <m:ctrlPr>
                          <a:rPr lang="en-AU" sz="2600" i="1">
                            <a:latin typeface="Cambria Math" panose="02040503050406030204" pitchFamily="18" charset="0"/>
                          </a:rPr>
                        </m:ctrlPr>
                      </m:dPr>
                      <m:e>
                        <m:sSub>
                          <m:sSubPr>
                            <m:ctrlPr>
                              <a:rPr lang="en-AU" sz="2600" i="1">
                                <a:latin typeface="Cambria Math" panose="02040503050406030204" pitchFamily="18" charset="0"/>
                              </a:rPr>
                            </m:ctrlPr>
                          </m:sSubPr>
                          <m:e>
                            <m:r>
                              <a:rPr lang="en-AU" sz="2600">
                                <a:latin typeface="Cambria Math" panose="02040503050406030204" pitchFamily="18" charset="0"/>
                              </a:rPr>
                              <m:t>𝜒</m:t>
                            </m:r>
                          </m:e>
                          <m:sub>
                            <m:r>
                              <a:rPr lang="en-AU" sz="2600">
                                <a:latin typeface="Cambria Math" panose="02040503050406030204" pitchFamily="18" charset="0"/>
                              </a:rPr>
                              <m:t>1</m:t>
                            </m:r>
                          </m:sub>
                        </m:sSub>
                        <m:r>
                          <a:rPr lang="en-AU" sz="2600">
                            <a:latin typeface="Cambria Math" panose="02040503050406030204" pitchFamily="18" charset="0"/>
                          </a:rPr>
                          <m:t>,</m:t>
                        </m:r>
                        <m:sSub>
                          <m:sSubPr>
                            <m:ctrlPr>
                              <a:rPr lang="en-AU" sz="2600" i="1">
                                <a:latin typeface="Cambria Math" panose="02040503050406030204" pitchFamily="18" charset="0"/>
                              </a:rPr>
                            </m:ctrlPr>
                          </m:sSubPr>
                          <m:e>
                            <m:r>
                              <a:rPr lang="en-AU" sz="2600">
                                <a:latin typeface="Cambria Math" panose="02040503050406030204" pitchFamily="18" charset="0"/>
                              </a:rPr>
                              <m:t>𝜒</m:t>
                            </m:r>
                          </m:e>
                          <m:sub>
                            <m:r>
                              <a:rPr lang="en-AU" sz="2600">
                                <a:latin typeface="Cambria Math" panose="02040503050406030204" pitchFamily="18" charset="0"/>
                              </a:rPr>
                              <m:t>2</m:t>
                            </m:r>
                          </m:sub>
                        </m:sSub>
                      </m:e>
                    </m:d>
                    <m:r>
                      <a:rPr lang="en-AU" sz="2600">
                        <a:latin typeface="Cambria Math" panose="02040503050406030204" pitchFamily="18" charset="0"/>
                      </a:rPr>
                      <m:t>=</m:t>
                    </m:r>
                    <m:d>
                      <m:dPr>
                        <m:ctrlPr>
                          <a:rPr lang="en-AU" sz="2600" i="1">
                            <a:latin typeface="Cambria Math" panose="02040503050406030204" pitchFamily="18" charset="0"/>
                          </a:rPr>
                        </m:ctrlPr>
                      </m:dPr>
                      <m:e>
                        <m:r>
                          <a:rPr lang="en-AU" sz="2600">
                            <a:latin typeface="Cambria Math" panose="02040503050406030204" pitchFamily="18" charset="0"/>
                          </a:rPr>
                          <m:t>0,0</m:t>
                        </m:r>
                      </m:e>
                    </m:d>
                  </m:oMath>
                </a14:m>
                <a:r>
                  <a:rPr lang="en-AU" sz="2600" dirty="0"/>
                  <a:t>, normalized by the fixed cost of production, is </a:t>
                </a:r>
                <a14:m>
                  <m:oMath xmlns:m="http://schemas.openxmlformats.org/officeDocument/2006/math">
                    <m:sSub>
                      <m:sSubPr>
                        <m:ctrlPr>
                          <a:rPr lang="en-AU" sz="2600" i="1">
                            <a:latin typeface="Cambria Math" panose="02040503050406030204" pitchFamily="18" charset="0"/>
                          </a:rPr>
                        </m:ctrlPr>
                      </m:sSubPr>
                      <m:e>
                        <m:r>
                          <a:rPr lang="en-AU" sz="2600">
                            <a:latin typeface="Cambria Math" panose="02040503050406030204" pitchFamily="18" charset="0"/>
                          </a:rPr>
                          <m:t>𝑣</m:t>
                        </m:r>
                      </m:e>
                      <m:sub>
                        <m:d>
                          <m:dPr>
                            <m:ctrlPr>
                              <a:rPr lang="en-AU" sz="2600" i="1">
                                <a:latin typeface="Cambria Math" panose="02040503050406030204" pitchFamily="18" charset="0"/>
                              </a:rPr>
                            </m:ctrlPr>
                          </m:dPr>
                          <m:e>
                            <m:r>
                              <a:rPr lang="en-AU" sz="2600">
                                <a:latin typeface="Cambria Math" panose="02040503050406030204" pitchFamily="18" charset="0"/>
                              </a:rPr>
                              <m:t>0,0</m:t>
                            </m:r>
                          </m:e>
                        </m:d>
                      </m:sub>
                    </m:sSub>
                    <m:r>
                      <a:rPr lang="en-AU" sz="2600">
                        <a:latin typeface="Cambria Math" panose="02040503050406030204" pitchFamily="18" charset="0"/>
                      </a:rPr>
                      <m:t>≡</m:t>
                    </m:r>
                    <m:f>
                      <m:fPr>
                        <m:ctrlPr>
                          <a:rPr lang="en-AU" sz="2600" i="1">
                            <a:latin typeface="Cambria Math" panose="02040503050406030204" pitchFamily="18" charset="0"/>
                          </a:rPr>
                        </m:ctrlPr>
                      </m:fPr>
                      <m:num>
                        <m:r>
                          <a:rPr lang="en-AU" sz="2600">
                            <a:latin typeface="Cambria Math" panose="02040503050406030204" pitchFamily="18" charset="0"/>
                          </a:rPr>
                          <m:t>1</m:t>
                        </m:r>
                      </m:num>
                      <m:den>
                        <m:r>
                          <a:rPr lang="en-AU" sz="2600">
                            <a:latin typeface="Cambria Math" panose="02040503050406030204" pitchFamily="18" charset="0"/>
                          </a:rPr>
                          <m:t>𝑓</m:t>
                        </m:r>
                      </m:den>
                    </m:f>
                    <m:sSub>
                      <m:sSubPr>
                        <m:ctrlPr>
                          <a:rPr lang="en-AU" sz="2600" i="1">
                            <a:latin typeface="Cambria Math" panose="02040503050406030204" pitchFamily="18" charset="0"/>
                          </a:rPr>
                        </m:ctrlPr>
                      </m:sSubPr>
                      <m:e>
                        <m:acc>
                          <m:accPr>
                            <m:chr m:val="̌"/>
                            <m:ctrlPr>
                              <a:rPr lang="en-AU" sz="2600" i="1">
                                <a:latin typeface="Cambria Math" panose="02040503050406030204" pitchFamily="18" charset="0"/>
                              </a:rPr>
                            </m:ctrlPr>
                          </m:accPr>
                          <m:e>
                            <m:r>
                              <a:rPr lang="en-AU" sz="2600">
                                <a:latin typeface="Cambria Math" panose="02040503050406030204" pitchFamily="18" charset="0"/>
                              </a:rPr>
                              <m:t>𝑣</m:t>
                            </m:r>
                          </m:e>
                        </m:acc>
                      </m:e>
                      <m:sub>
                        <m:d>
                          <m:dPr>
                            <m:ctrlPr>
                              <a:rPr lang="en-AU" sz="2600" i="1">
                                <a:latin typeface="Cambria Math" panose="02040503050406030204" pitchFamily="18" charset="0"/>
                              </a:rPr>
                            </m:ctrlPr>
                          </m:dPr>
                          <m:e>
                            <m:r>
                              <a:rPr lang="en-AU" sz="2600">
                                <a:latin typeface="Cambria Math" panose="02040503050406030204" pitchFamily="18" charset="0"/>
                              </a:rPr>
                              <m:t>0,0</m:t>
                            </m:r>
                          </m:e>
                        </m:d>
                      </m:sub>
                    </m:sSub>
                    <m:r>
                      <a:rPr lang="en-AU" sz="2600">
                        <a:latin typeface="Cambria Math" panose="02040503050406030204" pitchFamily="18" charset="0"/>
                      </a:rPr>
                      <m:t>=</m:t>
                    </m:r>
                    <m:d>
                      <m:dPr>
                        <m:ctrlPr>
                          <a:rPr lang="en-AU" sz="2600" i="1">
                            <a:latin typeface="Cambria Math" panose="02040503050406030204" pitchFamily="18" charset="0"/>
                          </a:rPr>
                        </m:ctrlPr>
                      </m:dPr>
                      <m:e>
                        <m:r>
                          <a:rPr lang="en-AU" sz="2600">
                            <a:latin typeface="Cambria Math" panose="02040503050406030204" pitchFamily="18" charset="0"/>
                          </a:rPr>
                          <m:t>1−</m:t>
                        </m:r>
                        <m:r>
                          <a:rPr lang="en-AU" sz="2600">
                            <a:latin typeface="Cambria Math" panose="02040503050406030204" pitchFamily="18" charset="0"/>
                          </a:rPr>
                          <m:t>𝜌</m:t>
                        </m:r>
                      </m:e>
                    </m:d>
                    <m:sSup>
                      <m:sSupPr>
                        <m:ctrlPr>
                          <a:rPr lang="en-AU" sz="2600" i="1">
                            <a:latin typeface="Cambria Math" panose="02040503050406030204" pitchFamily="18" charset="0"/>
                          </a:rPr>
                        </m:ctrlPr>
                      </m:sSupPr>
                      <m:e>
                        <m:r>
                          <a:rPr lang="en-AU" sz="2600">
                            <a:latin typeface="Cambria Math" panose="02040503050406030204" pitchFamily="18" charset="0"/>
                          </a:rPr>
                          <m:t>𝜌</m:t>
                        </m:r>
                      </m:e>
                      <m:sup>
                        <m:f>
                          <m:fPr>
                            <m:ctrlPr>
                              <a:rPr lang="en-AU" sz="2600" i="1">
                                <a:latin typeface="Cambria Math" panose="02040503050406030204" pitchFamily="18" charset="0"/>
                              </a:rPr>
                            </m:ctrlPr>
                          </m:fPr>
                          <m:num>
                            <m:r>
                              <a:rPr lang="en-AU" sz="2600">
                                <a:latin typeface="Cambria Math" panose="02040503050406030204" pitchFamily="18" charset="0"/>
                              </a:rPr>
                              <m:t>𝜌</m:t>
                            </m:r>
                          </m:num>
                          <m:den>
                            <m:r>
                              <a:rPr lang="en-AU" sz="2600">
                                <a:latin typeface="Cambria Math" panose="02040503050406030204" pitchFamily="18" charset="0"/>
                              </a:rPr>
                              <m:t>1−</m:t>
                            </m:r>
                            <m:r>
                              <a:rPr lang="en-AU" sz="2600">
                                <a:latin typeface="Cambria Math" panose="02040503050406030204" pitchFamily="18" charset="0"/>
                              </a:rPr>
                              <m:t>𝜌</m:t>
                            </m:r>
                          </m:den>
                        </m:f>
                      </m:sup>
                    </m:sSup>
                    <m:f>
                      <m:fPr>
                        <m:ctrlPr>
                          <a:rPr lang="en-AU" sz="2600" i="1">
                            <a:latin typeface="Cambria Math" panose="02040503050406030204" pitchFamily="18" charset="0"/>
                          </a:rPr>
                        </m:ctrlPr>
                      </m:fPr>
                      <m:num>
                        <m:r>
                          <a:rPr lang="en-AU" sz="2600">
                            <a:latin typeface="Cambria Math" panose="02040503050406030204" pitchFamily="18" charset="0"/>
                          </a:rPr>
                          <m:t>1</m:t>
                        </m:r>
                      </m:num>
                      <m:den>
                        <m:r>
                          <a:rPr lang="en-AU" sz="2600">
                            <a:latin typeface="Cambria Math" panose="02040503050406030204" pitchFamily="18" charset="0"/>
                          </a:rPr>
                          <m:t>𝑓</m:t>
                        </m:r>
                      </m:den>
                    </m:f>
                    <m:r>
                      <a:rPr lang="en-AU" sz="2600">
                        <a:latin typeface="Cambria Math" panose="02040503050406030204" pitchFamily="18" charset="0"/>
                      </a:rPr>
                      <m:t>𝐴</m:t>
                    </m:r>
                    <m:sSup>
                      <m:sSupPr>
                        <m:ctrlPr>
                          <a:rPr lang="en-AU" sz="2600" i="1">
                            <a:latin typeface="Cambria Math" panose="02040503050406030204" pitchFamily="18" charset="0"/>
                          </a:rPr>
                        </m:ctrlPr>
                      </m:sSupPr>
                      <m:e>
                        <m:d>
                          <m:dPr>
                            <m:ctrlPr>
                              <a:rPr lang="en-AU" sz="2600" i="1">
                                <a:latin typeface="Cambria Math" panose="02040503050406030204" pitchFamily="18" charset="0"/>
                              </a:rPr>
                            </m:ctrlPr>
                          </m:dPr>
                          <m:e>
                            <m:r>
                              <a:rPr lang="en-AU" sz="2600">
                                <a:latin typeface="Cambria Math" panose="02040503050406030204" pitchFamily="18" charset="0"/>
                              </a:rPr>
                              <m:t>𝑤</m:t>
                            </m:r>
                            <m:r>
                              <a:rPr lang="en-AU" sz="2600">
                                <a:latin typeface="Cambria Math" panose="02040503050406030204" pitchFamily="18" charset="0"/>
                              </a:rPr>
                              <m:t>+</m:t>
                            </m:r>
                            <m:r>
                              <a:rPr lang="en-AU" sz="2600">
                                <a:latin typeface="Cambria Math" panose="02040503050406030204" pitchFamily="18" charset="0"/>
                              </a:rPr>
                              <m:t>𝑚</m:t>
                            </m:r>
                          </m:e>
                        </m:d>
                      </m:e>
                      <m:sup>
                        <m:f>
                          <m:fPr>
                            <m:ctrlPr>
                              <a:rPr lang="en-AU" sz="2600" i="1">
                                <a:latin typeface="Cambria Math" panose="02040503050406030204" pitchFamily="18" charset="0"/>
                              </a:rPr>
                            </m:ctrlPr>
                          </m:fPr>
                          <m:num>
                            <m:r>
                              <a:rPr lang="en-AU" sz="2600">
                                <a:latin typeface="Cambria Math" panose="02040503050406030204" pitchFamily="18" charset="0"/>
                              </a:rPr>
                              <m:t>𝜌</m:t>
                            </m:r>
                          </m:num>
                          <m:den>
                            <m:r>
                              <a:rPr lang="en-AU" sz="2600">
                                <a:latin typeface="Cambria Math" panose="02040503050406030204" pitchFamily="18" charset="0"/>
                              </a:rPr>
                              <m:t>𝜌</m:t>
                            </m:r>
                            <m:r>
                              <a:rPr lang="en-AU" sz="2600">
                                <a:latin typeface="Cambria Math" panose="02040503050406030204" pitchFamily="18" charset="0"/>
                              </a:rPr>
                              <m:t>−1</m:t>
                            </m:r>
                          </m:den>
                        </m:f>
                      </m:sup>
                    </m:sSup>
                    <m:sSup>
                      <m:sSupPr>
                        <m:ctrlPr>
                          <a:rPr lang="en-AU" sz="2600" i="1">
                            <a:latin typeface="Cambria Math" panose="02040503050406030204" pitchFamily="18" charset="0"/>
                          </a:rPr>
                        </m:ctrlPr>
                      </m:sSupPr>
                      <m:e>
                        <m:r>
                          <a:rPr lang="en-AU" sz="2600">
                            <a:latin typeface="Cambria Math" panose="02040503050406030204" pitchFamily="18" charset="0"/>
                          </a:rPr>
                          <m:t>𝜓</m:t>
                        </m:r>
                      </m:e>
                      <m:sup>
                        <m:f>
                          <m:fPr>
                            <m:ctrlPr>
                              <a:rPr lang="en-AU" sz="2600" i="1">
                                <a:latin typeface="Cambria Math" panose="02040503050406030204" pitchFamily="18" charset="0"/>
                              </a:rPr>
                            </m:ctrlPr>
                          </m:fPr>
                          <m:num>
                            <m:r>
                              <a:rPr lang="en-AU" sz="2600">
                                <a:latin typeface="Cambria Math" panose="02040503050406030204" pitchFamily="18" charset="0"/>
                              </a:rPr>
                              <m:t>𝜌</m:t>
                            </m:r>
                          </m:num>
                          <m:den>
                            <m:r>
                              <a:rPr lang="en-AU" sz="2600">
                                <a:latin typeface="Cambria Math" panose="02040503050406030204" pitchFamily="18" charset="0"/>
                              </a:rPr>
                              <m:t>1−</m:t>
                            </m:r>
                            <m:r>
                              <a:rPr lang="en-AU" sz="2600">
                                <a:latin typeface="Cambria Math" panose="02040503050406030204" pitchFamily="18" charset="0"/>
                              </a:rPr>
                              <m:t>𝜌</m:t>
                            </m:r>
                          </m:den>
                        </m:f>
                      </m:sup>
                    </m:sSup>
                    <m:sSubSup>
                      <m:sSubSupPr>
                        <m:ctrlPr>
                          <a:rPr lang="en-AU" sz="2600" i="1">
                            <a:latin typeface="Cambria Math" panose="02040503050406030204" pitchFamily="18" charset="0"/>
                          </a:rPr>
                        </m:ctrlPr>
                      </m:sSubSupPr>
                      <m:e>
                        <m:r>
                          <a:rPr lang="en-AU" sz="2600">
                            <a:latin typeface="Cambria Math" panose="02040503050406030204" pitchFamily="18" charset="0"/>
                          </a:rPr>
                          <m:t>𝜆</m:t>
                        </m:r>
                      </m:e>
                      <m:sub>
                        <m:r>
                          <a:rPr lang="en-AU" sz="2600">
                            <a:latin typeface="Cambria Math" panose="02040503050406030204" pitchFamily="18" charset="0"/>
                          </a:rPr>
                          <m:t>1</m:t>
                        </m:r>
                      </m:sub>
                      <m:sup>
                        <m:f>
                          <m:fPr>
                            <m:ctrlPr>
                              <a:rPr lang="en-AU" sz="2600" i="1">
                                <a:latin typeface="Cambria Math" panose="02040503050406030204" pitchFamily="18" charset="0"/>
                              </a:rPr>
                            </m:ctrlPr>
                          </m:fPr>
                          <m:num>
                            <m:r>
                              <a:rPr lang="en-AU" sz="2600">
                                <a:latin typeface="Cambria Math" panose="02040503050406030204" pitchFamily="18" charset="0"/>
                              </a:rPr>
                              <m:t>𝜌</m:t>
                            </m:r>
                          </m:num>
                          <m:den>
                            <m:r>
                              <a:rPr lang="en-AU" sz="2600">
                                <a:latin typeface="Cambria Math" panose="02040503050406030204" pitchFamily="18" charset="0"/>
                              </a:rPr>
                              <m:t>1−</m:t>
                            </m:r>
                            <m:r>
                              <a:rPr lang="en-AU" sz="2600">
                                <a:latin typeface="Cambria Math" panose="02040503050406030204" pitchFamily="18" charset="0"/>
                              </a:rPr>
                              <m:t>𝜌</m:t>
                            </m:r>
                          </m:den>
                        </m:f>
                      </m:sup>
                    </m:sSubSup>
                    <m:r>
                      <a:rPr lang="en-AU" sz="2600">
                        <a:latin typeface="Cambria Math" panose="02040503050406030204" pitchFamily="18" charset="0"/>
                      </a:rPr>
                      <m:t>−1+</m:t>
                    </m:r>
                    <m:r>
                      <a:rPr lang="en-AU" sz="2600">
                        <a:latin typeface="Cambria Math" panose="02040503050406030204" pitchFamily="18" charset="0"/>
                      </a:rPr>
                      <m:t>𝛿𝜎</m:t>
                    </m:r>
                    <m:sSub>
                      <m:sSubPr>
                        <m:ctrlPr>
                          <a:rPr lang="en-AU" sz="2600" i="1">
                            <a:latin typeface="Cambria Math" panose="02040503050406030204" pitchFamily="18" charset="0"/>
                          </a:rPr>
                        </m:ctrlPr>
                      </m:sSubPr>
                      <m:e>
                        <m:r>
                          <a:rPr lang="en-AU" sz="2600">
                            <a:latin typeface="Cambria Math" panose="02040503050406030204" pitchFamily="18" charset="0"/>
                          </a:rPr>
                          <m:t>𝐸𝑣</m:t>
                        </m:r>
                      </m:e>
                      <m:sub>
                        <m:d>
                          <m:dPr>
                            <m:ctrlPr>
                              <a:rPr lang="en-AU" sz="2600" i="1">
                                <a:latin typeface="Cambria Math" panose="02040503050406030204" pitchFamily="18" charset="0"/>
                              </a:rPr>
                            </m:ctrlPr>
                          </m:dPr>
                          <m:e>
                            <m:r>
                              <a:rPr lang="en-AU" sz="2600">
                                <a:latin typeface="Cambria Math" panose="02040503050406030204" pitchFamily="18" charset="0"/>
                              </a:rPr>
                              <m:t>0,0</m:t>
                            </m:r>
                          </m:e>
                        </m:d>
                      </m:sub>
                    </m:sSub>
                  </m:oMath>
                </a14:m>
                <a:r>
                  <a:rPr lang="en-AU" sz="2600" dirty="0"/>
                  <a:t> </a:t>
                </a:r>
              </a:p>
            </p:txBody>
          </p:sp>
        </mc:Choice>
        <mc:Fallback xmlns="">
          <p:sp>
            <p:nvSpPr>
              <p:cNvPr id="3" name="Content Placeholder 2">
                <a:extLst>
                  <a:ext uri="{FF2B5EF4-FFF2-40B4-BE49-F238E27FC236}">
                    <a16:creationId xmlns:a16="http://schemas.microsoft.com/office/drawing/2014/main" id="{4A2630D1-BF1B-9684-5136-BA064D90ACCB}"/>
                  </a:ext>
                </a:extLst>
              </p:cNvPr>
              <p:cNvSpPr>
                <a:spLocks noGrp="1" noRot="1" noChangeAspect="1" noMove="1" noResize="1" noEditPoints="1" noAdjustHandles="1" noChangeArrowheads="1" noChangeShapeType="1" noTextEdit="1"/>
              </p:cNvSpPr>
              <p:nvPr>
                <p:ph idx="1"/>
              </p:nvPr>
            </p:nvSpPr>
            <p:spPr>
              <a:blipFill>
                <a:blip r:embed="rId2"/>
                <a:stretch>
                  <a:fillRect l="-928" t="-2101"/>
                </a:stretch>
              </a:blipFill>
            </p:spPr>
            <p:txBody>
              <a:bodyPr/>
              <a:lstStyle/>
              <a:p>
                <a:r>
                  <a:rPr lang="en-AU">
                    <a:noFill/>
                  </a:rPr>
                  <a:t> </a:t>
                </a:r>
              </a:p>
            </p:txBody>
          </p:sp>
        </mc:Fallback>
      </mc:AlternateContent>
    </p:spTree>
    <p:extLst>
      <p:ext uri="{BB962C8B-B14F-4D97-AF65-F5344CB8AC3E}">
        <p14:creationId xmlns:p14="http://schemas.microsoft.com/office/powerpoint/2010/main" val="28144228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36630-179E-A5B5-9447-8C1FE651CEEE}"/>
              </a:ext>
            </a:extLst>
          </p:cNvPr>
          <p:cNvSpPr>
            <a:spLocks noGrp="1"/>
          </p:cNvSpPr>
          <p:nvPr>
            <p:ph type="title"/>
          </p:nvPr>
        </p:nvSpPr>
        <p:spPr/>
        <p:txBody>
          <a:bodyPr/>
          <a:lstStyle/>
          <a:p>
            <a:r>
              <a:rPr lang="en-AU" dirty="0"/>
              <a:t>Analytical Framework-Economic Model</a:t>
            </a:r>
          </a:p>
        </p:txBody>
      </p:sp>
      <p:sp>
        <p:nvSpPr>
          <p:cNvPr id="3" name="Content Placeholder 2">
            <a:extLst>
              <a:ext uri="{FF2B5EF4-FFF2-40B4-BE49-F238E27FC236}">
                <a16:creationId xmlns:a16="http://schemas.microsoft.com/office/drawing/2014/main" id="{B255658D-58CB-F551-4F0D-EBF3D9356246}"/>
              </a:ext>
            </a:extLst>
          </p:cNvPr>
          <p:cNvSpPr>
            <a:spLocks noGrp="1"/>
          </p:cNvSpPr>
          <p:nvPr>
            <p:ph idx="1"/>
          </p:nvPr>
        </p:nvSpPr>
        <p:spPr/>
        <p:txBody>
          <a:bodyPr/>
          <a:lstStyle/>
          <a:p>
            <a:r>
              <a:rPr lang="en-US" dirty="0"/>
              <a:t>At stage two, if the realized shock is negative (namely it reduces the per-period profit) and sufficiently large such that the value of staying in the market is less than its liquidation value, the firm exits. </a:t>
            </a:r>
          </a:p>
          <a:p>
            <a:r>
              <a:rPr lang="en-US" dirty="0"/>
              <a:t>At stage one, firms’ value functions depend on their capability endowments. If the realized capability endowments are such that the value functions are negative, firms do not enter the market. </a:t>
            </a:r>
          </a:p>
          <a:p>
            <a:r>
              <a:rPr lang="en-US" dirty="0"/>
              <a:t>The stage two decision results in an endogenous sample attrition, while the stage one problem leads to an endogenous sample selection. </a:t>
            </a:r>
            <a:endParaRPr lang="en-AU" dirty="0"/>
          </a:p>
        </p:txBody>
      </p:sp>
    </p:spTree>
    <p:extLst>
      <p:ext uri="{BB962C8B-B14F-4D97-AF65-F5344CB8AC3E}">
        <p14:creationId xmlns:p14="http://schemas.microsoft.com/office/powerpoint/2010/main" val="12474475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191E9-5753-0F0D-4CA8-CD7CB931AE5F}"/>
              </a:ext>
            </a:extLst>
          </p:cNvPr>
          <p:cNvSpPr>
            <a:spLocks noGrp="1"/>
          </p:cNvSpPr>
          <p:nvPr>
            <p:ph type="title"/>
          </p:nvPr>
        </p:nvSpPr>
        <p:spPr/>
        <p:txBody>
          <a:bodyPr/>
          <a:lstStyle/>
          <a:p>
            <a:r>
              <a:rPr lang="en-AU" dirty="0"/>
              <a:t>Analytical Framework-Estimation Strategy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8A2B7C9-AE4E-C475-964B-A78C975AFBA5}"/>
                  </a:ext>
                </a:extLst>
              </p:cNvPr>
              <p:cNvSpPr>
                <a:spLocks noGrp="1"/>
              </p:cNvSpPr>
              <p:nvPr>
                <p:ph idx="1"/>
              </p:nvPr>
            </p:nvSpPr>
            <p:spPr/>
            <p:txBody>
              <a:bodyPr>
                <a:normAutofit/>
              </a:bodyPr>
              <a:lstStyle/>
              <a:p>
                <a:r>
                  <a:rPr lang="en-AU" dirty="0"/>
                  <a:t>In step one, we first estimate the CES preference parameters, </a:t>
                </a:r>
                <a14:m>
                  <m:oMath xmlns:m="http://schemas.openxmlformats.org/officeDocument/2006/math">
                    <m:r>
                      <a:rPr lang="en-AU">
                        <a:latin typeface="Cambria Math" panose="02040503050406030204" pitchFamily="18" charset="0"/>
                      </a:rPr>
                      <m:t>𝜌</m:t>
                    </m:r>
                  </m:oMath>
                </a14:m>
                <a:r>
                  <a:rPr lang="en-AU" dirty="0"/>
                  <a:t> and </a:t>
                </a:r>
                <a14:m>
                  <m:oMath xmlns:m="http://schemas.openxmlformats.org/officeDocument/2006/math">
                    <m:acc>
                      <m:accPr>
                        <m:chr m:val="̃"/>
                        <m:ctrlPr>
                          <a:rPr lang="en-AU" i="1">
                            <a:latin typeface="Cambria Math" panose="02040503050406030204" pitchFamily="18" charset="0"/>
                          </a:rPr>
                        </m:ctrlPr>
                      </m:accPr>
                      <m:e>
                        <m:r>
                          <a:rPr lang="en-AU">
                            <a:latin typeface="Cambria Math" panose="02040503050406030204" pitchFamily="18" charset="0"/>
                          </a:rPr>
                          <m:t>𝜌</m:t>
                        </m:r>
                      </m:e>
                    </m:acc>
                  </m:oMath>
                </a14:m>
                <a:endParaRPr lang="en-AU" dirty="0"/>
              </a:p>
              <a:p>
                <a14:m>
                  <m:oMath xmlns:m="http://schemas.openxmlformats.org/officeDocument/2006/math">
                    <m:r>
                      <a:rPr lang="en-AU">
                        <a:latin typeface="Cambria Math" panose="02040503050406030204" pitchFamily="18" charset="0"/>
                      </a:rPr>
                      <m:t>𝑇𝑉𝐶</m:t>
                    </m:r>
                    <m:r>
                      <a:rPr lang="en-AU">
                        <a:latin typeface="Cambria Math" panose="02040503050406030204" pitchFamily="18" charset="0"/>
                      </a:rPr>
                      <m:t>=</m:t>
                    </m:r>
                    <m:r>
                      <a:rPr lang="en-AU">
                        <a:latin typeface="Cambria Math" panose="02040503050406030204" pitchFamily="18" charset="0"/>
                      </a:rPr>
                      <m:t>𝜌</m:t>
                    </m:r>
                    <m:r>
                      <a:rPr lang="en-AU">
                        <a:latin typeface="Cambria Math" panose="02040503050406030204" pitchFamily="18" charset="0"/>
                      </a:rPr>
                      <m:t>𝑅</m:t>
                    </m:r>
                    <m:r>
                      <a:rPr lang="en-AU">
                        <a:latin typeface="Cambria Math" panose="02040503050406030204" pitchFamily="18" charset="0"/>
                      </a:rPr>
                      <m:t>+</m:t>
                    </m:r>
                    <m:acc>
                      <m:accPr>
                        <m:chr m:val="̃"/>
                        <m:ctrlPr>
                          <a:rPr lang="en-AU" i="1">
                            <a:latin typeface="Cambria Math" panose="02040503050406030204" pitchFamily="18" charset="0"/>
                          </a:rPr>
                        </m:ctrlPr>
                      </m:accPr>
                      <m:e>
                        <m:r>
                          <a:rPr lang="en-AU">
                            <a:latin typeface="Cambria Math" panose="02040503050406030204" pitchFamily="18" charset="0"/>
                          </a:rPr>
                          <m:t>𝜌</m:t>
                        </m:r>
                      </m:e>
                    </m:acc>
                    <m:acc>
                      <m:accPr>
                        <m:chr m:val="̃"/>
                        <m:ctrlPr>
                          <a:rPr lang="en-AU" i="1">
                            <a:latin typeface="Cambria Math" panose="02040503050406030204" pitchFamily="18" charset="0"/>
                          </a:rPr>
                        </m:ctrlPr>
                      </m:accPr>
                      <m:e>
                        <m:r>
                          <a:rPr lang="en-AU">
                            <a:latin typeface="Cambria Math" panose="02040503050406030204" pitchFamily="18" charset="0"/>
                          </a:rPr>
                          <m:t>𝑅</m:t>
                        </m:r>
                      </m:e>
                    </m:acc>
                    <m:r>
                      <a:rPr lang="en-AU">
                        <a:latin typeface="Cambria Math" panose="02040503050406030204" pitchFamily="18" charset="0"/>
                      </a:rPr>
                      <m:t>+</m:t>
                    </m:r>
                    <m:sSub>
                      <m:sSubPr>
                        <m:ctrlPr>
                          <a:rPr lang="en-AU" i="1">
                            <a:latin typeface="Cambria Math" panose="02040503050406030204" pitchFamily="18" charset="0"/>
                          </a:rPr>
                        </m:ctrlPr>
                      </m:sSubPr>
                      <m:e>
                        <m:r>
                          <a:rPr lang="en-AU">
                            <a:latin typeface="Cambria Math" panose="02040503050406030204" pitchFamily="18" charset="0"/>
                          </a:rPr>
                          <m:t>𝜀</m:t>
                        </m:r>
                      </m:e>
                      <m:sub>
                        <m:r>
                          <a:rPr lang="en-AU">
                            <a:latin typeface="Cambria Math" panose="02040503050406030204" pitchFamily="18" charset="0"/>
                          </a:rPr>
                          <m:t>1</m:t>
                        </m:r>
                      </m:sub>
                    </m:sSub>
                  </m:oMath>
                </a14:m>
                <a:endParaRPr lang="en-AU" dirty="0"/>
              </a:p>
              <a:p>
                <a:r>
                  <a:rPr lang="en-AU" dirty="0"/>
                  <a:t>In step two, we then proceed to estimate the impact of trade liberalization (the WTO accession) on the iceberg trade cost. </a:t>
                </a:r>
              </a:p>
              <a:p>
                <a:r>
                  <a:rPr lang="en-AU" dirty="0"/>
                  <a:t>Firms’ optimal per-period domestic sales and export revenues are </a:t>
                </a:r>
                <a14:m>
                  <m:oMath xmlns:m="http://schemas.openxmlformats.org/officeDocument/2006/math">
                    <m:r>
                      <a:rPr lang="en-AU">
                        <a:latin typeface="Cambria Math" panose="02040503050406030204" pitchFamily="18" charset="0"/>
                      </a:rPr>
                      <m:t>𝑅</m:t>
                    </m:r>
                    <m:r>
                      <a:rPr lang="en-AU">
                        <a:latin typeface="Cambria Math" panose="02040503050406030204" pitchFamily="18" charset="0"/>
                      </a:rPr>
                      <m:t>=</m:t>
                    </m:r>
                    <m:sSup>
                      <m:sSupPr>
                        <m:ctrlPr>
                          <a:rPr lang="en-AU" i="1">
                            <a:latin typeface="Cambria Math" panose="02040503050406030204" pitchFamily="18" charset="0"/>
                          </a:rPr>
                        </m:ctrlPr>
                      </m:sSupPr>
                      <m:e>
                        <m:r>
                          <a:rPr lang="en-AU">
                            <a:latin typeface="Cambria Math" panose="02040503050406030204" pitchFamily="18" charset="0"/>
                          </a:rPr>
                          <m:t>𝜌</m:t>
                        </m:r>
                      </m:e>
                      <m:sup>
                        <m:f>
                          <m:fPr>
                            <m:ctrlPr>
                              <a:rPr lang="en-AU" i="1">
                                <a:latin typeface="Cambria Math" panose="02040503050406030204" pitchFamily="18" charset="0"/>
                              </a:rPr>
                            </m:ctrlPr>
                          </m:fPr>
                          <m:num>
                            <m:r>
                              <a:rPr lang="en-AU">
                                <a:latin typeface="Cambria Math" panose="02040503050406030204" pitchFamily="18" charset="0"/>
                              </a:rPr>
                              <m:t>𝜌</m:t>
                            </m:r>
                          </m:num>
                          <m:den>
                            <m:r>
                              <a:rPr lang="en-AU">
                                <a:latin typeface="Cambria Math" panose="02040503050406030204" pitchFamily="18" charset="0"/>
                              </a:rPr>
                              <m:t>1−</m:t>
                            </m:r>
                            <m:r>
                              <a:rPr lang="en-AU">
                                <a:latin typeface="Cambria Math" panose="02040503050406030204" pitchFamily="18" charset="0"/>
                              </a:rPr>
                              <m:t>𝜌</m:t>
                            </m:r>
                          </m:den>
                        </m:f>
                      </m:sup>
                    </m:sSup>
                    <m:r>
                      <a:rPr lang="en-AU">
                        <a:latin typeface="Cambria Math" panose="02040503050406030204" pitchFamily="18" charset="0"/>
                      </a:rPr>
                      <m:t>𝐴</m:t>
                    </m:r>
                    <m:sSup>
                      <m:sSupPr>
                        <m:ctrlPr>
                          <a:rPr lang="en-AU" i="1">
                            <a:latin typeface="Cambria Math" panose="02040503050406030204" pitchFamily="18" charset="0"/>
                          </a:rPr>
                        </m:ctrlPr>
                      </m:sSupPr>
                      <m:e>
                        <m:r>
                          <a:rPr lang="en-AU">
                            <a:latin typeface="Cambria Math" panose="02040503050406030204" pitchFamily="18" charset="0"/>
                          </a:rPr>
                          <m:t>𝑐</m:t>
                        </m:r>
                      </m:e>
                      <m:sup>
                        <m:f>
                          <m:fPr>
                            <m:ctrlPr>
                              <a:rPr lang="en-AU" i="1">
                                <a:latin typeface="Cambria Math" panose="02040503050406030204" pitchFamily="18" charset="0"/>
                              </a:rPr>
                            </m:ctrlPr>
                          </m:fPr>
                          <m:num>
                            <m:r>
                              <a:rPr lang="en-AU">
                                <a:latin typeface="Cambria Math" panose="02040503050406030204" pitchFamily="18" charset="0"/>
                              </a:rPr>
                              <m:t>𝜌</m:t>
                            </m:r>
                          </m:num>
                          <m:den>
                            <m:r>
                              <a:rPr lang="en-AU">
                                <a:latin typeface="Cambria Math" panose="02040503050406030204" pitchFamily="18" charset="0"/>
                              </a:rPr>
                              <m:t>𝜌</m:t>
                            </m:r>
                            <m:r>
                              <a:rPr lang="en-AU">
                                <a:latin typeface="Cambria Math" panose="02040503050406030204" pitchFamily="18" charset="0"/>
                              </a:rPr>
                              <m:t>−1</m:t>
                            </m:r>
                          </m:den>
                        </m:f>
                      </m:sup>
                    </m:sSup>
                  </m:oMath>
                </a14:m>
                <a:r>
                  <a:rPr lang="en-AU" dirty="0"/>
                  <a:t> and </a:t>
                </a:r>
                <a14:m>
                  <m:oMath xmlns:m="http://schemas.openxmlformats.org/officeDocument/2006/math">
                    <m:acc>
                      <m:accPr>
                        <m:chr m:val="̃"/>
                        <m:ctrlPr>
                          <a:rPr lang="en-AU" i="1">
                            <a:latin typeface="Cambria Math" panose="02040503050406030204" pitchFamily="18" charset="0"/>
                          </a:rPr>
                        </m:ctrlPr>
                      </m:accPr>
                      <m:e>
                        <m:r>
                          <a:rPr lang="en-AU">
                            <a:latin typeface="Cambria Math" panose="02040503050406030204" pitchFamily="18" charset="0"/>
                          </a:rPr>
                          <m:t>𝑅</m:t>
                        </m:r>
                      </m:e>
                    </m:acc>
                    <m:r>
                      <a:rPr lang="en-AU">
                        <a:latin typeface="Cambria Math" panose="02040503050406030204" pitchFamily="18" charset="0"/>
                      </a:rPr>
                      <m:t>=</m:t>
                    </m:r>
                    <m:sSup>
                      <m:sSupPr>
                        <m:ctrlPr>
                          <a:rPr lang="en-AU" i="1">
                            <a:latin typeface="Cambria Math" panose="02040503050406030204" pitchFamily="18" charset="0"/>
                          </a:rPr>
                        </m:ctrlPr>
                      </m:sSupPr>
                      <m:e>
                        <m:acc>
                          <m:accPr>
                            <m:chr m:val="̃"/>
                            <m:ctrlPr>
                              <a:rPr lang="en-AU" i="1">
                                <a:latin typeface="Cambria Math" panose="02040503050406030204" pitchFamily="18" charset="0"/>
                              </a:rPr>
                            </m:ctrlPr>
                          </m:accPr>
                          <m:e>
                            <m:r>
                              <a:rPr lang="en-AU">
                                <a:latin typeface="Cambria Math" panose="02040503050406030204" pitchFamily="18" charset="0"/>
                              </a:rPr>
                              <m:t>𝜌</m:t>
                            </m:r>
                          </m:e>
                        </m:acc>
                      </m:e>
                      <m:sup>
                        <m:f>
                          <m:fPr>
                            <m:ctrlPr>
                              <a:rPr lang="en-AU" i="1">
                                <a:latin typeface="Cambria Math" panose="02040503050406030204" pitchFamily="18" charset="0"/>
                              </a:rPr>
                            </m:ctrlPr>
                          </m:fPr>
                          <m:num>
                            <m:acc>
                              <m:accPr>
                                <m:chr m:val="̃"/>
                                <m:ctrlPr>
                                  <a:rPr lang="en-AU" i="1">
                                    <a:latin typeface="Cambria Math" panose="02040503050406030204" pitchFamily="18" charset="0"/>
                                  </a:rPr>
                                </m:ctrlPr>
                              </m:accPr>
                              <m:e>
                                <m:r>
                                  <a:rPr lang="en-AU">
                                    <a:latin typeface="Cambria Math" panose="02040503050406030204" pitchFamily="18" charset="0"/>
                                  </a:rPr>
                                  <m:t>𝜌</m:t>
                                </m:r>
                              </m:e>
                            </m:acc>
                          </m:num>
                          <m:den>
                            <m:r>
                              <a:rPr lang="en-AU">
                                <a:latin typeface="Cambria Math" panose="02040503050406030204" pitchFamily="18" charset="0"/>
                              </a:rPr>
                              <m:t>1−</m:t>
                            </m:r>
                            <m:acc>
                              <m:accPr>
                                <m:chr m:val="̃"/>
                                <m:ctrlPr>
                                  <a:rPr lang="en-AU" i="1">
                                    <a:latin typeface="Cambria Math" panose="02040503050406030204" pitchFamily="18" charset="0"/>
                                  </a:rPr>
                                </m:ctrlPr>
                              </m:accPr>
                              <m:e>
                                <m:r>
                                  <a:rPr lang="en-AU">
                                    <a:latin typeface="Cambria Math" panose="02040503050406030204" pitchFamily="18" charset="0"/>
                                  </a:rPr>
                                  <m:t>𝜌</m:t>
                                </m:r>
                              </m:e>
                            </m:acc>
                          </m:den>
                        </m:f>
                      </m:sup>
                    </m:sSup>
                    <m:acc>
                      <m:accPr>
                        <m:chr m:val="̃"/>
                        <m:ctrlPr>
                          <a:rPr lang="en-AU" i="1">
                            <a:latin typeface="Cambria Math" panose="02040503050406030204" pitchFamily="18" charset="0"/>
                          </a:rPr>
                        </m:ctrlPr>
                      </m:accPr>
                      <m:e>
                        <m:r>
                          <a:rPr lang="en-AU">
                            <a:latin typeface="Cambria Math" panose="02040503050406030204" pitchFamily="18" charset="0"/>
                          </a:rPr>
                          <m:t>𝐴</m:t>
                        </m:r>
                      </m:e>
                    </m:acc>
                    <m:sSup>
                      <m:sSupPr>
                        <m:ctrlPr>
                          <a:rPr lang="en-AU" i="1">
                            <a:latin typeface="Cambria Math" panose="02040503050406030204" pitchFamily="18" charset="0"/>
                          </a:rPr>
                        </m:ctrlPr>
                      </m:sSupPr>
                      <m:e>
                        <m:r>
                          <a:rPr lang="en-AU">
                            <a:latin typeface="Cambria Math" panose="02040503050406030204" pitchFamily="18" charset="0"/>
                          </a:rPr>
                          <m:t>𝑐</m:t>
                        </m:r>
                      </m:e>
                      <m:sup>
                        <m:f>
                          <m:fPr>
                            <m:ctrlPr>
                              <a:rPr lang="en-AU" i="1">
                                <a:latin typeface="Cambria Math" panose="02040503050406030204" pitchFamily="18" charset="0"/>
                              </a:rPr>
                            </m:ctrlPr>
                          </m:fPr>
                          <m:num>
                            <m:acc>
                              <m:accPr>
                                <m:chr m:val="̃"/>
                                <m:ctrlPr>
                                  <a:rPr lang="en-AU" i="1">
                                    <a:latin typeface="Cambria Math" panose="02040503050406030204" pitchFamily="18" charset="0"/>
                                  </a:rPr>
                                </m:ctrlPr>
                              </m:accPr>
                              <m:e>
                                <m:r>
                                  <a:rPr lang="en-AU">
                                    <a:latin typeface="Cambria Math" panose="02040503050406030204" pitchFamily="18" charset="0"/>
                                  </a:rPr>
                                  <m:t>𝜌</m:t>
                                </m:r>
                              </m:e>
                            </m:acc>
                          </m:num>
                          <m:den>
                            <m:acc>
                              <m:accPr>
                                <m:chr m:val="̃"/>
                                <m:ctrlPr>
                                  <a:rPr lang="en-AU" i="1">
                                    <a:latin typeface="Cambria Math" panose="02040503050406030204" pitchFamily="18" charset="0"/>
                                  </a:rPr>
                                </m:ctrlPr>
                              </m:accPr>
                              <m:e>
                                <m:r>
                                  <a:rPr lang="en-AU">
                                    <a:latin typeface="Cambria Math" panose="02040503050406030204" pitchFamily="18" charset="0"/>
                                  </a:rPr>
                                  <m:t>𝜌</m:t>
                                </m:r>
                              </m:e>
                            </m:acc>
                            <m:r>
                              <a:rPr lang="en-AU">
                                <a:latin typeface="Cambria Math" panose="02040503050406030204" pitchFamily="18" charset="0"/>
                              </a:rPr>
                              <m:t>−1</m:t>
                            </m:r>
                          </m:den>
                        </m:f>
                      </m:sup>
                    </m:sSup>
                    <m:sSup>
                      <m:sSupPr>
                        <m:ctrlPr>
                          <a:rPr lang="en-AU" i="1">
                            <a:latin typeface="Cambria Math" panose="02040503050406030204" pitchFamily="18" charset="0"/>
                          </a:rPr>
                        </m:ctrlPr>
                      </m:sSupPr>
                      <m:e>
                        <m:r>
                          <a:rPr lang="en-AU">
                            <a:latin typeface="Cambria Math" panose="02040503050406030204" pitchFamily="18" charset="0"/>
                          </a:rPr>
                          <m:t>𝜏</m:t>
                        </m:r>
                      </m:e>
                      <m:sup>
                        <m:f>
                          <m:fPr>
                            <m:ctrlPr>
                              <a:rPr lang="en-AU" i="1">
                                <a:latin typeface="Cambria Math" panose="02040503050406030204" pitchFamily="18" charset="0"/>
                              </a:rPr>
                            </m:ctrlPr>
                          </m:fPr>
                          <m:num>
                            <m:acc>
                              <m:accPr>
                                <m:chr m:val="̃"/>
                                <m:ctrlPr>
                                  <a:rPr lang="en-AU" i="1">
                                    <a:latin typeface="Cambria Math" panose="02040503050406030204" pitchFamily="18" charset="0"/>
                                  </a:rPr>
                                </m:ctrlPr>
                              </m:accPr>
                              <m:e>
                                <m:r>
                                  <a:rPr lang="en-AU">
                                    <a:latin typeface="Cambria Math" panose="02040503050406030204" pitchFamily="18" charset="0"/>
                                  </a:rPr>
                                  <m:t>𝜌</m:t>
                                </m:r>
                              </m:e>
                            </m:acc>
                          </m:num>
                          <m:den>
                            <m:acc>
                              <m:accPr>
                                <m:chr m:val="̃"/>
                                <m:ctrlPr>
                                  <a:rPr lang="en-AU" i="1">
                                    <a:latin typeface="Cambria Math" panose="02040503050406030204" pitchFamily="18" charset="0"/>
                                  </a:rPr>
                                </m:ctrlPr>
                              </m:accPr>
                              <m:e>
                                <m:r>
                                  <a:rPr lang="en-AU">
                                    <a:latin typeface="Cambria Math" panose="02040503050406030204" pitchFamily="18" charset="0"/>
                                  </a:rPr>
                                  <m:t>𝜌</m:t>
                                </m:r>
                              </m:e>
                            </m:acc>
                            <m:r>
                              <a:rPr lang="en-AU">
                                <a:latin typeface="Cambria Math" panose="02040503050406030204" pitchFamily="18" charset="0"/>
                              </a:rPr>
                              <m:t>−1</m:t>
                            </m:r>
                          </m:den>
                        </m:f>
                      </m:sup>
                    </m:sSup>
                  </m:oMath>
                </a14:m>
                <a:endParaRPr lang="en-AU" dirty="0"/>
              </a:p>
              <a:p>
                <a:r>
                  <a:rPr lang="en-AU" dirty="0"/>
                  <a:t>Hence, </a:t>
                </a:r>
                <a14:m>
                  <m:oMath xmlns:m="http://schemas.openxmlformats.org/officeDocument/2006/math">
                    <m:f>
                      <m:fPr>
                        <m:ctrlPr>
                          <a:rPr lang="en-AU" i="1">
                            <a:latin typeface="Cambria Math" panose="02040503050406030204" pitchFamily="18" charset="0"/>
                          </a:rPr>
                        </m:ctrlPr>
                      </m:fPr>
                      <m:num>
                        <m:acc>
                          <m:accPr>
                            <m:chr m:val="̃"/>
                            <m:ctrlPr>
                              <a:rPr lang="en-AU" i="1">
                                <a:latin typeface="Cambria Math" panose="02040503050406030204" pitchFamily="18" charset="0"/>
                              </a:rPr>
                            </m:ctrlPr>
                          </m:accPr>
                          <m:e>
                            <m:r>
                              <a:rPr lang="en-AU">
                                <a:latin typeface="Cambria Math" panose="02040503050406030204" pitchFamily="18" charset="0"/>
                              </a:rPr>
                              <m:t>𝜌</m:t>
                            </m:r>
                          </m:e>
                        </m:acc>
                        <m:sSup>
                          <m:sSupPr>
                            <m:ctrlPr>
                              <a:rPr lang="en-AU" i="1">
                                <a:latin typeface="Cambria Math" panose="02040503050406030204" pitchFamily="18" charset="0"/>
                              </a:rPr>
                            </m:ctrlPr>
                          </m:sSupPr>
                          <m:e>
                            <m:acc>
                              <m:accPr>
                                <m:chr m:val="̃"/>
                                <m:ctrlPr>
                                  <a:rPr lang="en-AU" i="1">
                                    <a:latin typeface="Cambria Math" panose="02040503050406030204" pitchFamily="18" charset="0"/>
                                  </a:rPr>
                                </m:ctrlPr>
                              </m:accPr>
                              <m:e>
                                <m:r>
                                  <a:rPr lang="en-AU">
                                    <a:latin typeface="Cambria Math" panose="02040503050406030204" pitchFamily="18" charset="0"/>
                                  </a:rPr>
                                  <m:t>𝑅</m:t>
                                </m:r>
                              </m:e>
                            </m:acc>
                          </m:e>
                          <m:sup>
                            <m:f>
                              <m:fPr>
                                <m:ctrlPr>
                                  <a:rPr lang="en-AU" i="1">
                                    <a:latin typeface="Cambria Math" panose="02040503050406030204" pitchFamily="18" charset="0"/>
                                  </a:rPr>
                                </m:ctrlPr>
                              </m:fPr>
                              <m:num>
                                <m:acc>
                                  <m:accPr>
                                    <m:chr m:val="̃"/>
                                    <m:ctrlPr>
                                      <a:rPr lang="en-AU" i="1">
                                        <a:latin typeface="Cambria Math" panose="02040503050406030204" pitchFamily="18" charset="0"/>
                                      </a:rPr>
                                    </m:ctrlPr>
                                  </m:accPr>
                                  <m:e>
                                    <m:r>
                                      <a:rPr lang="en-AU">
                                        <a:latin typeface="Cambria Math" panose="02040503050406030204" pitchFamily="18" charset="0"/>
                                      </a:rPr>
                                      <m:t>𝜌</m:t>
                                    </m:r>
                                  </m:e>
                                </m:acc>
                                <m:r>
                                  <a:rPr lang="en-AU">
                                    <a:latin typeface="Cambria Math" panose="02040503050406030204" pitchFamily="18" charset="0"/>
                                  </a:rPr>
                                  <m:t>−1</m:t>
                                </m:r>
                              </m:num>
                              <m:den>
                                <m:acc>
                                  <m:accPr>
                                    <m:chr m:val="̃"/>
                                    <m:ctrlPr>
                                      <a:rPr lang="en-AU" i="1">
                                        <a:latin typeface="Cambria Math" panose="02040503050406030204" pitchFamily="18" charset="0"/>
                                      </a:rPr>
                                    </m:ctrlPr>
                                  </m:accPr>
                                  <m:e>
                                    <m:r>
                                      <a:rPr lang="en-AU">
                                        <a:latin typeface="Cambria Math" panose="02040503050406030204" pitchFamily="18" charset="0"/>
                                      </a:rPr>
                                      <m:t>𝜌</m:t>
                                    </m:r>
                                  </m:e>
                                </m:acc>
                              </m:den>
                            </m:f>
                          </m:sup>
                        </m:sSup>
                        <m:sSup>
                          <m:sSupPr>
                            <m:ctrlPr>
                              <a:rPr lang="en-AU" i="1">
                                <a:latin typeface="Cambria Math" panose="02040503050406030204" pitchFamily="18" charset="0"/>
                              </a:rPr>
                            </m:ctrlPr>
                          </m:sSupPr>
                          <m:e>
                            <m:r>
                              <a:rPr lang="en-AU">
                                <a:latin typeface="Cambria Math" panose="02040503050406030204" pitchFamily="18" charset="0"/>
                              </a:rPr>
                              <m:t>𝑌</m:t>
                            </m:r>
                          </m:e>
                          <m:sup>
                            <m:f>
                              <m:fPr>
                                <m:ctrlPr>
                                  <a:rPr lang="en-AU" i="1">
                                    <a:latin typeface="Cambria Math" panose="02040503050406030204" pitchFamily="18" charset="0"/>
                                  </a:rPr>
                                </m:ctrlPr>
                              </m:fPr>
                              <m:num>
                                <m:r>
                                  <a:rPr lang="en-AU">
                                    <a:latin typeface="Cambria Math" panose="02040503050406030204" pitchFamily="18" charset="0"/>
                                  </a:rPr>
                                  <m:t>𝜌</m:t>
                                </m:r>
                                <m:r>
                                  <a:rPr lang="en-AU">
                                    <a:latin typeface="Cambria Math" panose="02040503050406030204" pitchFamily="18" charset="0"/>
                                  </a:rPr>
                                  <m:t>−1</m:t>
                                </m:r>
                              </m:num>
                              <m:den>
                                <m:r>
                                  <a:rPr lang="en-AU">
                                    <a:latin typeface="Cambria Math" panose="02040503050406030204" pitchFamily="18" charset="0"/>
                                  </a:rPr>
                                  <m:t>𝜌</m:t>
                                </m:r>
                              </m:den>
                            </m:f>
                          </m:sup>
                        </m:sSup>
                      </m:num>
                      <m:den>
                        <m:r>
                          <a:rPr lang="en-AU">
                            <a:latin typeface="Cambria Math" panose="02040503050406030204" pitchFamily="18" charset="0"/>
                          </a:rPr>
                          <m:t>𝜌</m:t>
                        </m:r>
                        <m:sSup>
                          <m:sSupPr>
                            <m:ctrlPr>
                              <a:rPr lang="en-AU" i="1">
                                <a:latin typeface="Cambria Math" panose="02040503050406030204" pitchFamily="18" charset="0"/>
                              </a:rPr>
                            </m:ctrlPr>
                          </m:sSupPr>
                          <m:e>
                            <m:r>
                              <a:rPr lang="en-AU">
                                <a:latin typeface="Cambria Math" panose="02040503050406030204" pitchFamily="18" charset="0"/>
                              </a:rPr>
                              <m:t>𝑅</m:t>
                            </m:r>
                          </m:e>
                          <m:sup>
                            <m:f>
                              <m:fPr>
                                <m:ctrlPr>
                                  <a:rPr lang="en-AU" i="1">
                                    <a:latin typeface="Cambria Math" panose="02040503050406030204" pitchFamily="18" charset="0"/>
                                  </a:rPr>
                                </m:ctrlPr>
                              </m:fPr>
                              <m:num>
                                <m:r>
                                  <a:rPr lang="en-AU">
                                    <a:latin typeface="Cambria Math" panose="02040503050406030204" pitchFamily="18" charset="0"/>
                                  </a:rPr>
                                  <m:t>𝜌</m:t>
                                </m:r>
                                <m:r>
                                  <a:rPr lang="en-AU">
                                    <a:latin typeface="Cambria Math" panose="02040503050406030204" pitchFamily="18" charset="0"/>
                                  </a:rPr>
                                  <m:t>−1</m:t>
                                </m:r>
                              </m:num>
                              <m:den>
                                <m:r>
                                  <a:rPr lang="en-AU">
                                    <a:latin typeface="Cambria Math" panose="02040503050406030204" pitchFamily="18" charset="0"/>
                                  </a:rPr>
                                  <m:t>𝜌</m:t>
                                </m:r>
                              </m:den>
                            </m:f>
                          </m:sup>
                        </m:sSup>
                        <m:sSup>
                          <m:sSupPr>
                            <m:ctrlPr>
                              <a:rPr lang="en-AU" i="1">
                                <a:latin typeface="Cambria Math" panose="02040503050406030204" pitchFamily="18" charset="0"/>
                              </a:rPr>
                            </m:ctrlPr>
                          </m:sSupPr>
                          <m:e>
                            <m:acc>
                              <m:accPr>
                                <m:chr m:val="̃"/>
                                <m:ctrlPr>
                                  <a:rPr lang="en-AU" i="1">
                                    <a:latin typeface="Cambria Math" panose="02040503050406030204" pitchFamily="18" charset="0"/>
                                  </a:rPr>
                                </m:ctrlPr>
                              </m:accPr>
                              <m:e>
                                <m:r>
                                  <a:rPr lang="en-AU">
                                    <a:latin typeface="Cambria Math" panose="02040503050406030204" pitchFamily="18" charset="0"/>
                                  </a:rPr>
                                  <m:t>𝑌</m:t>
                                </m:r>
                              </m:e>
                            </m:acc>
                          </m:e>
                          <m:sup>
                            <m:f>
                              <m:fPr>
                                <m:ctrlPr>
                                  <a:rPr lang="en-AU" i="1">
                                    <a:latin typeface="Cambria Math" panose="02040503050406030204" pitchFamily="18" charset="0"/>
                                  </a:rPr>
                                </m:ctrlPr>
                              </m:fPr>
                              <m:num>
                                <m:acc>
                                  <m:accPr>
                                    <m:chr m:val="̃"/>
                                    <m:ctrlPr>
                                      <a:rPr lang="en-AU" i="1">
                                        <a:latin typeface="Cambria Math" panose="02040503050406030204" pitchFamily="18" charset="0"/>
                                      </a:rPr>
                                    </m:ctrlPr>
                                  </m:accPr>
                                  <m:e>
                                    <m:r>
                                      <a:rPr lang="en-AU">
                                        <a:latin typeface="Cambria Math" panose="02040503050406030204" pitchFamily="18" charset="0"/>
                                      </a:rPr>
                                      <m:t>𝜌</m:t>
                                    </m:r>
                                  </m:e>
                                </m:acc>
                                <m:r>
                                  <a:rPr lang="en-AU">
                                    <a:latin typeface="Cambria Math" panose="02040503050406030204" pitchFamily="18" charset="0"/>
                                  </a:rPr>
                                  <m:t>−1</m:t>
                                </m:r>
                              </m:num>
                              <m:den>
                                <m:acc>
                                  <m:accPr>
                                    <m:chr m:val="̃"/>
                                    <m:ctrlPr>
                                      <a:rPr lang="en-AU" i="1">
                                        <a:latin typeface="Cambria Math" panose="02040503050406030204" pitchFamily="18" charset="0"/>
                                      </a:rPr>
                                    </m:ctrlPr>
                                  </m:accPr>
                                  <m:e>
                                    <m:r>
                                      <a:rPr lang="en-AU">
                                        <a:latin typeface="Cambria Math" panose="02040503050406030204" pitchFamily="18" charset="0"/>
                                      </a:rPr>
                                      <m:t>𝜌</m:t>
                                    </m:r>
                                  </m:e>
                                </m:acc>
                              </m:den>
                            </m:f>
                          </m:sup>
                        </m:sSup>
                      </m:den>
                    </m:f>
                    <m:r>
                      <a:rPr lang="en-AU">
                        <a:latin typeface="Cambria Math" panose="02040503050406030204" pitchFamily="18" charset="0"/>
                      </a:rPr>
                      <m:t>=</m:t>
                    </m:r>
                    <m:f>
                      <m:fPr>
                        <m:ctrlPr>
                          <a:rPr lang="en-AU" i="1">
                            <a:latin typeface="Cambria Math" panose="02040503050406030204" pitchFamily="18" charset="0"/>
                          </a:rPr>
                        </m:ctrlPr>
                      </m:fPr>
                      <m:num>
                        <m:sSup>
                          <m:sSupPr>
                            <m:ctrlPr>
                              <a:rPr lang="en-AU" i="1">
                                <a:latin typeface="Cambria Math" panose="02040503050406030204" pitchFamily="18" charset="0"/>
                              </a:rPr>
                            </m:ctrlPr>
                          </m:sSupPr>
                          <m:e>
                            <m:acc>
                              <m:accPr>
                                <m:chr m:val="̃"/>
                                <m:ctrlPr>
                                  <a:rPr lang="en-AU" i="1">
                                    <a:latin typeface="Cambria Math" panose="02040503050406030204" pitchFamily="18" charset="0"/>
                                  </a:rPr>
                                </m:ctrlPr>
                              </m:accPr>
                              <m:e>
                                <m:r>
                                  <a:rPr lang="en-AU">
                                    <a:latin typeface="Cambria Math" panose="02040503050406030204" pitchFamily="18" charset="0"/>
                                  </a:rPr>
                                  <m:t>𝑃</m:t>
                                </m:r>
                              </m:e>
                            </m:acc>
                          </m:e>
                          <m:sup>
                            <m:f>
                              <m:fPr>
                                <m:ctrlPr>
                                  <a:rPr lang="en-AU" i="1">
                                    <a:latin typeface="Cambria Math" panose="02040503050406030204" pitchFamily="18" charset="0"/>
                                  </a:rPr>
                                </m:ctrlPr>
                              </m:fPr>
                              <m:num>
                                <m:acc>
                                  <m:accPr>
                                    <m:chr m:val="̃"/>
                                    <m:ctrlPr>
                                      <a:rPr lang="en-AU" i="1">
                                        <a:latin typeface="Cambria Math" panose="02040503050406030204" pitchFamily="18" charset="0"/>
                                      </a:rPr>
                                    </m:ctrlPr>
                                  </m:accPr>
                                  <m:e>
                                    <m:r>
                                      <a:rPr lang="en-AU">
                                        <a:latin typeface="Cambria Math" panose="02040503050406030204" pitchFamily="18" charset="0"/>
                                      </a:rPr>
                                      <m:t>𝜌</m:t>
                                    </m:r>
                                  </m:e>
                                </m:acc>
                                <m:r>
                                  <a:rPr lang="en-AU">
                                    <a:latin typeface="Cambria Math" panose="02040503050406030204" pitchFamily="18" charset="0"/>
                                  </a:rPr>
                                  <m:t>−1</m:t>
                                </m:r>
                              </m:num>
                              <m:den>
                                <m:acc>
                                  <m:accPr>
                                    <m:chr m:val="̃"/>
                                    <m:ctrlPr>
                                      <a:rPr lang="en-AU" i="1">
                                        <a:latin typeface="Cambria Math" panose="02040503050406030204" pitchFamily="18" charset="0"/>
                                      </a:rPr>
                                    </m:ctrlPr>
                                  </m:accPr>
                                  <m:e>
                                    <m:r>
                                      <a:rPr lang="en-AU">
                                        <a:latin typeface="Cambria Math" panose="02040503050406030204" pitchFamily="18" charset="0"/>
                                      </a:rPr>
                                      <m:t>𝜌</m:t>
                                    </m:r>
                                  </m:e>
                                </m:acc>
                              </m:den>
                            </m:f>
                          </m:sup>
                        </m:sSup>
                      </m:num>
                      <m:den>
                        <m:sSup>
                          <m:sSupPr>
                            <m:ctrlPr>
                              <a:rPr lang="en-AU" i="1">
                                <a:latin typeface="Cambria Math" panose="02040503050406030204" pitchFamily="18" charset="0"/>
                              </a:rPr>
                            </m:ctrlPr>
                          </m:sSupPr>
                          <m:e>
                            <m:r>
                              <a:rPr lang="en-AU">
                                <a:latin typeface="Cambria Math" panose="02040503050406030204" pitchFamily="18" charset="0"/>
                              </a:rPr>
                              <m:t>𝑃</m:t>
                            </m:r>
                          </m:e>
                          <m:sup>
                            <m:f>
                              <m:fPr>
                                <m:ctrlPr>
                                  <a:rPr lang="en-AU" i="1">
                                    <a:latin typeface="Cambria Math" panose="02040503050406030204" pitchFamily="18" charset="0"/>
                                  </a:rPr>
                                </m:ctrlPr>
                              </m:fPr>
                              <m:num>
                                <m:r>
                                  <a:rPr lang="en-AU">
                                    <a:latin typeface="Cambria Math" panose="02040503050406030204" pitchFamily="18" charset="0"/>
                                  </a:rPr>
                                  <m:t>𝜌</m:t>
                                </m:r>
                                <m:r>
                                  <a:rPr lang="en-AU">
                                    <a:latin typeface="Cambria Math" panose="02040503050406030204" pitchFamily="18" charset="0"/>
                                  </a:rPr>
                                  <m:t>−1</m:t>
                                </m:r>
                              </m:num>
                              <m:den>
                                <m:r>
                                  <a:rPr lang="en-AU">
                                    <a:latin typeface="Cambria Math" panose="02040503050406030204" pitchFamily="18" charset="0"/>
                                  </a:rPr>
                                  <m:t>𝜌</m:t>
                                </m:r>
                              </m:den>
                            </m:f>
                          </m:sup>
                        </m:sSup>
                      </m:den>
                    </m:f>
                    <m:r>
                      <a:rPr lang="en-AU">
                        <a:latin typeface="Cambria Math" panose="02040503050406030204" pitchFamily="18" charset="0"/>
                      </a:rPr>
                      <m:t>𝜏</m:t>
                    </m:r>
                  </m:oMath>
                </a14:m>
                <a:endParaRPr lang="en-AU" dirty="0"/>
              </a:p>
            </p:txBody>
          </p:sp>
        </mc:Choice>
        <mc:Fallback xmlns="">
          <p:sp>
            <p:nvSpPr>
              <p:cNvPr id="3" name="Content Placeholder 2">
                <a:extLst>
                  <a:ext uri="{FF2B5EF4-FFF2-40B4-BE49-F238E27FC236}">
                    <a16:creationId xmlns:a16="http://schemas.microsoft.com/office/drawing/2014/main" id="{D8A2B7C9-AE4E-C475-964B-A78C975AFBA5}"/>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AU">
                    <a:noFill/>
                  </a:rPr>
                  <a:t> </a:t>
                </a:r>
              </a:p>
            </p:txBody>
          </p:sp>
        </mc:Fallback>
      </mc:AlternateContent>
    </p:spTree>
    <p:extLst>
      <p:ext uri="{BB962C8B-B14F-4D97-AF65-F5344CB8AC3E}">
        <p14:creationId xmlns:p14="http://schemas.microsoft.com/office/powerpoint/2010/main" val="37075509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0FEAC-44B8-50A5-AD62-F9E5A30BE3D1}"/>
              </a:ext>
            </a:extLst>
          </p:cNvPr>
          <p:cNvSpPr>
            <a:spLocks noGrp="1"/>
          </p:cNvSpPr>
          <p:nvPr>
            <p:ph type="title"/>
          </p:nvPr>
        </p:nvSpPr>
        <p:spPr/>
        <p:txBody>
          <a:bodyPr/>
          <a:lstStyle/>
          <a:p>
            <a:r>
              <a:rPr lang="en-AU" dirty="0"/>
              <a:t>Analytical Framework-Estimation Strategy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522340E-DC71-851A-CE7B-F965AB87F308}"/>
                  </a:ext>
                </a:extLst>
              </p:cNvPr>
              <p:cNvSpPr>
                <a:spLocks noGrp="1"/>
              </p:cNvSpPr>
              <p:nvPr>
                <p:ph idx="1"/>
              </p:nvPr>
            </p:nvSpPr>
            <p:spPr/>
            <p:txBody>
              <a:bodyPr>
                <a:normAutofit fontScale="92500" lnSpcReduction="20000"/>
              </a:bodyPr>
              <a:lstStyle/>
              <a:p>
                <a:r>
                  <a:rPr lang="en-AU" dirty="0"/>
                  <a:t>Therefore, we can use the following specification to identify the effect of WTO accession:</a:t>
                </a:r>
              </a:p>
              <a:p>
                <a14:m>
                  <m:oMath xmlns:m="http://schemas.openxmlformats.org/officeDocument/2006/math">
                    <m:r>
                      <a:rPr lang="en-AU">
                        <a:latin typeface="Cambria Math" panose="02040503050406030204" pitchFamily="18" charset="0"/>
                      </a:rPr>
                      <m:t>𝑙𝑛𝑦</m:t>
                    </m:r>
                    <m:r>
                      <a:rPr lang="en-AU">
                        <a:latin typeface="Cambria Math" panose="02040503050406030204" pitchFamily="18" charset="0"/>
                      </a:rPr>
                      <m:t>=</m:t>
                    </m:r>
                    <m:sSub>
                      <m:sSubPr>
                        <m:ctrlPr>
                          <a:rPr lang="en-AU" i="1">
                            <a:latin typeface="Cambria Math" panose="02040503050406030204" pitchFamily="18" charset="0"/>
                          </a:rPr>
                        </m:ctrlPr>
                      </m:sSubPr>
                      <m:e>
                        <m:r>
                          <a:rPr lang="en-AU">
                            <a:latin typeface="Cambria Math" panose="02040503050406030204" pitchFamily="18" charset="0"/>
                          </a:rPr>
                          <m:t>𝛼</m:t>
                        </m:r>
                      </m:e>
                      <m:sub>
                        <m:r>
                          <a:rPr lang="en-AU">
                            <a:latin typeface="Cambria Math" panose="02040503050406030204" pitchFamily="18" charset="0"/>
                          </a:rPr>
                          <m:t>0</m:t>
                        </m:r>
                      </m:sub>
                    </m:sSub>
                    <m:r>
                      <a:rPr lang="en-AU">
                        <a:latin typeface="Cambria Math" panose="02040503050406030204" pitchFamily="18" charset="0"/>
                      </a:rPr>
                      <m:t>+</m:t>
                    </m:r>
                    <m:sSub>
                      <m:sSubPr>
                        <m:ctrlPr>
                          <a:rPr lang="en-AU" i="1">
                            <a:latin typeface="Cambria Math" panose="02040503050406030204" pitchFamily="18" charset="0"/>
                          </a:rPr>
                        </m:ctrlPr>
                      </m:sSubPr>
                      <m:e>
                        <m:r>
                          <a:rPr lang="en-AU">
                            <a:latin typeface="Cambria Math" panose="02040503050406030204" pitchFamily="18" charset="0"/>
                          </a:rPr>
                          <m:t>𝛼</m:t>
                        </m:r>
                      </m:e>
                      <m:sub>
                        <m:r>
                          <a:rPr lang="en-AU">
                            <a:latin typeface="Cambria Math" panose="02040503050406030204" pitchFamily="18" charset="0"/>
                          </a:rPr>
                          <m:t>1</m:t>
                        </m:r>
                      </m:sub>
                    </m:sSub>
                    <m:r>
                      <a:rPr lang="en-AU">
                        <a:latin typeface="Cambria Math" panose="02040503050406030204" pitchFamily="18" charset="0"/>
                      </a:rPr>
                      <m:t>𝑑𝑊𝑇𝑂</m:t>
                    </m:r>
                    <m:r>
                      <a:rPr lang="en-AU">
                        <a:latin typeface="Cambria Math" panose="02040503050406030204" pitchFamily="18" charset="0"/>
                      </a:rPr>
                      <m:t>+</m:t>
                    </m:r>
                    <m:sSub>
                      <m:sSubPr>
                        <m:ctrlPr>
                          <a:rPr lang="en-AU" i="1">
                            <a:latin typeface="Cambria Math" panose="02040503050406030204" pitchFamily="18" charset="0"/>
                          </a:rPr>
                        </m:ctrlPr>
                      </m:sSubPr>
                      <m:e>
                        <m:r>
                          <a:rPr lang="en-AU">
                            <a:latin typeface="Cambria Math" panose="02040503050406030204" pitchFamily="18" charset="0"/>
                          </a:rPr>
                          <m:t>𝜀</m:t>
                        </m:r>
                      </m:e>
                      <m:sub>
                        <m:r>
                          <a:rPr lang="en-AU">
                            <a:latin typeface="Cambria Math" panose="02040503050406030204" pitchFamily="18" charset="0"/>
                          </a:rPr>
                          <m:t>2</m:t>
                        </m:r>
                      </m:sub>
                    </m:sSub>
                  </m:oMath>
                </a14:m>
                <a:endParaRPr lang="en-AU" dirty="0"/>
              </a:p>
              <a:p>
                <a14:m>
                  <m:oMath xmlns:m="http://schemas.openxmlformats.org/officeDocument/2006/math">
                    <m:r>
                      <a:rPr lang="en-AU">
                        <a:latin typeface="Cambria Math" panose="02040503050406030204" pitchFamily="18" charset="0"/>
                      </a:rPr>
                      <m:t>𝑙𝑛𝑦</m:t>
                    </m:r>
                    <m:r>
                      <a:rPr lang="en-AU">
                        <a:latin typeface="Cambria Math" panose="02040503050406030204" pitchFamily="18" charset="0"/>
                      </a:rPr>
                      <m:t>=</m:t>
                    </m:r>
                    <m:r>
                      <a:rPr lang="en-AU">
                        <a:latin typeface="Cambria Math" panose="02040503050406030204" pitchFamily="18" charset="0"/>
                      </a:rPr>
                      <m:t>𝑙𝑛</m:t>
                    </m:r>
                    <m:d>
                      <m:dPr>
                        <m:ctrlPr>
                          <a:rPr lang="en-AU" i="1">
                            <a:latin typeface="Cambria Math" panose="02040503050406030204" pitchFamily="18" charset="0"/>
                          </a:rPr>
                        </m:ctrlPr>
                      </m:dPr>
                      <m:e>
                        <m:f>
                          <m:fPr>
                            <m:ctrlPr>
                              <a:rPr lang="en-AU" i="1">
                                <a:latin typeface="Cambria Math" panose="02040503050406030204" pitchFamily="18" charset="0"/>
                              </a:rPr>
                            </m:ctrlPr>
                          </m:fPr>
                          <m:num>
                            <m:acc>
                              <m:accPr>
                                <m:chr m:val="̃"/>
                                <m:ctrlPr>
                                  <a:rPr lang="en-AU" i="1">
                                    <a:latin typeface="Cambria Math" panose="02040503050406030204" pitchFamily="18" charset="0"/>
                                  </a:rPr>
                                </m:ctrlPr>
                              </m:accPr>
                              <m:e>
                                <m:r>
                                  <a:rPr lang="en-AU">
                                    <a:latin typeface="Cambria Math" panose="02040503050406030204" pitchFamily="18" charset="0"/>
                                  </a:rPr>
                                  <m:t>𝜌</m:t>
                                </m:r>
                              </m:e>
                            </m:acc>
                            <m:sSup>
                              <m:sSupPr>
                                <m:ctrlPr>
                                  <a:rPr lang="en-AU" i="1">
                                    <a:latin typeface="Cambria Math" panose="02040503050406030204" pitchFamily="18" charset="0"/>
                                  </a:rPr>
                                </m:ctrlPr>
                              </m:sSupPr>
                              <m:e>
                                <m:acc>
                                  <m:accPr>
                                    <m:chr m:val="̃"/>
                                    <m:ctrlPr>
                                      <a:rPr lang="en-AU" i="1">
                                        <a:latin typeface="Cambria Math" panose="02040503050406030204" pitchFamily="18" charset="0"/>
                                      </a:rPr>
                                    </m:ctrlPr>
                                  </m:accPr>
                                  <m:e>
                                    <m:r>
                                      <a:rPr lang="en-AU">
                                        <a:latin typeface="Cambria Math" panose="02040503050406030204" pitchFamily="18" charset="0"/>
                                      </a:rPr>
                                      <m:t>𝑅</m:t>
                                    </m:r>
                                  </m:e>
                                </m:acc>
                              </m:e>
                              <m:sup>
                                <m:f>
                                  <m:fPr>
                                    <m:ctrlPr>
                                      <a:rPr lang="en-AU" i="1">
                                        <a:latin typeface="Cambria Math" panose="02040503050406030204" pitchFamily="18" charset="0"/>
                                      </a:rPr>
                                    </m:ctrlPr>
                                  </m:fPr>
                                  <m:num>
                                    <m:acc>
                                      <m:accPr>
                                        <m:chr m:val="̃"/>
                                        <m:ctrlPr>
                                          <a:rPr lang="en-AU" i="1">
                                            <a:latin typeface="Cambria Math" panose="02040503050406030204" pitchFamily="18" charset="0"/>
                                          </a:rPr>
                                        </m:ctrlPr>
                                      </m:accPr>
                                      <m:e>
                                        <m:r>
                                          <a:rPr lang="en-AU">
                                            <a:latin typeface="Cambria Math" panose="02040503050406030204" pitchFamily="18" charset="0"/>
                                          </a:rPr>
                                          <m:t>𝜌</m:t>
                                        </m:r>
                                      </m:e>
                                    </m:acc>
                                    <m:r>
                                      <a:rPr lang="en-AU">
                                        <a:latin typeface="Cambria Math" panose="02040503050406030204" pitchFamily="18" charset="0"/>
                                      </a:rPr>
                                      <m:t>−1</m:t>
                                    </m:r>
                                  </m:num>
                                  <m:den>
                                    <m:acc>
                                      <m:accPr>
                                        <m:chr m:val="̃"/>
                                        <m:ctrlPr>
                                          <a:rPr lang="en-AU" i="1">
                                            <a:latin typeface="Cambria Math" panose="02040503050406030204" pitchFamily="18" charset="0"/>
                                          </a:rPr>
                                        </m:ctrlPr>
                                      </m:accPr>
                                      <m:e>
                                        <m:r>
                                          <a:rPr lang="en-AU">
                                            <a:latin typeface="Cambria Math" panose="02040503050406030204" pitchFamily="18" charset="0"/>
                                          </a:rPr>
                                          <m:t>𝜌</m:t>
                                        </m:r>
                                      </m:e>
                                    </m:acc>
                                  </m:den>
                                </m:f>
                              </m:sup>
                            </m:sSup>
                            <m:sSup>
                              <m:sSupPr>
                                <m:ctrlPr>
                                  <a:rPr lang="en-AU" i="1">
                                    <a:latin typeface="Cambria Math" panose="02040503050406030204" pitchFamily="18" charset="0"/>
                                  </a:rPr>
                                </m:ctrlPr>
                              </m:sSupPr>
                              <m:e>
                                <m:r>
                                  <a:rPr lang="en-AU">
                                    <a:latin typeface="Cambria Math" panose="02040503050406030204" pitchFamily="18" charset="0"/>
                                  </a:rPr>
                                  <m:t>𝑌</m:t>
                                </m:r>
                              </m:e>
                              <m:sup>
                                <m:f>
                                  <m:fPr>
                                    <m:ctrlPr>
                                      <a:rPr lang="en-AU" i="1">
                                        <a:latin typeface="Cambria Math" panose="02040503050406030204" pitchFamily="18" charset="0"/>
                                      </a:rPr>
                                    </m:ctrlPr>
                                  </m:fPr>
                                  <m:num>
                                    <m:r>
                                      <a:rPr lang="en-AU">
                                        <a:latin typeface="Cambria Math" panose="02040503050406030204" pitchFamily="18" charset="0"/>
                                      </a:rPr>
                                      <m:t>𝜌</m:t>
                                    </m:r>
                                    <m:r>
                                      <a:rPr lang="en-AU">
                                        <a:latin typeface="Cambria Math" panose="02040503050406030204" pitchFamily="18" charset="0"/>
                                      </a:rPr>
                                      <m:t>−1</m:t>
                                    </m:r>
                                  </m:num>
                                  <m:den>
                                    <m:r>
                                      <a:rPr lang="en-AU">
                                        <a:latin typeface="Cambria Math" panose="02040503050406030204" pitchFamily="18" charset="0"/>
                                      </a:rPr>
                                      <m:t>𝜌</m:t>
                                    </m:r>
                                  </m:den>
                                </m:f>
                              </m:sup>
                            </m:sSup>
                          </m:num>
                          <m:den>
                            <m:r>
                              <a:rPr lang="en-AU">
                                <a:latin typeface="Cambria Math" panose="02040503050406030204" pitchFamily="18" charset="0"/>
                              </a:rPr>
                              <m:t>𝜌</m:t>
                            </m:r>
                            <m:sSup>
                              <m:sSupPr>
                                <m:ctrlPr>
                                  <a:rPr lang="en-AU" i="1">
                                    <a:latin typeface="Cambria Math" panose="02040503050406030204" pitchFamily="18" charset="0"/>
                                  </a:rPr>
                                </m:ctrlPr>
                              </m:sSupPr>
                              <m:e>
                                <m:r>
                                  <a:rPr lang="en-AU">
                                    <a:latin typeface="Cambria Math" panose="02040503050406030204" pitchFamily="18" charset="0"/>
                                  </a:rPr>
                                  <m:t>𝑅</m:t>
                                </m:r>
                              </m:e>
                              <m:sup>
                                <m:f>
                                  <m:fPr>
                                    <m:ctrlPr>
                                      <a:rPr lang="en-AU" i="1">
                                        <a:latin typeface="Cambria Math" panose="02040503050406030204" pitchFamily="18" charset="0"/>
                                      </a:rPr>
                                    </m:ctrlPr>
                                  </m:fPr>
                                  <m:num>
                                    <m:r>
                                      <a:rPr lang="en-AU">
                                        <a:latin typeface="Cambria Math" panose="02040503050406030204" pitchFamily="18" charset="0"/>
                                      </a:rPr>
                                      <m:t>𝜌</m:t>
                                    </m:r>
                                    <m:r>
                                      <a:rPr lang="en-AU">
                                        <a:latin typeface="Cambria Math" panose="02040503050406030204" pitchFamily="18" charset="0"/>
                                      </a:rPr>
                                      <m:t>−1</m:t>
                                    </m:r>
                                  </m:num>
                                  <m:den>
                                    <m:r>
                                      <a:rPr lang="en-AU">
                                        <a:latin typeface="Cambria Math" panose="02040503050406030204" pitchFamily="18" charset="0"/>
                                      </a:rPr>
                                      <m:t>𝜌</m:t>
                                    </m:r>
                                  </m:den>
                                </m:f>
                              </m:sup>
                            </m:sSup>
                            <m:sSup>
                              <m:sSupPr>
                                <m:ctrlPr>
                                  <a:rPr lang="en-AU" i="1">
                                    <a:latin typeface="Cambria Math" panose="02040503050406030204" pitchFamily="18" charset="0"/>
                                  </a:rPr>
                                </m:ctrlPr>
                              </m:sSupPr>
                              <m:e>
                                <m:acc>
                                  <m:accPr>
                                    <m:chr m:val="̃"/>
                                    <m:ctrlPr>
                                      <a:rPr lang="en-AU" i="1">
                                        <a:latin typeface="Cambria Math" panose="02040503050406030204" pitchFamily="18" charset="0"/>
                                      </a:rPr>
                                    </m:ctrlPr>
                                  </m:accPr>
                                  <m:e>
                                    <m:r>
                                      <a:rPr lang="en-AU">
                                        <a:latin typeface="Cambria Math" panose="02040503050406030204" pitchFamily="18" charset="0"/>
                                      </a:rPr>
                                      <m:t>𝑌</m:t>
                                    </m:r>
                                  </m:e>
                                </m:acc>
                              </m:e>
                              <m:sup>
                                <m:f>
                                  <m:fPr>
                                    <m:ctrlPr>
                                      <a:rPr lang="en-AU" i="1">
                                        <a:latin typeface="Cambria Math" panose="02040503050406030204" pitchFamily="18" charset="0"/>
                                      </a:rPr>
                                    </m:ctrlPr>
                                  </m:fPr>
                                  <m:num>
                                    <m:acc>
                                      <m:accPr>
                                        <m:chr m:val="̃"/>
                                        <m:ctrlPr>
                                          <a:rPr lang="en-AU" i="1">
                                            <a:latin typeface="Cambria Math" panose="02040503050406030204" pitchFamily="18" charset="0"/>
                                          </a:rPr>
                                        </m:ctrlPr>
                                      </m:accPr>
                                      <m:e>
                                        <m:r>
                                          <a:rPr lang="en-AU">
                                            <a:latin typeface="Cambria Math" panose="02040503050406030204" pitchFamily="18" charset="0"/>
                                          </a:rPr>
                                          <m:t>𝜌</m:t>
                                        </m:r>
                                      </m:e>
                                    </m:acc>
                                    <m:r>
                                      <a:rPr lang="en-AU">
                                        <a:latin typeface="Cambria Math" panose="02040503050406030204" pitchFamily="18" charset="0"/>
                                      </a:rPr>
                                      <m:t>−1</m:t>
                                    </m:r>
                                  </m:num>
                                  <m:den>
                                    <m:acc>
                                      <m:accPr>
                                        <m:chr m:val="̃"/>
                                        <m:ctrlPr>
                                          <a:rPr lang="en-AU" i="1">
                                            <a:latin typeface="Cambria Math" panose="02040503050406030204" pitchFamily="18" charset="0"/>
                                          </a:rPr>
                                        </m:ctrlPr>
                                      </m:accPr>
                                      <m:e>
                                        <m:r>
                                          <a:rPr lang="en-AU">
                                            <a:latin typeface="Cambria Math" panose="02040503050406030204" pitchFamily="18" charset="0"/>
                                          </a:rPr>
                                          <m:t>𝜌</m:t>
                                        </m:r>
                                      </m:e>
                                    </m:acc>
                                  </m:den>
                                </m:f>
                              </m:sup>
                            </m:sSup>
                          </m:den>
                        </m:f>
                      </m:e>
                    </m:d>
                  </m:oMath>
                </a14:m>
                <a:endParaRPr lang="en-AU" dirty="0"/>
              </a:p>
              <a:p>
                <a:r>
                  <a:rPr lang="en-AU" dirty="0"/>
                  <a:t>The parameter </a:t>
                </a:r>
                <a14:m>
                  <m:oMath xmlns:m="http://schemas.openxmlformats.org/officeDocument/2006/math">
                    <m:sSub>
                      <m:sSubPr>
                        <m:ctrlPr>
                          <a:rPr lang="en-AU" i="1">
                            <a:latin typeface="Cambria Math" panose="02040503050406030204" pitchFamily="18" charset="0"/>
                          </a:rPr>
                        </m:ctrlPr>
                      </m:sSubPr>
                      <m:e>
                        <m:r>
                          <a:rPr lang="en-AU">
                            <a:latin typeface="Cambria Math" panose="02040503050406030204" pitchFamily="18" charset="0"/>
                          </a:rPr>
                          <m:t>𝛼</m:t>
                        </m:r>
                      </m:e>
                      <m:sub>
                        <m:r>
                          <a:rPr lang="en-AU">
                            <a:latin typeface="Cambria Math" panose="02040503050406030204" pitchFamily="18" charset="0"/>
                          </a:rPr>
                          <m:t>1</m:t>
                        </m:r>
                      </m:sub>
                    </m:sSub>
                  </m:oMath>
                </a14:m>
                <a:r>
                  <a:rPr lang="en-AU" dirty="0"/>
                  <a:t> measures change of iceberg trade cost after WTO accession</a:t>
                </a:r>
              </a:p>
              <a:p>
                <a:r>
                  <a:rPr lang="en-AU" dirty="0"/>
                  <a:t>To account for the estimation errors brought in from step one, we compute the bootstrap standard errors where we randomly re-sample (with placement) not just the data, but also from the distribution of the estimates of </a:t>
                </a:r>
                <a14:m>
                  <m:oMath xmlns:m="http://schemas.openxmlformats.org/officeDocument/2006/math">
                    <m:r>
                      <a:rPr lang="en-AU">
                        <a:latin typeface="Cambria Math" panose="02040503050406030204" pitchFamily="18" charset="0"/>
                      </a:rPr>
                      <m:t>𝜌</m:t>
                    </m:r>
                  </m:oMath>
                </a14:m>
                <a:r>
                  <a:rPr lang="en-AU" dirty="0"/>
                  <a:t> and </a:t>
                </a:r>
                <a14:m>
                  <m:oMath xmlns:m="http://schemas.openxmlformats.org/officeDocument/2006/math">
                    <m:acc>
                      <m:accPr>
                        <m:chr m:val="̃"/>
                        <m:ctrlPr>
                          <a:rPr lang="en-AU" i="1">
                            <a:latin typeface="Cambria Math" panose="02040503050406030204" pitchFamily="18" charset="0"/>
                          </a:rPr>
                        </m:ctrlPr>
                      </m:accPr>
                      <m:e>
                        <m:r>
                          <a:rPr lang="en-AU">
                            <a:latin typeface="Cambria Math" panose="02040503050406030204" pitchFamily="18" charset="0"/>
                          </a:rPr>
                          <m:t>𝜌</m:t>
                        </m:r>
                      </m:e>
                    </m:acc>
                  </m:oMath>
                </a14:m>
                <a:r>
                  <a:rPr lang="en-AU" dirty="0"/>
                  <a:t> in step one. </a:t>
                </a:r>
              </a:p>
            </p:txBody>
          </p:sp>
        </mc:Choice>
        <mc:Fallback xmlns="">
          <p:sp>
            <p:nvSpPr>
              <p:cNvPr id="3" name="Content Placeholder 2">
                <a:extLst>
                  <a:ext uri="{FF2B5EF4-FFF2-40B4-BE49-F238E27FC236}">
                    <a16:creationId xmlns:a16="http://schemas.microsoft.com/office/drawing/2014/main" id="{3522340E-DC71-851A-CE7B-F965AB87F308}"/>
                  </a:ext>
                </a:extLst>
              </p:cNvPr>
              <p:cNvSpPr>
                <a:spLocks noGrp="1" noRot="1" noChangeAspect="1" noMove="1" noResize="1" noEditPoints="1" noAdjustHandles="1" noChangeArrowheads="1" noChangeShapeType="1" noTextEdit="1"/>
              </p:cNvSpPr>
              <p:nvPr>
                <p:ph idx="1"/>
              </p:nvPr>
            </p:nvSpPr>
            <p:spPr>
              <a:blipFill>
                <a:blip r:embed="rId2"/>
                <a:stretch>
                  <a:fillRect l="-928" t="-3501" r="-1217"/>
                </a:stretch>
              </a:blipFill>
            </p:spPr>
            <p:txBody>
              <a:bodyPr/>
              <a:lstStyle/>
              <a:p>
                <a:r>
                  <a:rPr lang="en-AU">
                    <a:noFill/>
                  </a:rPr>
                  <a:t> </a:t>
                </a:r>
              </a:p>
            </p:txBody>
          </p:sp>
        </mc:Fallback>
      </mc:AlternateContent>
    </p:spTree>
    <p:extLst>
      <p:ext uri="{BB962C8B-B14F-4D97-AF65-F5344CB8AC3E}">
        <p14:creationId xmlns:p14="http://schemas.microsoft.com/office/powerpoint/2010/main" val="1789817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21F35-91E5-6EFA-964A-AF879CBFD109}"/>
              </a:ext>
            </a:extLst>
          </p:cNvPr>
          <p:cNvSpPr>
            <a:spLocks noGrp="1"/>
          </p:cNvSpPr>
          <p:nvPr>
            <p:ph type="title"/>
          </p:nvPr>
        </p:nvSpPr>
        <p:spPr/>
        <p:txBody>
          <a:bodyPr/>
          <a:lstStyle/>
          <a:p>
            <a:r>
              <a:rPr lang="en-AU" dirty="0"/>
              <a:t>Analytical Framework-Estimation Strategy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4098337-72C8-D512-8810-610E053077D9}"/>
                  </a:ext>
                </a:extLst>
              </p:cNvPr>
              <p:cNvSpPr>
                <a:spLocks noGrp="1"/>
              </p:cNvSpPr>
              <p:nvPr>
                <p:ph idx="1"/>
              </p:nvPr>
            </p:nvSpPr>
            <p:spPr/>
            <p:txBody>
              <a:bodyPr>
                <a:normAutofit/>
              </a:bodyPr>
              <a:lstStyle/>
              <a:p>
                <a:r>
                  <a:rPr lang="en-AU" dirty="0"/>
                  <a:t>In order to estimate the dynamic decisions on whether to innovate and export, we need to have the probability of exit and transition probability of state variable </a:t>
                </a:r>
                <a14:m>
                  <m:oMath xmlns:m="http://schemas.openxmlformats.org/officeDocument/2006/math">
                    <m:d>
                      <m:dPr>
                        <m:ctrlPr>
                          <a:rPr lang="en-AU" i="1">
                            <a:latin typeface="Cambria Math" panose="02040503050406030204" pitchFamily="18" charset="0"/>
                          </a:rPr>
                        </m:ctrlPr>
                      </m:dPr>
                      <m:e>
                        <m:f>
                          <m:fPr>
                            <m:ctrlPr>
                              <a:rPr lang="en-AU" i="1">
                                <a:latin typeface="Cambria Math" panose="02040503050406030204" pitchFamily="18" charset="0"/>
                              </a:rPr>
                            </m:ctrlPr>
                          </m:fPr>
                          <m:num>
                            <m:r>
                              <a:rPr lang="en-AU">
                                <a:latin typeface="Cambria Math" panose="02040503050406030204" pitchFamily="18" charset="0"/>
                              </a:rPr>
                              <m:t>𝜓</m:t>
                            </m:r>
                          </m:num>
                          <m:den>
                            <m:r>
                              <a:rPr lang="en-AU">
                                <a:latin typeface="Cambria Math" panose="02040503050406030204" pitchFamily="18" charset="0"/>
                              </a:rPr>
                              <m:t>𝑤</m:t>
                            </m:r>
                            <m:r>
                              <a:rPr lang="en-AU">
                                <a:latin typeface="Cambria Math" panose="02040503050406030204" pitchFamily="18" charset="0"/>
                              </a:rPr>
                              <m:t>+</m:t>
                            </m:r>
                            <m:r>
                              <a:rPr lang="en-AU">
                                <a:latin typeface="Cambria Math" panose="02040503050406030204" pitchFamily="18" charset="0"/>
                              </a:rPr>
                              <m:t>𝑚</m:t>
                            </m:r>
                          </m:den>
                        </m:f>
                      </m:e>
                    </m:d>
                  </m:oMath>
                </a14:m>
                <a:r>
                  <a:rPr lang="en-AU" dirty="0"/>
                  <a:t>. </a:t>
                </a:r>
              </a:p>
              <a:p>
                <a:r>
                  <a:rPr lang="en-AU" dirty="0"/>
                  <a:t>We nonparametrically estimate them as the relative frequency in step three</a:t>
                </a:r>
              </a:p>
              <a:p>
                <a:r>
                  <a:rPr lang="en-AU" dirty="0"/>
                  <a:t>the exit probability (</a:t>
                </a:r>
                <a14:m>
                  <m:oMath xmlns:m="http://schemas.openxmlformats.org/officeDocument/2006/math">
                    <m:r>
                      <a:rPr lang="en-AU">
                        <a:latin typeface="Cambria Math" panose="02040503050406030204" pitchFamily="18" charset="0"/>
                      </a:rPr>
                      <m:t>1−</m:t>
                    </m:r>
                    <m:r>
                      <a:rPr lang="en-AU">
                        <a:latin typeface="Cambria Math" panose="02040503050406030204" pitchFamily="18" charset="0"/>
                      </a:rPr>
                      <m:t>𝜎</m:t>
                    </m:r>
                  </m:oMath>
                </a14:m>
                <a:r>
                  <a:rPr lang="en-AU" dirty="0"/>
                  <a:t>), it is the number of exit firms divided by total number of firms in the sample, where a firm exits if it appears in the current year, but not in the next year</a:t>
                </a:r>
              </a:p>
              <a:p>
                <a:endParaRPr lang="en-AU" dirty="0"/>
              </a:p>
            </p:txBody>
          </p:sp>
        </mc:Choice>
        <mc:Fallback xmlns="">
          <p:sp>
            <p:nvSpPr>
              <p:cNvPr id="3" name="Content Placeholder 2">
                <a:extLst>
                  <a:ext uri="{FF2B5EF4-FFF2-40B4-BE49-F238E27FC236}">
                    <a16:creationId xmlns:a16="http://schemas.microsoft.com/office/drawing/2014/main" id="{B4098337-72C8-D512-8810-610E053077D9}"/>
                  </a:ext>
                </a:extLst>
              </p:cNvPr>
              <p:cNvSpPr>
                <a:spLocks noGrp="1" noRot="1" noChangeAspect="1" noMove="1" noResize="1" noEditPoints="1" noAdjustHandles="1" noChangeArrowheads="1" noChangeShapeType="1" noTextEdit="1"/>
              </p:cNvSpPr>
              <p:nvPr>
                <p:ph idx="1"/>
              </p:nvPr>
            </p:nvSpPr>
            <p:spPr>
              <a:blipFill>
                <a:blip r:embed="rId2"/>
                <a:stretch>
                  <a:fillRect l="-1043" t="-2241" r="-1565"/>
                </a:stretch>
              </a:blipFill>
            </p:spPr>
            <p:txBody>
              <a:bodyPr/>
              <a:lstStyle/>
              <a:p>
                <a:r>
                  <a:rPr lang="en-AU">
                    <a:noFill/>
                  </a:rPr>
                  <a:t> </a:t>
                </a:r>
              </a:p>
            </p:txBody>
          </p:sp>
        </mc:Fallback>
      </mc:AlternateContent>
    </p:spTree>
    <p:extLst>
      <p:ext uri="{BB962C8B-B14F-4D97-AF65-F5344CB8AC3E}">
        <p14:creationId xmlns:p14="http://schemas.microsoft.com/office/powerpoint/2010/main" val="7154147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C118B-2034-246E-48B0-5F7D5B106298}"/>
              </a:ext>
            </a:extLst>
          </p:cNvPr>
          <p:cNvSpPr>
            <a:spLocks noGrp="1"/>
          </p:cNvSpPr>
          <p:nvPr>
            <p:ph type="title"/>
          </p:nvPr>
        </p:nvSpPr>
        <p:spPr/>
        <p:txBody>
          <a:bodyPr/>
          <a:lstStyle/>
          <a:p>
            <a:r>
              <a:rPr lang="en-AU" dirty="0"/>
              <a:t>Analytical Framework-Estimation Strategy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8854138-0D8D-182A-ABB1-B283A1612A35}"/>
                  </a:ext>
                </a:extLst>
              </p:cNvPr>
              <p:cNvSpPr>
                <a:spLocks noGrp="1"/>
              </p:cNvSpPr>
              <p:nvPr>
                <p:ph idx="1"/>
              </p:nvPr>
            </p:nvSpPr>
            <p:spPr/>
            <p:txBody>
              <a:bodyPr>
                <a:normAutofit fontScale="92500" lnSpcReduction="20000"/>
              </a:bodyPr>
              <a:lstStyle/>
              <a:p>
                <a:r>
                  <a:rPr lang="en-AU" sz="2600" dirty="0"/>
                  <a:t>The state variable </a:t>
                </a:r>
                <a14:m>
                  <m:oMath xmlns:m="http://schemas.openxmlformats.org/officeDocument/2006/math">
                    <m:d>
                      <m:dPr>
                        <m:ctrlPr>
                          <a:rPr lang="en-AU" sz="2600" i="1">
                            <a:latin typeface="Cambria Math" panose="02040503050406030204" pitchFamily="18" charset="0"/>
                          </a:rPr>
                        </m:ctrlPr>
                      </m:dPr>
                      <m:e>
                        <m:f>
                          <m:fPr>
                            <m:ctrlPr>
                              <a:rPr lang="en-AU" sz="2600" i="1">
                                <a:latin typeface="Cambria Math" panose="02040503050406030204" pitchFamily="18" charset="0"/>
                              </a:rPr>
                            </m:ctrlPr>
                          </m:fPr>
                          <m:num>
                            <m:r>
                              <a:rPr lang="en-AU" sz="2600">
                                <a:latin typeface="Cambria Math" panose="02040503050406030204" pitchFamily="18" charset="0"/>
                              </a:rPr>
                              <m:t>𝜓</m:t>
                            </m:r>
                          </m:num>
                          <m:den>
                            <m:r>
                              <a:rPr lang="en-AU" sz="2600">
                                <a:latin typeface="Cambria Math" panose="02040503050406030204" pitchFamily="18" charset="0"/>
                              </a:rPr>
                              <m:t>𝑤</m:t>
                            </m:r>
                            <m:r>
                              <a:rPr lang="en-AU" sz="2600">
                                <a:latin typeface="Cambria Math" panose="02040503050406030204" pitchFamily="18" charset="0"/>
                              </a:rPr>
                              <m:t>+</m:t>
                            </m:r>
                            <m:r>
                              <a:rPr lang="en-AU" sz="2600">
                                <a:latin typeface="Cambria Math" panose="02040503050406030204" pitchFamily="18" charset="0"/>
                              </a:rPr>
                              <m:t>𝑚</m:t>
                            </m:r>
                          </m:den>
                        </m:f>
                      </m:e>
                    </m:d>
                  </m:oMath>
                </a14:m>
                <a:r>
                  <a:rPr lang="en-AU" sz="2600" dirty="0"/>
                  <a:t> contains </a:t>
                </a:r>
                <a14:m>
                  <m:oMath xmlns:m="http://schemas.openxmlformats.org/officeDocument/2006/math">
                    <m:r>
                      <a:rPr lang="en-AU" sz="2600">
                        <a:latin typeface="Cambria Math" panose="02040503050406030204" pitchFamily="18" charset="0"/>
                      </a:rPr>
                      <m:t>𝜓</m:t>
                    </m:r>
                  </m:oMath>
                </a14:m>
                <a:r>
                  <a:rPr lang="en-AU" sz="2600" dirty="0"/>
                  <a:t> and </a:t>
                </a:r>
                <a14:m>
                  <m:oMath xmlns:m="http://schemas.openxmlformats.org/officeDocument/2006/math">
                    <m:d>
                      <m:dPr>
                        <m:ctrlPr>
                          <a:rPr lang="en-AU" sz="2600" i="1">
                            <a:latin typeface="Cambria Math" panose="02040503050406030204" pitchFamily="18" charset="0"/>
                          </a:rPr>
                        </m:ctrlPr>
                      </m:dPr>
                      <m:e>
                        <m:r>
                          <a:rPr lang="en-AU" sz="2600">
                            <a:latin typeface="Cambria Math" panose="02040503050406030204" pitchFamily="18" charset="0"/>
                          </a:rPr>
                          <m:t>𝑤</m:t>
                        </m:r>
                        <m:r>
                          <a:rPr lang="en-AU" sz="2600">
                            <a:latin typeface="Cambria Math" panose="02040503050406030204" pitchFamily="18" charset="0"/>
                          </a:rPr>
                          <m:t>+</m:t>
                        </m:r>
                        <m:r>
                          <a:rPr lang="en-AU" sz="2600">
                            <a:latin typeface="Cambria Math" panose="02040503050406030204" pitchFamily="18" charset="0"/>
                          </a:rPr>
                          <m:t>𝑚</m:t>
                        </m:r>
                      </m:e>
                    </m:d>
                  </m:oMath>
                </a14:m>
                <a:endParaRPr lang="en-AU" sz="2600" dirty="0"/>
              </a:p>
              <a:p>
                <a14:m>
                  <m:oMath xmlns:m="http://schemas.openxmlformats.org/officeDocument/2006/math">
                    <m:d>
                      <m:dPr>
                        <m:ctrlPr>
                          <a:rPr lang="en-AU" sz="2600" i="1">
                            <a:latin typeface="Cambria Math" panose="02040503050406030204" pitchFamily="18" charset="0"/>
                          </a:rPr>
                        </m:ctrlPr>
                      </m:dPr>
                      <m:e>
                        <m:r>
                          <a:rPr lang="en-AU" sz="2600">
                            <a:latin typeface="Cambria Math" panose="02040503050406030204" pitchFamily="18" charset="0"/>
                          </a:rPr>
                          <m:t>𝑤</m:t>
                        </m:r>
                        <m:r>
                          <a:rPr lang="en-AU" sz="2600">
                            <a:latin typeface="Cambria Math" panose="02040503050406030204" pitchFamily="18" charset="0"/>
                          </a:rPr>
                          <m:t>+</m:t>
                        </m:r>
                        <m:r>
                          <a:rPr lang="en-AU" sz="2600">
                            <a:latin typeface="Cambria Math" panose="02040503050406030204" pitchFamily="18" charset="0"/>
                          </a:rPr>
                          <m:t>𝑚</m:t>
                        </m:r>
                      </m:e>
                    </m:d>
                  </m:oMath>
                </a14:m>
                <a:r>
                  <a:rPr lang="en-AU" sz="2600" dirty="0"/>
                  <a:t> equals total wage and intermediate inputs divided by number of workers</a:t>
                </a:r>
              </a:p>
              <a:p>
                <a:r>
                  <a:rPr lang="en-AU" sz="2600" dirty="0"/>
                  <a:t>For </a:t>
                </a:r>
                <a14:m>
                  <m:oMath xmlns:m="http://schemas.openxmlformats.org/officeDocument/2006/math">
                    <m:r>
                      <a:rPr lang="en-AU" sz="2600">
                        <a:latin typeface="Cambria Math" panose="02040503050406030204" pitchFamily="18" charset="0"/>
                      </a:rPr>
                      <m:t>𝜓</m:t>
                    </m:r>
                  </m:oMath>
                </a14:m>
                <a:r>
                  <a:rPr lang="en-AU" sz="2600" dirty="0"/>
                  <a:t>, we first assume it depends on firm size (total number of workers) and capital intensity (fixed assets per worker) </a:t>
                </a:r>
              </a:p>
              <a:p>
                <a:r>
                  <a:rPr lang="en-AU" sz="2600" dirty="0"/>
                  <a:t>We then utilize the principal component analysis to extract the principal component from data of firm size and capital intensity. Divided by </a:t>
                </a:r>
                <a14:m>
                  <m:oMath xmlns:m="http://schemas.openxmlformats.org/officeDocument/2006/math">
                    <m:d>
                      <m:dPr>
                        <m:ctrlPr>
                          <a:rPr lang="en-AU" sz="2600" i="1">
                            <a:latin typeface="Cambria Math" panose="02040503050406030204" pitchFamily="18" charset="0"/>
                          </a:rPr>
                        </m:ctrlPr>
                      </m:dPr>
                      <m:e>
                        <m:r>
                          <a:rPr lang="en-AU" sz="2600">
                            <a:latin typeface="Cambria Math" panose="02040503050406030204" pitchFamily="18" charset="0"/>
                          </a:rPr>
                          <m:t>𝑤</m:t>
                        </m:r>
                        <m:r>
                          <a:rPr lang="en-AU" sz="2600">
                            <a:latin typeface="Cambria Math" panose="02040503050406030204" pitchFamily="18" charset="0"/>
                          </a:rPr>
                          <m:t>+</m:t>
                        </m:r>
                        <m:r>
                          <a:rPr lang="en-AU" sz="2600">
                            <a:latin typeface="Cambria Math" panose="02040503050406030204" pitchFamily="18" charset="0"/>
                          </a:rPr>
                          <m:t>𝑚</m:t>
                        </m:r>
                      </m:e>
                    </m:d>
                  </m:oMath>
                </a14:m>
                <a:r>
                  <a:rPr lang="en-AU" sz="2600" dirty="0"/>
                  <a:t>, we further discretise it into four equal intervals</a:t>
                </a:r>
              </a:p>
              <a:p>
                <a:r>
                  <a:rPr lang="en-AU" sz="2600" dirty="0"/>
                  <a:t>That is, </a:t>
                </a:r>
                <a14:m>
                  <m:oMath xmlns:m="http://schemas.openxmlformats.org/officeDocument/2006/math">
                    <m:d>
                      <m:dPr>
                        <m:ctrlPr>
                          <a:rPr lang="en-AU" sz="2600" i="1">
                            <a:latin typeface="Cambria Math" panose="02040503050406030204" pitchFamily="18" charset="0"/>
                          </a:rPr>
                        </m:ctrlPr>
                      </m:dPr>
                      <m:e>
                        <m:f>
                          <m:fPr>
                            <m:ctrlPr>
                              <a:rPr lang="en-AU" sz="2600" i="1">
                                <a:latin typeface="Cambria Math" panose="02040503050406030204" pitchFamily="18" charset="0"/>
                              </a:rPr>
                            </m:ctrlPr>
                          </m:fPr>
                          <m:num>
                            <m:r>
                              <a:rPr lang="en-AU" sz="2600">
                                <a:latin typeface="Cambria Math" panose="02040503050406030204" pitchFamily="18" charset="0"/>
                              </a:rPr>
                              <m:t>𝜓</m:t>
                            </m:r>
                          </m:num>
                          <m:den>
                            <m:r>
                              <a:rPr lang="en-AU" sz="2600">
                                <a:latin typeface="Cambria Math" panose="02040503050406030204" pitchFamily="18" charset="0"/>
                              </a:rPr>
                              <m:t>𝑤</m:t>
                            </m:r>
                            <m:r>
                              <a:rPr lang="en-AU" sz="2600">
                                <a:latin typeface="Cambria Math" panose="02040503050406030204" pitchFamily="18" charset="0"/>
                              </a:rPr>
                              <m:t>+</m:t>
                            </m:r>
                            <m:r>
                              <a:rPr lang="en-AU" sz="2600">
                                <a:latin typeface="Cambria Math" panose="02040503050406030204" pitchFamily="18" charset="0"/>
                              </a:rPr>
                              <m:t>𝑚</m:t>
                            </m:r>
                          </m:den>
                        </m:f>
                      </m:e>
                    </m:d>
                    <m:r>
                      <a:rPr lang="en-AU" sz="2600">
                        <a:latin typeface="Cambria Math" panose="02040503050406030204" pitchFamily="18" charset="0"/>
                      </a:rPr>
                      <m:t>∈</m:t>
                    </m:r>
                    <m:d>
                      <m:dPr>
                        <m:begChr m:val="{"/>
                        <m:endChr m:val="}"/>
                        <m:ctrlPr>
                          <a:rPr lang="en-AU" sz="2600" i="1">
                            <a:latin typeface="Cambria Math" panose="02040503050406030204" pitchFamily="18" charset="0"/>
                          </a:rPr>
                        </m:ctrlPr>
                      </m:dPr>
                      <m:e>
                        <m:r>
                          <a:rPr lang="en-AU" sz="2600">
                            <a:latin typeface="Cambria Math" panose="02040503050406030204" pitchFamily="18" charset="0"/>
                          </a:rPr>
                          <m:t>1,2,3,4</m:t>
                        </m:r>
                      </m:e>
                    </m:d>
                  </m:oMath>
                </a14:m>
                <a:r>
                  <a:rPr lang="en-AU" sz="2600" dirty="0"/>
                  <a:t> where 1, 2, 3 and 4 represent &lt; 25%, 25-50%, 50-75% and &gt;75% respectively</a:t>
                </a:r>
              </a:p>
              <a:p>
                <a:r>
                  <a:rPr lang="en-AU" sz="2600" dirty="0"/>
                  <a:t>Conditional on </a:t>
                </a:r>
                <a14:m>
                  <m:oMath xmlns:m="http://schemas.openxmlformats.org/officeDocument/2006/math">
                    <m:d>
                      <m:dPr>
                        <m:ctrlPr>
                          <a:rPr lang="en-AU" sz="2600" i="1">
                            <a:latin typeface="Cambria Math" panose="02040503050406030204" pitchFamily="18" charset="0"/>
                          </a:rPr>
                        </m:ctrlPr>
                      </m:dPr>
                      <m:e>
                        <m:sSub>
                          <m:sSubPr>
                            <m:ctrlPr>
                              <a:rPr lang="en-AU" sz="2600" i="1">
                                <a:latin typeface="Cambria Math" panose="02040503050406030204" pitchFamily="18" charset="0"/>
                              </a:rPr>
                            </m:ctrlPr>
                          </m:sSubPr>
                          <m:e>
                            <m:r>
                              <a:rPr lang="en-AU" sz="2600">
                                <a:latin typeface="Cambria Math" panose="02040503050406030204" pitchFamily="18" charset="0"/>
                              </a:rPr>
                              <m:t>𝜒</m:t>
                            </m:r>
                          </m:e>
                          <m:sub>
                            <m:r>
                              <a:rPr lang="en-AU" sz="2600">
                                <a:latin typeface="Cambria Math" panose="02040503050406030204" pitchFamily="18" charset="0"/>
                              </a:rPr>
                              <m:t>1</m:t>
                            </m:r>
                          </m:sub>
                        </m:sSub>
                        <m:r>
                          <a:rPr lang="en-AU" sz="2600">
                            <a:latin typeface="Cambria Math" panose="02040503050406030204" pitchFamily="18" charset="0"/>
                          </a:rPr>
                          <m:t>,</m:t>
                        </m:r>
                        <m:sSub>
                          <m:sSubPr>
                            <m:ctrlPr>
                              <a:rPr lang="en-AU" sz="2600" i="1">
                                <a:latin typeface="Cambria Math" panose="02040503050406030204" pitchFamily="18" charset="0"/>
                              </a:rPr>
                            </m:ctrlPr>
                          </m:sSubPr>
                          <m:e>
                            <m:r>
                              <a:rPr lang="en-AU" sz="2600">
                                <a:latin typeface="Cambria Math" panose="02040503050406030204" pitchFamily="18" charset="0"/>
                              </a:rPr>
                              <m:t>𝜒</m:t>
                            </m:r>
                          </m:e>
                          <m:sub>
                            <m:r>
                              <a:rPr lang="en-AU" sz="2600">
                                <a:latin typeface="Cambria Math" panose="02040503050406030204" pitchFamily="18" charset="0"/>
                              </a:rPr>
                              <m:t>2</m:t>
                            </m:r>
                          </m:sub>
                        </m:sSub>
                      </m:e>
                    </m:d>
                  </m:oMath>
                </a14:m>
                <a:r>
                  <a:rPr lang="en-AU" sz="2600" dirty="0"/>
                  <a:t>, the transition probability from one state to another is estimated as the share of firms that move from one state in the current year to another in the next year</a:t>
                </a:r>
              </a:p>
            </p:txBody>
          </p:sp>
        </mc:Choice>
        <mc:Fallback xmlns="">
          <p:sp>
            <p:nvSpPr>
              <p:cNvPr id="3" name="Content Placeholder 2">
                <a:extLst>
                  <a:ext uri="{FF2B5EF4-FFF2-40B4-BE49-F238E27FC236}">
                    <a16:creationId xmlns:a16="http://schemas.microsoft.com/office/drawing/2014/main" id="{28854138-0D8D-182A-ABB1-B283A1612A35}"/>
                  </a:ext>
                </a:extLst>
              </p:cNvPr>
              <p:cNvSpPr>
                <a:spLocks noGrp="1" noRot="1" noChangeAspect="1" noMove="1" noResize="1" noEditPoints="1" noAdjustHandles="1" noChangeArrowheads="1" noChangeShapeType="1" noTextEdit="1"/>
              </p:cNvSpPr>
              <p:nvPr>
                <p:ph idx="1"/>
              </p:nvPr>
            </p:nvSpPr>
            <p:spPr>
              <a:blipFill>
                <a:blip r:embed="rId2"/>
                <a:stretch>
                  <a:fillRect l="-812" t="-1681" b="-2521"/>
                </a:stretch>
              </a:blipFill>
            </p:spPr>
            <p:txBody>
              <a:bodyPr/>
              <a:lstStyle/>
              <a:p>
                <a:r>
                  <a:rPr lang="en-AU">
                    <a:noFill/>
                  </a:rPr>
                  <a:t> </a:t>
                </a:r>
              </a:p>
            </p:txBody>
          </p:sp>
        </mc:Fallback>
      </mc:AlternateContent>
    </p:spTree>
    <p:extLst>
      <p:ext uri="{BB962C8B-B14F-4D97-AF65-F5344CB8AC3E}">
        <p14:creationId xmlns:p14="http://schemas.microsoft.com/office/powerpoint/2010/main" val="9597200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559E9-4C5C-C1F4-5507-DFACE7A5D317}"/>
              </a:ext>
            </a:extLst>
          </p:cNvPr>
          <p:cNvSpPr>
            <a:spLocks noGrp="1"/>
          </p:cNvSpPr>
          <p:nvPr>
            <p:ph type="title"/>
          </p:nvPr>
        </p:nvSpPr>
        <p:spPr/>
        <p:txBody>
          <a:bodyPr/>
          <a:lstStyle/>
          <a:p>
            <a:r>
              <a:rPr lang="en-AU" dirty="0"/>
              <a:t>Analytical Framework-Estimation Strategy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B59318E-0521-DD09-3FEF-E9807B6DB035}"/>
                  </a:ext>
                </a:extLst>
              </p:cNvPr>
              <p:cNvSpPr>
                <a:spLocks noGrp="1"/>
              </p:cNvSpPr>
              <p:nvPr>
                <p:ph idx="1"/>
              </p:nvPr>
            </p:nvSpPr>
            <p:spPr/>
            <p:txBody>
              <a:bodyPr>
                <a:normAutofit fontScale="92500" lnSpcReduction="10000"/>
              </a:bodyPr>
              <a:lstStyle/>
              <a:p>
                <a:r>
                  <a:rPr lang="en-AU" dirty="0"/>
                  <a:t>Step four estimates firms’ decisions on whether to innovate and export, which is a dynamic discrete choice model</a:t>
                </a:r>
              </a:p>
              <a:p>
                <a:r>
                  <a:rPr lang="en-AU" dirty="0"/>
                  <a:t>Parameterization:</a:t>
                </a:r>
              </a:p>
              <a:p>
                <a14:m>
                  <m:oMath xmlns:m="http://schemas.openxmlformats.org/officeDocument/2006/math">
                    <m:sSub>
                      <m:sSubPr>
                        <m:ctrlPr>
                          <a:rPr lang="en-AU" i="1">
                            <a:latin typeface="Cambria Math" panose="02040503050406030204" pitchFamily="18" charset="0"/>
                          </a:rPr>
                        </m:ctrlPr>
                      </m:sSubPr>
                      <m:e>
                        <m:acc>
                          <m:accPr>
                            <m:chr m:val="̂"/>
                            <m:ctrlPr>
                              <a:rPr lang="en-AU" i="1">
                                <a:latin typeface="Cambria Math" panose="02040503050406030204" pitchFamily="18" charset="0"/>
                              </a:rPr>
                            </m:ctrlPr>
                          </m:accPr>
                          <m:e>
                            <m:r>
                              <a:rPr lang="en-AU">
                                <a:latin typeface="Cambria Math" panose="02040503050406030204" pitchFamily="18" charset="0"/>
                              </a:rPr>
                              <m:t>𝜆</m:t>
                            </m:r>
                          </m:e>
                        </m:acc>
                      </m:e>
                      <m:sub>
                        <m:r>
                          <a:rPr lang="en-AU">
                            <a:latin typeface="Cambria Math" panose="02040503050406030204" pitchFamily="18" charset="0"/>
                          </a:rPr>
                          <m:t>1</m:t>
                        </m:r>
                      </m:sub>
                    </m:sSub>
                    <m:r>
                      <a:rPr lang="en-AU">
                        <a:latin typeface="Cambria Math" panose="02040503050406030204" pitchFamily="18" charset="0"/>
                      </a:rPr>
                      <m:t>≡</m:t>
                    </m:r>
                    <m:f>
                      <m:fPr>
                        <m:ctrlPr>
                          <a:rPr lang="en-AU" i="1">
                            <a:latin typeface="Cambria Math" panose="02040503050406030204" pitchFamily="18" charset="0"/>
                          </a:rPr>
                        </m:ctrlPr>
                      </m:fPr>
                      <m:num>
                        <m:r>
                          <a:rPr lang="en-AU">
                            <a:latin typeface="Cambria Math" panose="02040503050406030204" pitchFamily="18" charset="0"/>
                          </a:rPr>
                          <m:t>1</m:t>
                        </m:r>
                      </m:num>
                      <m:den>
                        <m:r>
                          <a:rPr lang="en-AU">
                            <a:latin typeface="Cambria Math" panose="02040503050406030204" pitchFamily="18" charset="0"/>
                          </a:rPr>
                          <m:t>𝑓</m:t>
                        </m:r>
                      </m:den>
                    </m:f>
                    <m:r>
                      <a:rPr lang="en-AU">
                        <a:latin typeface="Cambria Math" panose="02040503050406030204" pitchFamily="18" charset="0"/>
                      </a:rPr>
                      <m:t>𝐴</m:t>
                    </m:r>
                    <m:sSubSup>
                      <m:sSubSupPr>
                        <m:ctrlPr>
                          <a:rPr lang="en-AU" i="1">
                            <a:latin typeface="Cambria Math" panose="02040503050406030204" pitchFamily="18" charset="0"/>
                          </a:rPr>
                        </m:ctrlPr>
                      </m:sSubSupPr>
                      <m:e>
                        <m:r>
                          <a:rPr lang="en-AU">
                            <a:latin typeface="Cambria Math" panose="02040503050406030204" pitchFamily="18" charset="0"/>
                          </a:rPr>
                          <m:t>𝜆</m:t>
                        </m:r>
                      </m:e>
                      <m:sub>
                        <m:r>
                          <a:rPr lang="en-AU">
                            <a:latin typeface="Cambria Math" panose="02040503050406030204" pitchFamily="18" charset="0"/>
                          </a:rPr>
                          <m:t>1</m:t>
                        </m:r>
                      </m:sub>
                      <m:sup>
                        <m:f>
                          <m:fPr>
                            <m:ctrlPr>
                              <a:rPr lang="en-AU" i="1">
                                <a:latin typeface="Cambria Math" panose="02040503050406030204" pitchFamily="18" charset="0"/>
                              </a:rPr>
                            </m:ctrlPr>
                          </m:fPr>
                          <m:num>
                            <m:r>
                              <a:rPr lang="en-AU">
                                <a:latin typeface="Cambria Math" panose="02040503050406030204" pitchFamily="18" charset="0"/>
                              </a:rPr>
                              <m:t>𝜌</m:t>
                            </m:r>
                          </m:num>
                          <m:den>
                            <m:r>
                              <a:rPr lang="en-AU">
                                <a:latin typeface="Cambria Math" panose="02040503050406030204" pitchFamily="18" charset="0"/>
                              </a:rPr>
                              <m:t>1−</m:t>
                            </m:r>
                            <m:r>
                              <a:rPr lang="en-AU">
                                <a:latin typeface="Cambria Math" panose="02040503050406030204" pitchFamily="18" charset="0"/>
                              </a:rPr>
                              <m:t>𝜌</m:t>
                            </m:r>
                          </m:den>
                        </m:f>
                      </m:sup>
                    </m:sSubSup>
                    <m:r>
                      <a:rPr lang="en-AU">
                        <a:latin typeface="Cambria Math" panose="02040503050406030204" pitchFamily="18" charset="0"/>
                      </a:rPr>
                      <m:t>~</m:t>
                    </m:r>
                    <m:sSup>
                      <m:sSupPr>
                        <m:ctrlPr>
                          <a:rPr lang="en-AU" i="1">
                            <a:latin typeface="Cambria Math" panose="02040503050406030204" pitchFamily="18" charset="0"/>
                          </a:rPr>
                        </m:ctrlPr>
                      </m:sSupPr>
                      <m:e>
                        <m:r>
                          <a:rPr lang="en-AU">
                            <a:latin typeface="Cambria Math" panose="02040503050406030204" pitchFamily="18" charset="0"/>
                          </a:rPr>
                          <m:t>𝑒</m:t>
                        </m:r>
                      </m:e>
                      <m:sup>
                        <m:r>
                          <a:rPr lang="en-AU">
                            <a:latin typeface="Cambria Math" panose="02040503050406030204" pitchFamily="18" charset="0"/>
                          </a:rPr>
                          <m:t>𝑁</m:t>
                        </m:r>
                        <m:d>
                          <m:dPr>
                            <m:begChr m:val="["/>
                            <m:endChr m:val="]"/>
                            <m:ctrlPr>
                              <a:rPr lang="en-AU" i="1">
                                <a:latin typeface="Cambria Math" panose="02040503050406030204" pitchFamily="18" charset="0"/>
                              </a:rPr>
                            </m:ctrlPr>
                          </m:dPr>
                          <m:e>
                            <m:r>
                              <a:rPr lang="en-AU">
                                <a:latin typeface="Cambria Math" panose="02040503050406030204" pitchFamily="18" charset="0"/>
                              </a:rPr>
                              <m:t>−</m:t>
                            </m:r>
                            <m:f>
                              <m:fPr>
                                <m:ctrlPr>
                                  <a:rPr lang="en-AU" i="1">
                                    <a:latin typeface="Cambria Math" panose="02040503050406030204" pitchFamily="18" charset="0"/>
                                  </a:rPr>
                                </m:ctrlPr>
                              </m:fPr>
                              <m:num>
                                <m:r>
                                  <a:rPr lang="en-AU">
                                    <a:latin typeface="Cambria Math" panose="02040503050406030204" pitchFamily="18" charset="0"/>
                                  </a:rPr>
                                  <m:t>1</m:t>
                                </m:r>
                              </m:num>
                              <m:den>
                                <m:r>
                                  <a:rPr lang="en-AU">
                                    <a:latin typeface="Cambria Math" panose="02040503050406030204" pitchFamily="18" charset="0"/>
                                  </a:rPr>
                                  <m:t>2</m:t>
                                </m:r>
                              </m:den>
                            </m:f>
                            <m:r>
                              <a:rPr lang="en-AU">
                                <a:latin typeface="Cambria Math" panose="02040503050406030204" pitchFamily="18" charset="0"/>
                              </a:rPr>
                              <m:t>𝑙𝑛</m:t>
                            </m:r>
                            <m:r>
                              <a:rPr lang="en-AU">
                                <a:latin typeface="Cambria Math" panose="02040503050406030204" pitchFamily="18" charset="0"/>
                              </a:rPr>
                              <m:t>2,</m:t>
                            </m:r>
                            <m:r>
                              <a:rPr lang="en-AU">
                                <a:latin typeface="Cambria Math" panose="02040503050406030204" pitchFamily="18" charset="0"/>
                              </a:rPr>
                              <m:t>𝑙𝑛</m:t>
                            </m:r>
                            <m:r>
                              <a:rPr lang="en-AU">
                                <a:latin typeface="Cambria Math" panose="02040503050406030204" pitchFamily="18" charset="0"/>
                              </a:rPr>
                              <m:t>2</m:t>
                            </m:r>
                          </m:e>
                        </m:d>
                      </m:sup>
                    </m:sSup>
                  </m:oMath>
                </a14:m>
                <a:r>
                  <a:rPr lang="en-AU" dirty="0"/>
                  <a:t>, </a:t>
                </a:r>
                <a14:m>
                  <m:oMath xmlns:m="http://schemas.openxmlformats.org/officeDocument/2006/math">
                    <m:sSub>
                      <m:sSubPr>
                        <m:ctrlPr>
                          <a:rPr lang="en-AU" i="1">
                            <a:latin typeface="Cambria Math" panose="02040503050406030204" pitchFamily="18" charset="0"/>
                          </a:rPr>
                        </m:ctrlPr>
                      </m:sSubPr>
                      <m:e>
                        <m:acc>
                          <m:accPr>
                            <m:chr m:val="̂"/>
                            <m:ctrlPr>
                              <a:rPr lang="en-AU" i="1">
                                <a:latin typeface="Cambria Math" panose="02040503050406030204" pitchFamily="18" charset="0"/>
                              </a:rPr>
                            </m:ctrlPr>
                          </m:accPr>
                          <m:e>
                            <m:r>
                              <a:rPr lang="en-AU">
                                <a:latin typeface="Cambria Math" panose="02040503050406030204" pitchFamily="18" charset="0"/>
                              </a:rPr>
                              <m:t>𝜆</m:t>
                            </m:r>
                          </m:e>
                        </m:acc>
                      </m:e>
                      <m:sub>
                        <m:r>
                          <a:rPr lang="en-AU">
                            <a:latin typeface="Cambria Math" panose="02040503050406030204" pitchFamily="18" charset="0"/>
                          </a:rPr>
                          <m:t>2</m:t>
                        </m:r>
                      </m:sub>
                    </m:sSub>
                    <m:r>
                      <a:rPr lang="en-AU">
                        <a:latin typeface="Cambria Math" panose="02040503050406030204" pitchFamily="18" charset="0"/>
                      </a:rPr>
                      <m:t>≡</m:t>
                    </m:r>
                    <m:sSubSup>
                      <m:sSubSupPr>
                        <m:ctrlPr>
                          <a:rPr lang="en-AU" i="1">
                            <a:latin typeface="Cambria Math" panose="02040503050406030204" pitchFamily="18" charset="0"/>
                          </a:rPr>
                        </m:ctrlPr>
                      </m:sSubSupPr>
                      <m:e>
                        <m:r>
                          <a:rPr lang="en-AU">
                            <a:latin typeface="Cambria Math" panose="02040503050406030204" pitchFamily="18" charset="0"/>
                          </a:rPr>
                          <m:t>𝜆</m:t>
                        </m:r>
                      </m:e>
                      <m:sub>
                        <m:r>
                          <a:rPr lang="en-AU">
                            <a:latin typeface="Cambria Math" panose="02040503050406030204" pitchFamily="18" charset="0"/>
                          </a:rPr>
                          <m:t>2</m:t>
                        </m:r>
                      </m:sub>
                      <m:sup>
                        <m:f>
                          <m:fPr>
                            <m:ctrlPr>
                              <a:rPr lang="en-AU" i="1">
                                <a:latin typeface="Cambria Math" panose="02040503050406030204" pitchFamily="18" charset="0"/>
                              </a:rPr>
                            </m:ctrlPr>
                          </m:fPr>
                          <m:num>
                            <m:r>
                              <a:rPr lang="en-AU">
                                <a:latin typeface="Cambria Math" panose="02040503050406030204" pitchFamily="18" charset="0"/>
                              </a:rPr>
                              <m:t>𝜌</m:t>
                            </m:r>
                          </m:num>
                          <m:den>
                            <m:r>
                              <a:rPr lang="en-AU">
                                <a:latin typeface="Cambria Math" panose="02040503050406030204" pitchFamily="18" charset="0"/>
                              </a:rPr>
                              <m:t>1−</m:t>
                            </m:r>
                            <m:r>
                              <a:rPr lang="en-AU">
                                <a:latin typeface="Cambria Math" panose="02040503050406030204" pitchFamily="18" charset="0"/>
                              </a:rPr>
                              <m:t>𝜌</m:t>
                            </m:r>
                          </m:den>
                        </m:f>
                      </m:sup>
                    </m:sSubSup>
                    <m:sSup>
                      <m:sSupPr>
                        <m:ctrlPr>
                          <a:rPr lang="en-AU" i="1">
                            <a:latin typeface="Cambria Math" panose="02040503050406030204" pitchFamily="18" charset="0"/>
                          </a:rPr>
                        </m:ctrlPr>
                      </m:sSupPr>
                      <m:e>
                        <m:r>
                          <a:rPr lang="en-AU">
                            <a:latin typeface="Cambria Math" panose="02040503050406030204" pitchFamily="18" charset="0"/>
                          </a:rPr>
                          <m:t>𝜁</m:t>
                        </m:r>
                      </m:e>
                      <m:sup>
                        <m:f>
                          <m:fPr>
                            <m:ctrlPr>
                              <a:rPr lang="en-AU" i="1">
                                <a:latin typeface="Cambria Math" panose="02040503050406030204" pitchFamily="18" charset="0"/>
                              </a:rPr>
                            </m:ctrlPr>
                          </m:fPr>
                          <m:num>
                            <m:r>
                              <a:rPr lang="en-AU">
                                <a:latin typeface="Cambria Math" panose="02040503050406030204" pitchFamily="18" charset="0"/>
                              </a:rPr>
                              <m:t>𝜌</m:t>
                            </m:r>
                          </m:num>
                          <m:den>
                            <m:r>
                              <a:rPr lang="en-AU">
                                <a:latin typeface="Cambria Math" panose="02040503050406030204" pitchFamily="18" charset="0"/>
                              </a:rPr>
                              <m:t>1−</m:t>
                            </m:r>
                            <m:r>
                              <a:rPr lang="en-AU">
                                <a:latin typeface="Cambria Math" panose="02040503050406030204" pitchFamily="18" charset="0"/>
                              </a:rPr>
                              <m:t>𝜌</m:t>
                            </m:r>
                          </m:den>
                        </m:f>
                      </m:sup>
                    </m:sSup>
                    <m:r>
                      <a:rPr lang="en-AU">
                        <a:latin typeface="Cambria Math" panose="02040503050406030204" pitchFamily="18" charset="0"/>
                      </a:rPr>
                      <m:t>~</m:t>
                    </m:r>
                    <m:sSup>
                      <m:sSupPr>
                        <m:ctrlPr>
                          <a:rPr lang="en-AU" i="1">
                            <a:latin typeface="Cambria Math" panose="02040503050406030204" pitchFamily="18" charset="0"/>
                          </a:rPr>
                        </m:ctrlPr>
                      </m:sSupPr>
                      <m:e>
                        <m:r>
                          <a:rPr lang="en-AU">
                            <a:latin typeface="Cambria Math" panose="02040503050406030204" pitchFamily="18" charset="0"/>
                          </a:rPr>
                          <m:t>𝑒</m:t>
                        </m:r>
                      </m:e>
                      <m:sup>
                        <m:r>
                          <a:rPr lang="en-AU">
                            <a:latin typeface="Cambria Math" panose="02040503050406030204" pitchFamily="18" charset="0"/>
                          </a:rPr>
                          <m:t>𝑁</m:t>
                        </m:r>
                        <m:d>
                          <m:dPr>
                            <m:begChr m:val="["/>
                            <m:endChr m:val="]"/>
                            <m:ctrlPr>
                              <a:rPr lang="en-AU" i="1">
                                <a:latin typeface="Cambria Math" panose="02040503050406030204" pitchFamily="18" charset="0"/>
                              </a:rPr>
                            </m:ctrlPr>
                          </m:dPr>
                          <m:e>
                            <m:r>
                              <a:rPr lang="en-AU">
                                <a:latin typeface="Cambria Math" panose="02040503050406030204" pitchFamily="18" charset="0"/>
                              </a:rPr>
                              <m:t>−</m:t>
                            </m:r>
                            <m:f>
                              <m:fPr>
                                <m:ctrlPr>
                                  <a:rPr lang="en-AU" i="1">
                                    <a:latin typeface="Cambria Math" panose="02040503050406030204" pitchFamily="18" charset="0"/>
                                  </a:rPr>
                                </m:ctrlPr>
                              </m:fPr>
                              <m:num>
                                <m:r>
                                  <a:rPr lang="en-AU">
                                    <a:latin typeface="Cambria Math" panose="02040503050406030204" pitchFamily="18" charset="0"/>
                                  </a:rPr>
                                  <m:t>1</m:t>
                                </m:r>
                              </m:num>
                              <m:den>
                                <m:r>
                                  <a:rPr lang="en-AU">
                                    <a:latin typeface="Cambria Math" panose="02040503050406030204" pitchFamily="18" charset="0"/>
                                  </a:rPr>
                                  <m:t>2</m:t>
                                </m:r>
                              </m:den>
                            </m:f>
                            <m:r>
                              <a:rPr lang="en-AU">
                                <a:latin typeface="Cambria Math" panose="02040503050406030204" pitchFamily="18" charset="0"/>
                              </a:rPr>
                              <m:t>𝑙𝑛</m:t>
                            </m:r>
                            <m:r>
                              <a:rPr lang="en-AU">
                                <a:latin typeface="Cambria Math" panose="02040503050406030204" pitchFamily="18" charset="0"/>
                              </a:rPr>
                              <m:t>2,</m:t>
                            </m:r>
                            <m:r>
                              <a:rPr lang="en-AU">
                                <a:latin typeface="Cambria Math" panose="02040503050406030204" pitchFamily="18" charset="0"/>
                              </a:rPr>
                              <m:t>𝑙𝑛</m:t>
                            </m:r>
                            <m:r>
                              <a:rPr lang="en-AU">
                                <a:latin typeface="Cambria Math" panose="02040503050406030204" pitchFamily="18" charset="0"/>
                              </a:rPr>
                              <m:t>2</m:t>
                            </m:r>
                          </m:e>
                        </m:d>
                      </m:sup>
                    </m:sSup>
                  </m:oMath>
                </a14:m>
                <a:r>
                  <a:rPr lang="en-AU" dirty="0"/>
                  <a:t>, </a:t>
                </a:r>
                <a14:m>
                  <m:oMath xmlns:m="http://schemas.openxmlformats.org/officeDocument/2006/math">
                    <m:sSup>
                      <m:sSupPr>
                        <m:ctrlPr>
                          <a:rPr lang="en-AU" i="1">
                            <a:latin typeface="Cambria Math" panose="02040503050406030204" pitchFamily="18" charset="0"/>
                          </a:rPr>
                        </m:ctrlPr>
                      </m:sSupPr>
                      <m:e>
                        <m:r>
                          <a:rPr lang="en-AU">
                            <a:latin typeface="Cambria Math" panose="02040503050406030204" pitchFamily="18" charset="0"/>
                          </a:rPr>
                          <m:t>𝜏</m:t>
                        </m:r>
                      </m:e>
                      <m:sup>
                        <m:f>
                          <m:fPr>
                            <m:ctrlPr>
                              <a:rPr lang="en-AU" i="1">
                                <a:latin typeface="Cambria Math" panose="02040503050406030204" pitchFamily="18" charset="0"/>
                              </a:rPr>
                            </m:ctrlPr>
                          </m:fPr>
                          <m:num>
                            <m:acc>
                              <m:accPr>
                                <m:chr m:val="̃"/>
                                <m:ctrlPr>
                                  <a:rPr lang="en-AU" i="1">
                                    <a:latin typeface="Cambria Math" panose="02040503050406030204" pitchFamily="18" charset="0"/>
                                  </a:rPr>
                                </m:ctrlPr>
                              </m:accPr>
                              <m:e>
                                <m:r>
                                  <a:rPr lang="en-AU">
                                    <a:latin typeface="Cambria Math" panose="02040503050406030204" pitchFamily="18" charset="0"/>
                                  </a:rPr>
                                  <m:t>𝜌</m:t>
                                </m:r>
                              </m:e>
                            </m:acc>
                          </m:num>
                          <m:den>
                            <m:acc>
                              <m:accPr>
                                <m:chr m:val="̃"/>
                                <m:ctrlPr>
                                  <a:rPr lang="en-AU" i="1">
                                    <a:latin typeface="Cambria Math" panose="02040503050406030204" pitchFamily="18" charset="0"/>
                                  </a:rPr>
                                </m:ctrlPr>
                              </m:accPr>
                              <m:e>
                                <m:r>
                                  <a:rPr lang="en-AU">
                                    <a:latin typeface="Cambria Math" panose="02040503050406030204" pitchFamily="18" charset="0"/>
                                  </a:rPr>
                                  <m:t>𝜌</m:t>
                                </m:r>
                              </m:e>
                            </m:acc>
                            <m:r>
                              <a:rPr lang="en-AU">
                                <a:latin typeface="Cambria Math" panose="02040503050406030204" pitchFamily="18" charset="0"/>
                              </a:rPr>
                              <m:t>−1</m:t>
                            </m:r>
                          </m:den>
                        </m:f>
                      </m:sup>
                    </m:sSup>
                    <m:sSup>
                      <m:sSupPr>
                        <m:ctrlPr>
                          <a:rPr lang="en-AU" i="1">
                            <a:latin typeface="Cambria Math" panose="02040503050406030204" pitchFamily="18" charset="0"/>
                          </a:rPr>
                        </m:ctrlPr>
                      </m:sSupPr>
                      <m:e>
                        <m:r>
                          <a:rPr lang="en-AU">
                            <a:latin typeface="Cambria Math" panose="02040503050406030204" pitchFamily="18" charset="0"/>
                          </a:rPr>
                          <m:t>𝑓</m:t>
                        </m:r>
                      </m:e>
                      <m:sup>
                        <m:f>
                          <m:fPr>
                            <m:ctrlPr>
                              <a:rPr lang="en-AU" i="1">
                                <a:latin typeface="Cambria Math" panose="02040503050406030204" pitchFamily="18" charset="0"/>
                              </a:rPr>
                            </m:ctrlPr>
                          </m:fPr>
                          <m:num>
                            <m:d>
                              <m:dPr>
                                <m:ctrlPr>
                                  <a:rPr lang="en-AU" i="1">
                                    <a:latin typeface="Cambria Math" panose="02040503050406030204" pitchFamily="18" charset="0"/>
                                  </a:rPr>
                                </m:ctrlPr>
                              </m:dPr>
                              <m:e>
                                <m:r>
                                  <a:rPr lang="en-AU">
                                    <a:latin typeface="Cambria Math" panose="02040503050406030204" pitchFamily="18" charset="0"/>
                                  </a:rPr>
                                  <m:t>1−</m:t>
                                </m:r>
                                <m:r>
                                  <a:rPr lang="en-AU">
                                    <a:latin typeface="Cambria Math" panose="02040503050406030204" pitchFamily="18" charset="0"/>
                                  </a:rPr>
                                  <m:t>𝜌</m:t>
                                </m:r>
                              </m:e>
                            </m:d>
                            <m:acc>
                              <m:accPr>
                                <m:chr m:val="̃"/>
                                <m:ctrlPr>
                                  <a:rPr lang="en-AU" i="1">
                                    <a:latin typeface="Cambria Math" panose="02040503050406030204" pitchFamily="18" charset="0"/>
                                  </a:rPr>
                                </m:ctrlPr>
                              </m:accPr>
                              <m:e>
                                <m:r>
                                  <a:rPr lang="en-AU">
                                    <a:latin typeface="Cambria Math" panose="02040503050406030204" pitchFamily="18" charset="0"/>
                                  </a:rPr>
                                  <m:t>𝜌</m:t>
                                </m:r>
                              </m:e>
                            </m:acc>
                          </m:num>
                          <m:den>
                            <m:r>
                              <a:rPr lang="en-AU">
                                <a:latin typeface="Cambria Math" panose="02040503050406030204" pitchFamily="18" charset="0"/>
                              </a:rPr>
                              <m:t>𝜌</m:t>
                            </m:r>
                            <m:d>
                              <m:dPr>
                                <m:ctrlPr>
                                  <a:rPr lang="en-AU" i="1">
                                    <a:latin typeface="Cambria Math" panose="02040503050406030204" pitchFamily="18" charset="0"/>
                                  </a:rPr>
                                </m:ctrlPr>
                              </m:dPr>
                              <m:e>
                                <m:r>
                                  <a:rPr lang="en-AU">
                                    <a:latin typeface="Cambria Math" panose="02040503050406030204" pitchFamily="18" charset="0"/>
                                  </a:rPr>
                                  <m:t>1−</m:t>
                                </m:r>
                                <m:acc>
                                  <m:accPr>
                                    <m:chr m:val="̃"/>
                                    <m:ctrlPr>
                                      <a:rPr lang="en-AU" i="1">
                                        <a:latin typeface="Cambria Math" panose="02040503050406030204" pitchFamily="18" charset="0"/>
                                      </a:rPr>
                                    </m:ctrlPr>
                                  </m:accPr>
                                  <m:e>
                                    <m:r>
                                      <a:rPr lang="en-AU">
                                        <a:latin typeface="Cambria Math" panose="02040503050406030204" pitchFamily="18" charset="0"/>
                                      </a:rPr>
                                      <m:t>𝜌</m:t>
                                    </m:r>
                                  </m:e>
                                </m:acc>
                              </m:e>
                            </m:d>
                          </m:den>
                        </m:f>
                      </m:sup>
                    </m:sSup>
                    <m:acc>
                      <m:accPr>
                        <m:chr m:val="̃"/>
                        <m:ctrlPr>
                          <a:rPr lang="en-AU" i="1">
                            <a:latin typeface="Cambria Math" panose="02040503050406030204" pitchFamily="18" charset="0"/>
                          </a:rPr>
                        </m:ctrlPr>
                      </m:accPr>
                      <m:e>
                        <m:r>
                          <a:rPr lang="en-AU">
                            <a:latin typeface="Cambria Math" panose="02040503050406030204" pitchFamily="18" charset="0"/>
                          </a:rPr>
                          <m:t>𝐴</m:t>
                        </m:r>
                      </m:e>
                    </m:acc>
                    <m:sSup>
                      <m:sSupPr>
                        <m:ctrlPr>
                          <a:rPr lang="en-AU" i="1">
                            <a:latin typeface="Cambria Math" panose="02040503050406030204" pitchFamily="18" charset="0"/>
                          </a:rPr>
                        </m:ctrlPr>
                      </m:sSupPr>
                      <m:e>
                        <m:r>
                          <a:rPr lang="en-AU">
                            <a:latin typeface="Cambria Math" panose="02040503050406030204" pitchFamily="18" charset="0"/>
                          </a:rPr>
                          <m:t>𝐴</m:t>
                        </m:r>
                      </m:e>
                      <m:sup>
                        <m:r>
                          <a:rPr lang="en-AU">
                            <a:latin typeface="Cambria Math" panose="02040503050406030204" pitchFamily="18" charset="0"/>
                          </a:rPr>
                          <m:t>−</m:t>
                        </m:r>
                        <m:f>
                          <m:fPr>
                            <m:ctrlPr>
                              <a:rPr lang="en-AU" i="1">
                                <a:latin typeface="Cambria Math" panose="02040503050406030204" pitchFamily="18" charset="0"/>
                              </a:rPr>
                            </m:ctrlPr>
                          </m:fPr>
                          <m:num>
                            <m:d>
                              <m:dPr>
                                <m:ctrlPr>
                                  <a:rPr lang="en-AU" i="1">
                                    <a:latin typeface="Cambria Math" panose="02040503050406030204" pitchFamily="18" charset="0"/>
                                  </a:rPr>
                                </m:ctrlPr>
                              </m:dPr>
                              <m:e>
                                <m:r>
                                  <a:rPr lang="en-AU">
                                    <a:latin typeface="Cambria Math" panose="02040503050406030204" pitchFamily="18" charset="0"/>
                                  </a:rPr>
                                  <m:t>1−</m:t>
                                </m:r>
                                <m:r>
                                  <a:rPr lang="en-AU">
                                    <a:latin typeface="Cambria Math" panose="02040503050406030204" pitchFamily="18" charset="0"/>
                                  </a:rPr>
                                  <m:t>𝜌</m:t>
                                </m:r>
                              </m:e>
                            </m:d>
                            <m:acc>
                              <m:accPr>
                                <m:chr m:val="̃"/>
                                <m:ctrlPr>
                                  <a:rPr lang="en-AU" i="1">
                                    <a:latin typeface="Cambria Math" panose="02040503050406030204" pitchFamily="18" charset="0"/>
                                  </a:rPr>
                                </m:ctrlPr>
                              </m:accPr>
                              <m:e>
                                <m:r>
                                  <a:rPr lang="en-AU">
                                    <a:latin typeface="Cambria Math" panose="02040503050406030204" pitchFamily="18" charset="0"/>
                                  </a:rPr>
                                  <m:t>𝜌</m:t>
                                </m:r>
                              </m:e>
                            </m:acc>
                          </m:num>
                          <m:den>
                            <m:r>
                              <a:rPr lang="en-AU">
                                <a:latin typeface="Cambria Math" panose="02040503050406030204" pitchFamily="18" charset="0"/>
                              </a:rPr>
                              <m:t>𝜌</m:t>
                            </m:r>
                            <m:d>
                              <m:dPr>
                                <m:ctrlPr>
                                  <a:rPr lang="en-AU" i="1">
                                    <a:latin typeface="Cambria Math" panose="02040503050406030204" pitchFamily="18" charset="0"/>
                                  </a:rPr>
                                </m:ctrlPr>
                              </m:dPr>
                              <m:e>
                                <m:r>
                                  <a:rPr lang="en-AU">
                                    <a:latin typeface="Cambria Math" panose="02040503050406030204" pitchFamily="18" charset="0"/>
                                  </a:rPr>
                                  <m:t>1−</m:t>
                                </m:r>
                                <m:acc>
                                  <m:accPr>
                                    <m:chr m:val="̃"/>
                                    <m:ctrlPr>
                                      <a:rPr lang="en-AU" i="1">
                                        <a:latin typeface="Cambria Math" panose="02040503050406030204" pitchFamily="18" charset="0"/>
                                      </a:rPr>
                                    </m:ctrlPr>
                                  </m:accPr>
                                  <m:e>
                                    <m:r>
                                      <a:rPr lang="en-AU">
                                        <a:latin typeface="Cambria Math" panose="02040503050406030204" pitchFamily="18" charset="0"/>
                                      </a:rPr>
                                      <m:t>𝜌</m:t>
                                    </m:r>
                                  </m:e>
                                </m:acc>
                              </m:e>
                            </m:d>
                          </m:den>
                        </m:f>
                      </m:sup>
                    </m:sSup>
                    <m:r>
                      <a:rPr lang="en-AU">
                        <a:latin typeface="Cambria Math" panose="02040503050406030204" pitchFamily="18" charset="0"/>
                      </a:rPr>
                      <m:t>≡</m:t>
                    </m:r>
                    <m:sSup>
                      <m:sSupPr>
                        <m:ctrlPr>
                          <a:rPr lang="en-AU" i="1">
                            <a:latin typeface="Cambria Math" panose="02040503050406030204" pitchFamily="18" charset="0"/>
                          </a:rPr>
                        </m:ctrlPr>
                      </m:sSupPr>
                      <m:e>
                        <m:r>
                          <a:rPr lang="en-AU">
                            <a:latin typeface="Cambria Math" panose="02040503050406030204" pitchFamily="18" charset="0"/>
                          </a:rPr>
                          <m:t>𝑒</m:t>
                        </m:r>
                      </m:e>
                      <m:sup>
                        <m:sSub>
                          <m:sSubPr>
                            <m:ctrlPr>
                              <a:rPr lang="en-AU" i="1">
                                <a:latin typeface="Cambria Math" panose="02040503050406030204" pitchFamily="18" charset="0"/>
                              </a:rPr>
                            </m:ctrlPr>
                          </m:sSubPr>
                          <m:e>
                            <m:r>
                              <a:rPr lang="en-AU">
                                <a:latin typeface="Cambria Math" panose="02040503050406030204" pitchFamily="18" charset="0"/>
                              </a:rPr>
                              <m:t>𝛽</m:t>
                            </m:r>
                          </m:e>
                          <m:sub>
                            <m:r>
                              <a:rPr lang="en-AU">
                                <a:latin typeface="Cambria Math" panose="02040503050406030204" pitchFamily="18" charset="0"/>
                              </a:rPr>
                              <m:t>0</m:t>
                            </m:r>
                          </m:sub>
                        </m:sSub>
                      </m:sup>
                    </m:sSup>
                  </m:oMath>
                </a14:m>
                <a:r>
                  <a:rPr lang="en-AU" dirty="0"/>
                  <a:t>, </a:t>
                </a:r>
                <a14:m>
                  <m:oMath xmlns:m="http://schemas.openxmlformats.org/officeDocument/2006/math">
                    <m:f>
                      <m:fPr>
                        <m:ctrlPr>
                          <a:rPr lang="en-AU" i="1">
                            <a:latin typeface="Cambria Math" panose="02040503050406030204" pitchFamily="18" charset="0"/>
                          </a:rPr>
                        </m:ctrlPr>
                      </m:fPr>
                      <m:num>
                        <m:sSub>
                          <m:sSubPr>
                            <m:ctrlPr>
                              <a:rPr lang="en-AU" i="1">
                                <a:latin typeface="Cambria Math" panose="02040503050406030204" pitchFamily="18" charset="0"/>
                              </a:rPr>
                            </m:ctrlPr>
                          </m:sSubPr>
                          <m:e>
                            <m:r>
                              <a:rPr lang="en-AU">
                                <a:latin typeface="Cambria Math" panose="02040503050406030204" pitchFamily="18" charset="0"/>
                              </a:rPr>
                              <m:t>𝑓</m:t>
                            </m:r>
                          </m:e>
                          <m:sub>
                            <m:r>
                              <a:rPr lang="en-AU">
                                <a:latin typeface="Cambria Math" panose="02040503050406030204" pitchFamily="18" charset="0"/>
                              </a:rPr>
                              <m:t>𝑒</m:t>
                            </m:r>
                          </m:sub>
                        </m:sSub>
                      </m:num>
                      <m:den>
                        <m:r>
                          <a:rPr lang="en-AU">
                            <a:latin typeface="Cambria Math" panose="02040503050406030204" pitchFamily="18" charset="0"/>
                          </a:rPr>
                          <m:t>𝑓</m:t>
                        </m:r>
                      </m:den>
                    </m:f>
                    <m:r>
                      <a:rPr lang="en-AU">
                        <a:latin typeface="Cambria Math" panose="02040503050406030204" pitchFamily="18" charset="0"/>
                      </a:rPr>
                      <m:t>≡</m:t>
                    </m:r>
                    <m:sSup>
                      <m:sSupPr>
                        <m:ctrlPr>
                          <a:rPr lang="en-AU" i="1">
                            <a:latin typeface="Cambria Math" panose="02040503050406030204" pitchFamily="18" charset="0"/>
                          </a:rPr>
                        </m:ctrlPr>
                      </m:sSupPr>
                      <m:e>
                        <m:r>
                          <a:rPr lang="en-AU">
                            <a:latin typeface="Cambria Math" panose="02040503050406030204" pitchFamily="18" charset="0"/>
                          </a:rPr>
                          <m:t>𝑒</m:t>
                        </m:r>
                      </m:e>
                      <m:sup>
                        <m:sSub>
                          <m:sSubPr>
                            <m:ctrlPr>
                              <a:rPr lang="en-AU" i="1">
                                <a:latin typeface="Cambria Math" panose="02040503050406030204" pitchFamily="18" charset="0"/>
                              </a:rPr>
                            </m:ctrlPr>
                          </m:sSubPr>
                          <m:e>
                            <m:r>
                              <a:rPr lang="en-AU">
                                <a:latin typeface="Cambria Math" panose="02040503050406030204" pitchFamily="18" charset="0"/>
                              </a:rPr>
                              <m:t>𝛽</m:t>
                            </m:r>
                          </m:e>
                          <m:sub>
                            <m:r>
                              <a:rPr lang="en-AU">
                                <a:latin typeface="Cambria Math" panose="02040503050406030204" pitchFamily="18" charset="0"/>
                              </a:rPr>
                              <m:t>1</m:t>
                            </m:r>
                          </m:sub>
                        </m:sSub>
                      </m:sup>
                    </m:sSup>
                    <m:r>
                      <a:rPr lang="en-AU">
                        <a:latin typeface="Cambria Math" panose="02040503050406030204" pitchFamily="18" charset="0"/>
                      </a:rPr>
                      <m:t>+</m:t>
                    </m:r>
                    <m:sSub>
                      <m:sSubPr>
                        <m:ctrlPr>
                          <a:rPr lang="en-AU" i="1">
                            <a:latin typeface="Cambria Math" panose="02040503050406030204" pitchFamily="18" charset="0"/>
                          </a:rPr>
                        </m:ctrlPr>
                      </m:sSubPr>
                      <m:e>
                        <m:r>
                          <a:rPr lang="en-AU">
                            <a:latin typeface="Cambria Math" panose="02040503050406030204" pitchFamily="18" charset="0"/>
                          </a:rPr>
                          <m:t>𝜀</m:t>
                        </m:r>
                      </m:e>
                      <m:sub>
                        <m:r>
                          <a:rPr lang="en-AU">
                            <a:latin typeface="Cambria Math" panose="02040503050406030204" pitchFamily="18" charset="0"/>
                          </a:rPr>
                          <m:t>3</m:t>
                        </m:r>
                      </m:sub>
                    </m:sSub>
                  </m:oMath>
                </a14:m>
                <a:r>
                  <a:rPr lang="en-AU" dirty="0"/>
                  <a:t>, </a:t>
                </a:r>
                <a14:m>
                  <m:oMath xmlns:m="http://schemas.openxmlformats.org/officeDocument/2006/math">
                    <m:f>
                      <m:fPr>
                        <m:ctrlPr>
                          <a:rPr lang="en-AU" i="1">
                            <a:latin typeface="Cambria Math" panose="02040503050406030204" pitchFamily="18" charset="0"/>
                          </a:rPr>
                        </m:ctrlPr>
                      </m:fPr>
                      <m:num>
                        <m:sSub>
                          <m:sSubPr>
                            <m:ctrlPr>
                              <a:rPr lang="en-AU" i="1">
                                <a:latin typeface="Cambria Math" panose="02040503050406030204" pitchFamily="18" charset="0"/>
                              </a:rPr>
                            </m:ctrlPr>
                          </m:sSubPr>
                          <m:e>
                            <m:r>
                              <a:rPr lang="en-AU">
                                <a:latin typeface="Cambria Math" panose="02040503050406030204" pitchFamily="18" charset="0"/>
                              </a:rPr>
                              <m:t>𝑓</m:t>
                            </m:r>
                          </m:e>
                          <m:sub>
                            <m:r>
                              <a:rPr lang="en-AU">
                                <a:latin typeface="Cambria Math" panose="02040503050406030204" pitchFamily="18" charset="0"/>
                              </a:rPr>
                              <m:t>𝑛</m:t>
                            </m:r>
                          </m:sub>
                        </m:sSub>
                      </m:num>
                      <m:den>
                        <m:r>
                          <a:rPr lang="en-AU">
                            <a:latin typeface="Cambria Math" panose="02040503050406030204" pitchFamily="18" charset="0"/>
                          </a:rPr>
                          <m:t>𝑓</m:t>
                        </m:r>
                      </m:den>
                    </m:f>
                    <m:r>
                      <a:rPr lang="en-AU">
                        <a:latin typeface="Cambria Math" panose="02040503050406030204" pitchFamily="18" charset="0"/>
                      </a:rPr>
                      <m:t>≡</m:t>
                    </m:r>
                    <m:sSup>
                      <m:sSupPr>
                        <m:ctrlPr>
                          <a:rPr lang="en-AU" i="1">
                            <a:latin typeface="Cambria Math" panose="02040503050406030204" pitchFamily="18" charset="0"/>
                          </a:rPr>
                        </m:ctrlPr>
                      </m:sSupPr>
                      <m:e>
                        <m:r>
                          <a:rPr lang="en-AU">
                            <a:latin typeface="Cambria Math" panose="02040503050406030204" pitchFamily="18" charset="0"/>
                          </a:rPr>
                          <m:t>𝑒</m:t>
                        </m:r>
                      </m:e>
                      <m:sup>
                        <m:sSub>
                          <m:sSubPr>
                            <m:ctrlPr>
                              <a:rPr lang="en-AU" i="1">
                                <a:latin typeface="Cambria Math" panose="02040503050406030204" pitchFamily="18" charset="0"/>
                              </a:rPr>
                            </m:ctrlPr>
                          </m:sSubPr>
                          <m:e>
                            <m:r>
                              <a:rPr lang="en-AU">
                                <a:latin typeface="Cambria Math" panose="02040503050406030204" pitchFamily="18" charset="0"/>
                              </a:rPr>
                              <m:t>𝛽</m:t>
                            </m:r>
                          </m:e>
                          <m:sub>
                            <m:r>
                              <a:rPr lang="en-AU">
                                <a:latin typeface="Cambria Math" panose="02040503050406030204" pitchFamily="18" charset="0"/>
                              </a:rPr>
                              <m:t>2</m:t>
                            </m:r>
                          </m:sub>
                        </m:sSub>
                      </m:sup>
                    </m:sSup>
                    <m:r>
                      <a:rPr lang="en-AU">
                        <a:latin typeface="Cambria Math" panose="02040503050406030204" pitchFamily="18" charset="0"/>
                      </a:rPr>
                      <m:t>+</m:t>
                    </m:r>
                    <m:sSub>
                      <m:sSubPr>
                        <m:ctrlPr>
                          <a:rPr lang="en-AU" i="1">
                            <a:latin typeface="Cambria Math" panose="02040503050406030204" pitchFamily="18" charset="0"/>
                          </a:rPr>
                        </m:ctrlPr>
                      </m:sSubPr>
                      <m:e>
                        <m:r>
                          <a:rPr lang="en-AU">
                            <a:latin typeface="Cambria Math" panose="02040503050406030204" pitchFamily="18" charset="0"/>
                          </a:rPr>
                          <m:t>𝜀</m:t>
                        </m:r>
                      </m:e>
                      <m:sub>
                        <m:r>
                          <a:rPr lang="en-AU">
                            <a:latin typeface="Cambria Math" panose="02040503050406030204" pitchFamily="18" charset="0"/>
                          </a:rPr>
                          <m:t>4</m:t>
                        </m:r>
                      </m:sub>
                    </m:sSub>
                  </m:oMath>
                </a14:m>
                <a:r>
                  <a:rPr lang="en-AU" dirty="0"/>
                  <a:t>, </a:t>
                </a:r>
                <a14:m>
                  <m:oMath xmlns:m="http://schemas.openxmlformats.org/officeDocument/2006/math">
                    <m:f>
                      <m:fPr>
                        <m:ctrlPr>
                          <a:rPr lang="en-AU" i="1">
                            <a:latin typeface="Cambria Math" panose="02040503050406030204" pitchFamily="18" charset="0"/>
                          </a:rPr>
                        </m:ctrlPr>
                      </m:fPr>
                      <m:num>
                        <m:sSubSup>
                          <m:sSubSupPr>
                            <m:ctrlPr>
                              <a:rPr lang="en-AU" i="1">
                                <a:latin typeface="Cambria Math" panose="02040503050406030204" pitchFamily="18" charset="0"/>
                              </a:rPr>
                            </m:ctrlPr>
                          </m:sSubSupPr>
                          <m:e>
                            <m:r>
                              <a:rPr lang="en-AU">
                                <a:latin typeface="Cambria Math" panose="02040503050406030204" pitchFamily="18" charset="0"/>
                              </a:rPr>
                              <m:t>𝑓</m:t>
                            </m:r>
                          </m:e>
                          <m:sub>
                            <m:r>
                              <a:rPr lang="en-AU">
                                <a:latin typeface="Cambria Math" panose="02040503050406030204" pitchFamily="18" charset="0"/>
                              </a:rPr>
                              <m:t>𝑒</m:t>
                            </m:r>
                          </m:sub>
                          <m:sup>
                            <m:r>
                              <a:rPr lang="en-AU">
                                <a:latin typeface="Cambria Math" panose="02040503050406030204" pitchFamily="18" charset="0"/>
                              </a:rPr>
                              <m:t>𝑒</m:t>
                            </m:r>
                          </m:sup>
                        </m:sSubSup>
                      </m:num>
                      <m:den>
                        <m:r>
                          <a:rPr lang="en-AU">
                            <a:latin typeface="Cambria Math" panose="02040503050406030204" pitchFamily="18" charset="0"/>
                          </a:rPr>
                          <m:t>𝑓</m:t>
                        </m:r>
                      </m:den>
                    </m:f>
                    <m:r>
                      <a:rPr lang="en-AU">
                        <a:latin typeface="Cambria Math" panose="02040503050406030204" pitchFamily="18" charset="0"/>
                      </a:rPr>
                      <m:t>≡</m:t>
                    </m:r>
                    <m:sSup>
                      <m:sSupPr>
                        <m:ctrlPr>
                          <a:rPr lang="en-AU" i="1">
                            <a:latin typeface="Cambria Math" panose="02040503050406030204" pitchFamily="18" charset="0"/>
                          </a:rPr>
                        </m:ctrlPr>
                      </m:sSupPr>
                      <m:e>
                        <m:r>
                          <a:rPr lang="en-AU">
                            <a:latin typeface="Cambria Math" panose="02040503050406030204" pitchFamily="18" charset="0"/>
                          </a:rPr>
                          <m:t>𝑒</m:t>
                        </m:r>
                      </m:e>
                      <m:sup>
                        <m:sSub>
                          <m:sSubPr>
                            <m:ctrlPr>
                              <a:rPr lang="en-AU" i="1">
                                <a:latin typeface="Cambria Math" panose="02040503050406030204" pitchFamily="18" charset="0"/>
                              </a:rPr>
                            </m:ctrlPr>
                          </m:sSubPr>
                          <m:e>
                            <m:r>
                              <a:rPr lang="en-AU">
                                <a:latin typeface="Cambria Math" panose="02040503050406030204" pitchFamily="18" charset="0"/>
                              </a:rPr>
                              <m:t>𝛽</m:t>
                            </m:r>
                          </m:e>
                          <m:sub>
                            <m:r>
                              <a:rPr lang="en-AU">
                                <a:latin typeface="Cambria Math" panose="02040503050406030204" pitchFamily="18" charset="0"/>
                              </a:rPr>
                              <m:t>3</m:t>
                            </m:r>
                          </m:sub>
                        </m:sSub>
                        <m:r>
                          <a:rPr lang="en-AU">
                            <a:latin typeface="Cambria Math" panose="02040503050406030204" pitchFamily="18" charset="0"/>
                          </a:rPr>
                          <m:t>+</m:t>
                        </m:r>
                        <m:sSub>
                          <m:sSubPr>
                            <m:ctrlPr>
                              <a:rPr lang="en-AU" i="1">
                                <a:latin typeface="Cambria Math" panose="02040503050406030204" pitchFamily="18" charset="0"/>
                              </a:rPr>
                            </m:ctrlPr>
                          </m:sSubPr>
                          <m:e>
                            <m:r>
                              <a:rPr lang="en-AU">
                                <a:latin typeface="Cambria Math" panose="02040503050406030204" pitchFamily="18" charset="0"/>
                              </a:rPr>
                              <m:t>𝛽</m:t>
                            </m:r>
                          </m:e>
                          <m:sub>
                            <m:r>
                              <a:rPr lang="en-AU">
                                <a:latin typeface="Cambria Math" panose="02040503050406030204" pitchFamily="18" charset="0"/>
                              </a:rPr>
                              <m:t>4</m:t>
                            </m:r>
                          </m:sub>
                        </m:sSub>
                        <m:r>
                          <a:rPr lang="en-AU">
                            <a:latin typeface="Cambria Math" panose="02040503050406030204" pitchFamily="18" charset="0"/>
                          </a:rPr>
                          <m:t>𝐼𝑠𝐵𝑖𝑔</m:t>
                        </m:r>
                      </m:sup>
                    </m:sSup>
                    <m:r>
                      <a:rPr lang="en-AU">
                        <a:latin typeface="Cambria Math" panose="02040503050406030204" pitchFamily="18" charset="0"/>
                      </a:rPr>
                      <m:t>+</m:t>
                    </m:r>
                    <m:sSub>
                      <m:sSubPr>
                        <m:ctrlPr>
                          <a:rPr lang="en-AU" i="1">
                            <a:latin typeface="Cambria Math" panose="02040503050406030204" pitchFamily="18" charset="0"/>
                          </a:rPr>
                        </m:ctrlPr>
                      </m:sSubPr>
                      <m:e>
                        <m:r>
                          <a:rPr lang="en-AU">
                            <a:latin typeface="Cambria Math" panose="02040503050406030204" pitchFamily="18" charset="0"/>
                          </a:rPr>
                          <m:t>𝜀</m:t>
                        </m:r>
                      </m:e>
                      <m:sub>
                        <m:r>
                          <a:rPr lang="en-AU">
                            <a:latin typeface="Cambria Math" panose="02040503050406030204" pitchFamily="18" charset="0"/>
                          </a:rPr>
                          <m:t>5</m:t>
                        </m:r>
                      </m:sub>
                    </m:sSub>
                  </m:oMath>
                </a14:m>
                <a:r>
                  <a:rPr lang="en-AU" dirty="0"/>
                  <a:t>, and </a:t>
                </a:r>
                <a14:m>
                  <m:oMath xmlns:m="http://schemas.openxmlformats.org/officeDocument/2006/math">
                    <m:f>
                      <m:fPr>
                        <m:ctrlPr>
                          <a:rPr lang="en-AU" i="1">
                            <a:latin typeface="Cambria Math" panose="02040503050406030204" pitchFamily="18" charset="0"/>
                          </a:rPr>
                        </m:ctrlPr>
                      </m:fPr>
                      <m:num>
                        <m:sSubSup>
                          <m:sSubSupPr>
                            <m:ctrlPr>
                              <a:rPr lang="en-AU" i="1">
                                <a:latin typeface="Cambria Math" panose="02040503050406030204" pitchFamily="18" charset="0"/>
                              </a:rPr>
                            </m:ctrlPr>
                          </m:sSubSupPr>
                          <m:e>
                            <m:r>
                              <a:rPr lang="en-AU">
                                <a:latin typeface="Cambria Math" panose="02040503050406030204" pitchFamily="18" charset="0"/>
                              </a:rPr>
                              <m:t>𝑓</m:t>
                            </m:r>
                          </m:e>
                          <m:sub>
                            <m:r>
                              <a:rPr lang="en-AU">
                                <a:latin typeface="Cambria Math" panose="02040503050406030204" pitchFamily="18" charset="0"/>
                              </a:rPr>
                              <m:t>𝑒</m:t>
                            </m:r>
                          </m:sub>
                          <m:sup>
                            <m:r>
                              <a:rPr lang="en-AU">
                                <a:latin typeface="Cambria Math" panose="02040503050406030204" pitchFamily="18" charset="0"/>
                              </a:rPr>
                              <m:t>𝑛</m:t>
                            </m:r>
                          </m:sup>
                        </m:sSubSup>
                      </m:num>
                      <m:den>
                        <m:r>
                          <a:rPr lang="en-AU">
                            <a:latin typeface="Cambria Math" panose="02040503050406030204" pitchFamily="18" charset="0"/>
                          </a:rPr>
                          <m:t>𝑓</m:t>
                        </m:r>
                      </m:den>
                    </m:f>
                    <m:r>
                      <a:rPr lang="en-AU">
                        <a:latin typeface="Cambria Math" panose="02040503050406030204" pitchFamily="18" charset="0"/>
                      </a:rPr>
                      <m:t>≡</m:t>
                    </m:r>
                    <m:sSup>
                      <m:sSupPr>
                        <m:ctrlPr>
                          <a:rPr lang="en-AU" i="1">
                            <a:latin typeface="Cambria Math" panose="02040503050406030204" pitchFamily="18" charset="0"/>
                          </a:rPr>
                        </m:ctrlPr>
                      </m:sSupPr>
                      <m:e>
                        <m:r>
                          <a:rPr lang="en-AU">
                            <a:latin typeface="Cambria Math" panose="02040503050406030204" pitchFamily="18" charset="0"/>
                          </a:rPr>
                          <m:t>𝑒</m:t>
                        </m:r>
                      </m:e>
                      <m:sup>
                        <m:sSub>
                          <m:sSubPr>
                            <m:ctrlPr>
                              <a:rPr lang="en-AU" i="1">
                                <a:latin typeface="Cambria Math" panose="02040503050406030204" pitchFamily="18" charset="0"/>
                              </a:rPr>
                            </m:ctrlPr>
                          </m:sSubPr>
                          <m:e>
                            <m:r>
                              <a:rPr lang="en-AU">
                                <a:latin typeface="Cambria Math" panose="02040503050406030204" pitchFamily="18" charset="0"/>
                              </a:rPr>
                              <m:t>𝛽</m:t>
                            </m:r>
                          </m:e>
                          <m:sub>
                            <m:r>
                              <a:rPr lang="en-AU">
                                <a:latin typeface="Cambria Math" panose="02040503050406030204" pitchFamily="18" charset="0"/>
                              </a:rPr>
                              <m:t>5</m:t>
                            </m:r>
                          </m:sub>
                        </m:sSub>
                        <m:r>
                          <a:rPr lang="en-AU">
                            <a:latin typeface="Cambria Math" panose="02040503050406030204" pitchFamily="18" charset="0"/>
                          </a:rPr>
                          <m:t>+</m:t>
                        </m:r>
                        <m:sSub>
                          <m:sSubPr>
                            <m:ctrlPr>
                              <a:rPr lang="en-AU" i="1">
                                <a:latin typeface="Cambria Math" panose="02040503050406030204" pitchFamily="18" charset="0"/>
                              </a:rPr>
                            </m:ctrlPr>
                          </m:sSubPr>
                          <m:e>
                            <m:r>
                              <a:rPr lang="en-AU">
                                <a:latin typeface="Cambria Math" panose="02040503050406030204" pitchFamily="18" charset="0"/>
                              </a:rPr>
                              <m:t>𝛽</m:t>
                            </m:r>
                          </m:e>
                          <m:sub>
                            <m:r>
                              <a:rPr lang="en-AU">
                                <a:latin typeface="Cambria Math" panose="02040503050406030204" pitchFamily="18" charset="0"/>
                              </a:rPr>
                              <m:t>6</m:t>
                            </m:r>
                          </m:sub>
                        </m:sSub>
                        <m:r>
                          <a:rPr lang="en-AU">
                            <a:latin typeface="Cambria Math" panose="02040503050406030204" pitchFamily="18" charset="0"/>
                          </a:rPr>
                          <m:t>𝐼𝑠𝐵𝑖𝑔</m:t>
                        </m:r>
                      </m:sup>
                    </m:sSup>
                    <m:r>
                      <a:rPr lang="en-AU">
                        <a:latin typeface="Cambria Math" panose="02040503050406030204" pitchFamily="18" charset="0"/>
                      </a:rPr>
                      <m:t>+</m:t>
                    </m:r>
                    <m:sSub>
                      <m:sSubPr>
                        <m:ctrlPr>
                          <a:rPr lang="en-AU" i="1">
                            <a:latin typeface="Cambria Math" panose="02040503050406030204" pitchFamily="18" charset="0"/>
                          </a:rPr>
                        </m:ctrlPr>
                      </m:sSubPr>
                      <m:e>
                        <m:r>
                          <a:rPr lang="en-AU">
                            <a:latin typeface="Cambria Math" panose="02040503050406030204" pitchFamily="18" charset="0"/>
                          </a:rPr>
                          <m:t>𝜀</m:t>
                        </m:r>
                      </m:e>
                      <m:sub>
                        <m:r>
                          <a:rPr lang="en-AU">
                            <a:latin typeface="Cambria Math" panose="02040503050406030204" pitchFamily="18" charset="0"/>
                          </a:rPr>
                          <m:t>6</m:t>
                        </m:r>
                      </m:sub>
                    </m:sSub>
                  </m:oMath>
                </a14:m>
                <a:r>
                  <a:rPr lang="en-AU" dirty="0"/>
                  <a:t>, where </a:t>
                </a:r>
                <a14:m>
                  <m:oMath xmlns:m="http://schemas.openxmlformats.org/officeDocument/2006/math">
                    <m:sSub>
                      <m:sSubPr>
                        <m:ctrlPr>
                          <a:rPr lang="en-AU" i="1">
                            <a:latin typeface="Cambria Math" panose="02040503050406030204" pitchFamily="18" charset="0"/>
                          </a:rPr>
                        </m:ctrlPr>
                      </m:sSubPr>
                      <m:e>
                        <m:r>
                          <a:rPr lang="en-AU">
                            <a:latin typeface="Cambria Math" panose="02040503050406030204" pitchFamily="18" charset="0"/>
                          </a:rPr>
                          <m:t>𝜀</m:t>
                        </m:r>
                      </m:e>
                      <m:sub>
                        <m:r>
                          <a:rPr lang="en-AU">
                            <a:latin typeface="Cambria Math" panose="02040503050406030204" pitchFamily="18" charset="0"/>
                          </a:rPr>
                          <m:t>𝑖</m:t>
                        </m:r>
                      </m:sub>
                    </m:sSub>
                    <m:r>
                      <a:rPr lang="en-AU">
                        <a:latin typeface="Cambria Math" panose="02040503050406030204" pitchFamily="18" charset="0"/>
                      </a:rPr>
                      <m:t>~</m:t>
                    </m:r>
                    <m:r>
                      <a:rPr lang="en-AU">
                        <a:latin typeface="Cambria Math" panose="02040503050406030204" pitchFamily="18" charset="0"/>
                      </a:rPr>
                      <m:t>𝑁</m:t>
                    </m:r>
                    <m:d>
                      <m:dPr>
                        <m:begChr m:val="["/>
                        <m:endChr m:val="]"/>
                        <m:ctrlPr>
                          <a:rPr lang="en-AU" i="1">
                            <a:latin typeface="Cambria Math" panose="02040503050406030204" pitchFamily="18" charset="0"/>
                          </a:rPr>
                        </m:ctrlPr>
                      </m:dPr>
                      <m:e>
                        <m:r>
                          <a:rPr lang="en-AU">
                            <a:latin typeface="Cambria Math" panose="02040503050406030204" pitchFamily="18" charset="0"/>
                          </a:rPr>
                          <m:t>0,1</m:t>
                        </m:r>
                      </m:e>
                    </m:d>
                  </m:oMath>
                </a14:m>
                <a:r>
                  <a:rPr lang="en-AU" dirty="0"/>
                  <a:t>, </a:t>
                </a:r>
                <a14:m>
                  <m:oMath xmlns:m="http://schemas.openxmlformats.org/officeDocument/2006/math">
                    <m:r>
                      <a:rPr lang="en-AU">
                        <a:latin typeface="Cambria Math" panose="02040503050406030204" pitchFamily="18" charset="0"/>
                      </a:rPr>
                      <m:t>𝑖</m:t>
                    </m:r>
                    <m:r>
                      <a:rPr lang="en-AU">
                        <a:latin typeface="Cambria Math" panose="02040503050406030204" pitchFamily="18" charset="0"/>
                      </a:rPr>
                      <m:t>=3,4,5,6</m:t>
                    </m:r>
                  </m:oMath>
                </a14:m>
                <a:r>
                  <a:rPr lang="en-AU" dirty="0"/>
                  <a:t>; </a:t>
                </a:r>
                <a14:m>
                  <m:oMath xmlns:m="http://schemas.openxmlformats.org/officeDocument/2006/math">
                    <m:r>
                      <a:rPr lang="en-AU">
                        <a:latin typeface="Cambria Math" panose="02040503050406030204" pitchFamily="18" charset="0"/>
                      </a:rPr>
                      <m:t>𝐼𝑠𝐵𝑖𝑔</m:t>
                    </m:r>
                    <m:r>
                      <a:rPr lang="en-AU">
                        <a:latin typeface="Cambria Math" panose="02040503050406030204" pitchFamily="18" charset="0"/>
                      </a:rPr>
                      <m:t>∈</m:t>
                    </m:r>
                    <m:d>
                      <m:dPr>
                        <m:begChr m:val="{"/>
                        <m:endChr m:val="}"/>
                        <m:ctrlPr>
                          <a:rPr lang="en-AU" i="1">
                            <a:latin typeface="Cambria Math" panose="02040503050406030204" pitchFamily="18" charset="0"/>
                          </a:rPr>
                        </m:ctrlPr>
                      </m:dPr>
                      <m:e>
                        <m:r>
                          <a:rPr lang="en-AU">
                            <a:latin typeface="Cambria Math" panose="02040503050406030204" pitchFamily="18" charset="0"/>
                          </a:rPr>
                          <m:t>0,1</m:t>
                        </m:r>
                      </m:e>
                    </m:d>
                  </m:oMath>
                </a14:m>
                <a:r>
                  <a:rPr lang="en-AU" dirty="0"/>
                  <a:t> is a dummy variable, taking value 1 if a firm is big; and </a:t>
                </a:r>
                <a14:m>
                  <m:oMath xmlns:m="http://schemas.openxmlformats.org/officeDocument/2006/math">
                    <m:r>
                      <a:rPr lang="en-AU">
                        <a:latin typeface="Cambria Math" panose="02040503050406030204" pitchFamily="18" charset="0"/>
                      </a:rPr>
                      <m:t>𝛽</m:t>
                    </m:r>
                    <m:r>
                      <a:rPr lang="en-AU">
                        <a:latin typeface="Cambria Math" panose="02040503050406030204" pitchFamily="18" charset="0"/>
                      </a:rPr>
                      <m:t>≡</m:t>
                    </m:r>
                    <m:sSup>
                      <m:sSupPr>
                        <m:ctrlPr>
                          <a:rPr lang="en-AU" i="1">
                            <a:latin typeface="Cambria Math" panose="02040503050406030204" pitchFamily="18" charset="0"/>
                          </a:rPr>
                        </m:ctrlPr>
                      </m:sSupPr>
                      <m:e>
                        <m:d>
                          <m:dPr>
                            <m:ctrlPr>
                              <a:rPr lang="en-AU" i="1">
                                <a:latin typeface="Cambria Math" panose="02040503050406030204" pitchFamily="18" charset="0"/>
                              </a:rPr>
                            </m:ctrlPr>
                          </m:dPr>
                          <m:e>
                            <m:sSub>
                              <m:sSubPr>
                                <m:ctrlPr>
                                  <a:rPr lang="en-AU" i="1">
                                    <a:latin typeface="Cambria Math" panose="02040503050406030204" pitchFamily="18" charset="0"/>
                                  </a:rPr>
                                </m:ctrlPr>
                              </m:sSubPr>
                              <m:e>
                                <m:r>
                                  <a:rPr lang="en-AU">
                                    <a:latin typeface="Cambria Math" panose="02040503050406030204" pitchFamily="18" charset="0"/>
                                  </a:rPr>
                                  <m:t>𝛽</m:t>
                                </m:r>
                              </m:e>
                              <m:sub>
                                <m:r>
                                  <a:rPr lang="en-AU">
                                    <a:latin typeface="Cambria Math" panose="02040503050406030204" pitchFamily="18" charset="0"/>
                                  </a:rPr>
                                  <m:t>0</m:t>
                                </m:r>
                              </m:sub>
                            </m:sSub>
                            <m:r>
                              <a:rPr lang="en-AU">
                                <a:latin typeface="Cambria Math" panose="02040503050406030204" pitchFamily="18" charset="0"/>
                              </a:rPr>
                              <m:t>,</m:t>
                            </m:r>
                            <m:sSub>
                              <m:sSubPr>
                                <m:ctrlPr>
                                  <a:rPr lang="en-AU" i="1">
                                    <a:latin typeface="Cambria Math" panose="02040503050406030204" pitchFamily="18" charset="0"/>
                                  </a:rPr>
                                </m:ctrlPr>
                              </m:sSubPr>
                              <m:e>
                                <m:r>
                                  <a:rPr lang="en-AU">
                                    <a:latin typeface="Cambria Math" panose="02040503050406030204" pitchFamily="18" charset="0"/>
                                  </a:rPr>
                                  <m:t>𝛽</m:t>
                                </m:r>
                              </m:e>
                              <m:sub>
                                <m:r>
                                  <a:rPr lang="en-AU">
                                    <a:latin typeface="Cambria Math" panose="02040503050406030204" pitchFamily="18" charset="0"/>
                                  </a:rPr>
                                  <m:t>1</m:t>
                                </m:r>
                              </m:sub>
                            </m:sSub>
                            <m:r>
                              <a:rPr lang="en-AU">
                                <a:latin typeface="Cambria Math" panose="02040503050406030204" pitchFamily="18" charset="0"/>
                              </a:rPr>
                              <m:t>,</m:t>
                            </m:r>
                            <m:sSub>
                              <m:sSubPr>
                                <m:ctrlPr>
                                  <a:rPr lang="en-AU" i="1">
                                    <a:latin typeface="Cambria Math" panose="02040503050406030204" pitchFamily="18" charset="0"/>
                                  </a:rPr>
                                </m:ctrlPr>
                              </m:sSubPr>
                              <m:e>
                                <m:r>
                                  <a:rPr lang="en-AU">
                                    <a:latin typeface="Cambria Math" panose="02040503050406030204" pitchFamily="18" charset="0"/>
                                  </a:rPr>
                                  <m:t>𝛽</m:t>
                                </m:r>
                              </m:e>
                              <m:sub>
                                <m:r>
                                  <a:rPr lang="en-AU">
                                    <a:latin typeface="Cambria Math" panose="02040503050406030204" pitchFamily="18" charset="0"/>
                                  </a:rPr>
                                  <m:t>2</m:t>
                                </m:r>
                              </m:sub>
                            </m:sSub>
                            <m:r>
                              <a:rPr lang="en-AU">
                                <a:latin typeface="Cambria Math" panose="02040503050406030204" pitchFamily="18" charset="0"/>
                              </a:rPr>
                              <m:t>,</m:t>
                            </m:r>
                            <m:sSub>
                              <m:sSubPr>
                                <m:ctrlPr>
                                  <a:rPr lang="en-AU" i="1">
                                    <a:latin typeface="Cambria Math" panose="02040503050406030204" pitchFamily="18" charset="0"/>
                                  </a:rPr>
                                </m:ctrlPr>
                              </m:sSubPr>
                              <m:e>
                                <m:r>
                                  <a:rPr lang="en-AU">
                                    <a:latin typeface="Cambria Math" panose="02040503050406030204" pitchFamily="18" charset="0"/>
                                  </a:rPr>
                                  <m:t>𝛽</m:t>
                                </m:r>
                              </m:e>
                              <m:sub>
                                <m:r>
                                  <a:rPr lang="en-AU">
                                    <a:latin typeface="Cambria Math" panose="02040503050406030204" pitchFamily="18" charset="0"/>
                                  </a:rPr>
                                  <m:t>3</m:t>
                                </m:r>
                              </m:sub>
                            </m:sSub>
                            <m:r>
                              <a:rPr lang="en-AU">
                                <a:latin typeface="Cambria Math" panose="02040503050406030204" pitchFamily="18" charset="0"/>
                              </a:rPr>
                              <m:t>,</m:t>
                            </m:r>
                            <m:sSub>
                              <m:sSubPr>
                                <m:ctrlPr>
                                  <a:rPr lang="en-AU" i="1">
                                    <a:latin typeface="Cambria Math" panose="02040503050406030204" pitchFamily="18" charset="0"/>
                                  </a:rPr>
                                </m:ctrlPr>
                              </m:sSubPr>
                              <m:e>
                                <m:r>
                                  <a:rPr lang="en-AU">
                                    <a:latin typeface="Cambria Math" panose="02040503050406030204" pitchFamily="18" charset="0"/>
                                  </a:rPr>
                                  <m:t>𝛽</m:t>
                                </m:r>
                              </m:e>
                              <m:sub>
                                <m:r>
                                  <a:rPr lang="en-AU">
                                    <a:latin typeface="Cambria Math" panose="02040503050406030204" pitchFamily="18" charset="0"/>
                                  </a:rPr>
                                  <m:t>4</m:t>
                                </m:r>
                              </m:sub>
                            </m:sSub>
                            <m:r>
                              <a:rPr lang="en-AU">
                                <a:latin typeface="Cambria Math" panose="02040503050406030204" pitchFamily="18" charset="0"/>
                              </a:rPr>
                              <m:t>,</m:t>
                            </m:r>
                            <m:sSub>
                              <m:sSubPr>
                                <m:ctrlPr>
                                  <a:rPr lang="en-AU" i="1">
                                    <a:latin typeface="Cambria Math" panose="02040503050406030204" pitchFamily="18" charset="0"/>
                                  </a:rPr>
                                </m:ctrlPr>
                              </m:sSubPr>
                              <m:e>
                                <m:r>
                                  <a:rPr lang="en-AU">
                                    <a:latin typeface="Cambria Math" panose="02040503050406030204" pitchFamily="18" charset="0"/>
                                  </a:rPr>
                                  <m:t>𝛽</m:t>
                                </m:r>
                              </m:e>
                              <m:sub>
                                <m:r>
                                  <a:rPr lang="en-AU">
                                    <a:latin typeface="Cambria Math" panose="02040503050406030204" pitchFamily="18" charset="0"/>
                                  </a:rPr>
                                  <m:t>5</m:t>
                                </m:r>
                              </m:sub>
                            </m:sSub>
                            <m:r>
                              <a:rPr lang="en-AU">
                                <a:latin typeface="Cambria Math" panose="02040503050406030204" pitchFamily="18" charset="0"/>
                              </a:rPr>
                              <m:t>,</m:t>
                            </m:r>
                            <m:sSub>
                              <m:sSubPr>
                                <m:ctrlPr>
                                  <a:rPr lang="en-AU" i="1">
                                    <a:latin typeface="Cambria Math" panose="02040503050406030204" pitchFamily="18" charset="0"/>
                                  </a:rPr>
                                </m:ctrlPr>
                              </m:sSubPr>
                              <m:e>
                                <m:r>
                                  <a:rPr lang="en-AU">
                                    <a:latin typeface="Cambria Math" panose="02040503050406030204" pitchFamily="18" charset="0"/>
                                  </a:rPr>
                                  <m:t>𝛽</m:t>
                                </m:r>
                              </m:e>
                              <m:sub>
                                <m:r>
                                  <a:rPr lang="en-AU">
                                    <a:latin typeface="Cambria Math" panose="02040503050406030204" pitchFamily="18" charset="0"/>
                                  </a:rPr>
                                  <m:t>6</m:t>
                                </m:r>
                              </m:sub>
                            </m:sSub>
                          </m:e>
                        </m:d>
                      </m:e>
                      <m:sup>
                        <m:r>
                          <a:rPr lang="en-AU">
                            <a:latin typeface="Cambria Math" panose="02040503050406030204" pitchFamily="18" charset="0"/>
                          </a:rPr>
                          <m:t>′</m:t>
                        </m:r>
                      </m:sup>
                    </m:sSup>
                  </m:oMath>
                </a14:m>
                <a:r>
                  <a:rPr lang="en-AU" dirty="0"/>
                  <a:t> is the vector of parameters that we will estimate from data. Note </a:t>
                </a:r>
                <a14:m>
                  <m:oMath xmlns:m="http://schemas.openxmlformats.org/officeDocument/2006/math">
                    <m:sSub>
                      <m:sSubPr>
                        <m:ctrlPr>
                          <a:rPr lang="en-AU" i="1">
                            <a:latin typeface="Cambria Math" panose="02040503050406030204" pitchFamily="18" charset="0"/>
                          </a:rPr>
                        </m:ctrlPr>
                      </m:sSubPr>
                      <m:e>
                        <m:acc>
                          <m:accPr>
                            <m:chr m:val="̂"/>
                            <m:ctrlPr>
                              <a:rPr lang="en-AU" i="1">
                                <a:latin typeface="Cambria Math" panose="02040503050406030204" pitchFamily="18" charset="0"/>
                              </a:rPr>
                            </m:ctrlPr>
                          </m:accPr>
                          <m:e>
                            <m:r>
                              <a:rPr lang="en-AU">
                                <a:latin typeface="Cambria Math" panose="02040503050406030204" pitchFamily="18" charset="0"/>
                              </a:rPr>
                              <m:t>𝜆</m:t>
                            </m:r>
                          </m:e>
                        </m:acc>
                      </m:e>
                      <m:sub>
                        <m:r>
                          <a:rPr lang="en-AU">
                            <a:latin typeface="Cambria Math" panose="02040503050406030204" pitchFamily="18" charset="0"/>
                          </a:rPr>
                          <m:t>1</m:t>
                        </m:r>
                      </m:sub>
                    </m:sSub>
                  </m:oMath>
                </a14:m>
                <a:r>
                  <a:rPr lang="en-AU" dirty="0"/>
                  <a:t> and </a:t>
                </a:r>
                <a14:m>
                  <m:oMath xmlns:m="http://schemas.openxmlformats.org/officeDocument/2006/math">
                    <m:sSub>
                      <m:sSubPr>
                        <m:ctrlPr>
                          <a:rPr lang="en-AU" i="1">
                            <a:latin typeface="Cambria Math" panose="02040503050406030204" pitchFamily="18" charset="0"/>
                          </a:rPr>
                        </m:ctrlPr>
                      </m:sSubPr>
                      <m:e>
                        <m:acc>
                          <m:accPr>
                            <m:chr m:val="̂"/>
                            <m:ctrlPr>
                              <a:rPr lang="en-AU" i="1">
                                <a:latin typeface="Cambria Math" panose="02040503050406030204" pitchFamily="18" charset="0"/>
                              </a:rPr>
                            </m:ctrlPr>
                          </m:accPr>
                          <m:e>
                            <m:r>
                              <a:rPr lang="en-AU">
                                <a:latin typeface="Cambria Math" panose="02040503050406030204" pitchFamily="18" charset="0"/>
                              </a:rPr>
                              <m:t>𝜆</m:t>
                            </m:r>
                          </m:e>
                        </m:acc>
                      </m:e>
                      <m:sub>
                        <m:r>
                          <a:rPr lang="en-AU">
                            <a:latin typeface="Cambria Math" panose="02040503050406030204" pitchFamily="18" charset="0"/>
                          </a:rPr>
                          <m:t>2</m:t>
                        </m:r>
                      </m:sub>
                    </m:sSub>
                  </m:oMath>
                </a14:m>
                <a:r>
                  <a:rPr lang="en-AU" dirty="0"/>
                  <a:t> are log-normally distributed with mean and variance of 1.</a:t>
                </a:r>
              </a:p>
              <a:p>
                <a:endParaRPr lang="en-AU" dirty="0"/>
              </a:p>
            </p:txBody>
          </p:sp>
        </mc:Choice>
        <mc:Fallback xmlns="">
          <p:sp>
            <p:nvSpPr>
              <p:cNvPr id="3" name="Content Placeholder 2">
                <a:extLst>
                  <a:ext uri="{FF2B5EF4-FFF2-40B4-BE49-F238E27FC236}">
                    <a16:creationId xmlns:a16="http://schemas.microsoft.com/office/drawing/2014/main" id="{EB59318E-0521-DD09-3FEF-E9807B6DB035}"/>
                  </a:ext>
                </a:extLst>
              </p:cNvPr>
              <p:cNvSpPr>
                <a:spLocks noGrp="1" noRot="1" noChangeAspect="1" noMove="1" noResize="1" noEditPoints="1" noAdjustHandles="1" noChangeArrowheads="1" noChangeShapeType="1" noTextEdit="1"/>
              </p:cNvSpPr>
              <p:nvPr>
                <p:ph idx="1"/>
              </p:nvPr>
            </p:nvSpPr>
            <p:spPr>
              <a:blipFill>
                <a:blip r:embed="rId2"/>
                <a:stretch>
                  <a:fillRect l="-928" t="-2801" r="-58" b="-1961"/>
                </a:stretch>
              </a:blipFill>
            </p:spPr>
            <p:txBody>
              <a:bodyPr/>
              <a:lstStyle/>
              <a:p>
                <a:r>
                  <a:rPr lang="en-AU">
                    <a:noFill/>
                  </a:rPr>
                  <a:t> </a:t>
                </a:r>
              </a:p>
            </p:txBody>
          </p:sp>
        </mc:Fallback>
      </mc:AlternateContent>
    </p:spTree>
    <p:extLst>
      <p:ext uri="{BB962C8B-B14F-4D97-AF65-F5344CB8AC3E}">
        <p14:creationId xmlns:p14="http://schemas.microsoft.com/office/powerpoint/2010/main" val="41015296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46583-EC7F-AB70-5E55-928F6D0C353A}"/>
              </a:ext>
            </a:extLst>
          </p:cNvPr>
          <p:cNvSpPr>
            <a:spLocks noGrp="1"/>
          </p:cNvSpPr>
          <p:nvPr>
            <p:ph type="title"/>
          </p:nvPr>
        </p:nvSpPr>
        <p:spPr/>
        <p:txBody>
          <a:bodyPr/>
          <a:lstStyle/>
          <a:p>
            <a:r>
              <a:rPr lang="en-AU" dirty="0"/>
              <a:t>Analytical Framework-Estimation Strategy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8EAD2A2-3993-8A3E-40F1-56BEAD980054}"/>
                  </a:ext>
                </a:extLst>
              </p:cNvPr>
              <p:cNvSpPr>
                <a:spLocks noGrp="1"/>
              </p:cNvSpPr>
              <p:nvPr>
                <p:ph idx="1"/>
              </p:nvPr>
            </p:nvSpPr>
            <p:spPr/>
            <p:txBody>
              <a:bodyPr>
                <a:normAutofit lnSpcReduction="10000"/>
              </a:bodyPr>
              <a:lstStyle/>
              <a:p>
                <a:r>
                  <a:rPr lang="en-AU" dirty="0"/>
                  <a:t>The choice value functions:</a:t>
                </a:r>
              </a:p>
              <a:p>
                <a:pPr indent="266700">
                  <a:lnSpc>
                    <a:spcPct val="107000"/>
                  </a:lnSpc>
                  <a:spcAft>
                    <a:spcPts val="800"/>
                  </a:spcAft>
                </a:pPr>
                <a14:m>
                  <m:oMath xmlns:m="http://schemas.openxmlformats.org/officeDocument/2006/math">
                    <m:sSub>
                      <m:sSubPr>
                        <m:ctrlPr>
                          <a:rPr lang="en-AU" sz="1800" i="1" smtClean="0">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𝑣</m:t>
                        </m:r>
                      </m:e>
                      <m:sub>
                        <m:d>
                          <m:d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AU" sz="1800" i="1">
                                <a:effectLst/>
                                <a:latin typeface="Cambria Math" panose="02040503050406030204" pitchFamily="18" charset="0"/>
                                <a:ea typeface="DengXian" panose="02010600030101010101" pitchFamily="2" charset="-122"/>
                                <a:cs typeface="Times New Roman" panose="02020603050405020304" pitchFamily="18" charset="0"/>
                              </a:rPr>
                              <m:t>0,0</m:t>
                            </m:r>
                          </m:e>
                        </m:d>
                      </m:sub>
                    </m:sSub>
                    <m:r>
                      <a:rPr lang="en-AU" sz="1800" i="1">
                        <a:effectLst/>
                        <a:latin typeface="Cambria Math" panose="02040503050406030204" pitchFamily="18" charset="0"/>
                        <a:ea typeface="DengXian" panose="02010600030101010101" pitchFamily="2" charset="-122"/>
                        <a:cs typeface="Times New Roman" panose="02020603050405020304" pitchFamily="18" charset="0"/>
                      </a:rPr>
                      <m:t>=</m:t>
                    </m:r>
                    <m:d>
                      <m:d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AU" sz="1800" i="1">
                            <a:effectLst/>
                            <a:latin typeface="Cambria Math" panose="02040503050406030204" pitchFamily="18" charset="0"/>
                            <a:ea typeface="DengXian" panose="02010600030101010101" pitchFamily="2" charset="-122"/>
                            <a:cs typeface="Times New Roman" panose="02020603050405020304" pitchFamily="18" charset="0"/>
                          </a:rPr>
                          <m:t>1−</m:t>
                        </m:r>
                        <m:r>
                          <a:rPr lang="en-AU" sz="1800" i="1">
                            <a:effectLst/>
                            <a:latin typeface="Cambria Math" panose="02040503050406030204" pitchFamily="18" charset="0"/>
                            <a:ea typeface="DengXian" panose="02010600030101010101" pitchFamily="2" charset="-122"/>
                            <a:cs typeface="Times New Roman" panose="02020603050405020304" pitchFamily="18" charset="0"/>
                          </a:rPr>
                          <m:t>𝜌</m:t>
                        </m:r>
                      </m:e>
                    </m:d>
                    <m:sSup>
                      <m:sSup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𝜌</m:t>
                        </m:r>
                      </m:e>
                      <m:sup>
                        <m:f>
                          <m:f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fPr>
                          <m:num>
                            <m:r>
                              <a:rPr lang="en-AU" sz="1800" i="1">
                                <a:effectLst/>
                                <a:latin typeface="Cambria Math" panose="02040503050406030204" pitchFamily="18" charset="0"/>
                                <a:ea typeface="DengXian" panose="02010600030101010101" pitchFamily="2" charset="-122"/>
                                <a:cs typeface="Times New Roman" panose="02020603050405020304" pitchFamily="18" charset="0"/>
                              </a:rPr>
                              <m:t>𝜌</m:t>
                            </m:r>
                          </m:num>
                          <m:den>
                            <m:r>
                              <a:rPr lang="en-AU" sz="1800" i="1">
                                <a:effectLst/>
                                <a:latin typeface="Cambria Math" panose="02040503050406030204" pitchFamily="18" charset="0"/>
                                <a:ea typeface="DengXian" panose="02010600030101010101" pitchFamily="2" charset="-122"/>
                                <a:cs typeface="Times New Roman" panose="02020603050405020304" pitchFamily="18" charset="0"/>
                              </a:rPr>
                              <m:t>1−</m:t>
                            </m:r>
                            <m:r>
                              <a:rPr lang="en-AU" sz="1800" i="1">
                                <a:effectLst/>
                                <a:latin typeface="Cambria Math" panose="02040503050406030204" pitchFamily="18" charset="0"/>
                                <a:ea typeface="DengXian" panose="02010600030101010101" pitchFamily="2" charset="-122"/>
                                <a:cs typeface="Times New Roman" panose="02020603050405020304" pitchFamily="18" charset="0"/>
                              </a:rPr>
                              <m:t>𝜌</m:t>
                            </m:r>
                          </m:den>
                        </m:f>
                      </m:sup>
                    </m:sSup>
                    <m:sSup>
                      <m:sSup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sSupPr>
                      <m:e>
                        <m:d>
                          <m:d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dPr>
                          <m:e>
                            <m:f>
                              <m:f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fPr>
                              <m:num>
                                <m:r>
                                  <a:rPr lang="en-AU" sz="1800" i="1">
                                    <a:effectLst/>
                                    <a:latin typeface="Cambria Math" panose="02040503050406030204" pitchFamily="18" charset="0"/>
                                    <a:ea typeface="DengXian" panose="02010600030101010101" pitchFamily="2" charset="-122"/>
                                    <a:cs typeface="Times New Roman" panose="02020603050405020304" pitchFamily="18" charset="0"/>
                                  </a:rPr>
                                  <m:t>𝜓</m:t>
                                </m:r>
                              </m:num>
                              <m:den>
                                <m:r>
                                  <a:rPr lang="en-AU" sz="1800" i="1">
                                    <a:effectLst/>
                                    <a:latin typeface="Cambria Math" panose="02040503050406030204" pitchFamily="18" charset="0"/>
                                    <a:ea typeface="DengXian" panose="02010600030101010101" pitchFamily="2" charset="-122"/>
                                    <a:cs typeface="Times New Roman" panose="02020603050405020304" pitchFamily="18" charset="0"/>
                                  </a:rPr>
                                  <m:t>𝑤</m:t>
                                </m:r>
                                <m:r>
                                  <a:rPr lang="en-AU" sz="1800" i="1">
                                    <a:effectLst/>
                                    <a:latin typeface="Cambria Math" panose="02040503050406030204" pitchFamily="18" charset="0"/>
                                    <a:ea typeface="DengXian" panose="02010600030101010101" pitchFamily="2" charset="-122"/>
                                    <a:cs typeface="Times New Roman" panose="02020603050405020304" pitchFamily="18" charset="0"/>
                                  </a:rPr>
                                  <m:t>+</m:t>
                                </m:r>
                                <m:r>
                                  <a:rPr lang="en-AU" sz="1800" i="1">
                                    <a:effectLst/>
                                    <a:latin typeface="Cambria Math" panose="02040503050406030204" pitchFamily="18" charset="0"/>
                                    <a:ea typeface="DengXian" panose="02010600030101010101" pitchFamily="2" charset="-122"/>
                                    <a:cs typeface="Times New Roman" panose="02020603050405020304" pitchFamily="18" charset="0"/>
                                  </a:rPr>
                                  <m:t>𝑚</m:t>
                                </m:r>
                              </m:den>
                            </m:f>
                          </m:e>
                        </m:d>
                      </m:e>
                      <m:sup>
                        <m:f>
                          <m:f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fPr>
                          <m:num>
                            <m:r>
                              <a:rPr lang="en-AU" sz="1800" i="1">
                                <a:effectLst/>
                                <a:latin typeface="Cambria Math" panose="02040503050406030204" pitchFamily="18" charset="0"/>
                                <a:ea typeface="DengXian" panose="02010600030101010101" pitchFamily="2" charset="-122"/>
                                <a:cs typeface="Times New Roman" panose="02020603050405020304" pitchFamily="18" charset="0"/>
                              </a:rPr>
                              <m:t>𝜌</m:t>
                            </m:r>
                          </m:num>
                          <m:den>
                            <m:r>
                              <a:rPr lang="en-AU" sz="1800" i="1">
                                <a:effectLst/>
                                <a:latin typeface="Cambria Math" panose="02040503050406030204" pitchFamily="18" charset="0"/>
                                <a:ea typeface="DengXian" panose="02010600030101010101" pitchFamily="2" charset="-122"/>
                                <a:cs typeface="Times New Roman" panose="02020603050405020304" pitchFamily="18" charset="0"/>
                              </a:rPr>
                              <m:t>1−</m:t>
                            </m:r>
                            <m:r>
                              <a:rPr lang="en-AU" sz="1800" i="1">
                                <a:effectLst/>
                                <a:latin typeface="Cambria Math" panose="02040503050406030204" pitchFamily="18" charset="0"/>
                                <a:ea typeface="DengXian" panose="02010600030101010101" pitchFamily="2" charset="-122"/>
                                <a:cs typeface="Times New Roman" panose="02020603050405020304" pitchFamily="18" charset="0"/>
                              </a:rPr>
                              <m:t>𝜌</m:t>
                            </m:r>
                          </m:den>
                        </m:f>
                      </m:sup>
                    </m:sSup>
                    <m:sSub>
                      <m:sSub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sSubPr>
                      <m:e>
                        <m:acc>
                          <m:accPr>
                            <m:chr m:val="̂"/>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acc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𝜆</m:t>
                            </m:r>
                          </m:e>
                        </m:acc>
                      </m:e>
                      <m:sub>
                        <m:r>
                          <a:rPr lang="en-AU" sz="1800" i="1">
                            <a:effectLst/>
                            <a:latin typeface="Cambria Math" panose="02040503050406030204" pitchFamily="18" charset="0"/>
                            <a:ea typeface="DengXian" panose="02010600030101010101" pitchFamily="2" charset="-122"/>
                            <a:cs typeface="Times New Roman" panose="02020603050405020304" pitchFamily="18" charset="0"/>
                          </a:rPr>
                          <m:t>1</m:t>
                        </m:r>
                      </m:sub>
                    </m:sSub>
                    <m:r>
                      <a:rPr lang="en-AU" sz="1800" i="1">
                        <a:effectLst/>
                        <a:latin typeface="Cambria Math" panose="02040503050406030204" pitchFamily="18" charset="0"/>
                        <a:ea typeface="DengXian" panose="02010600030101010101" pitchFamily="2" charset="-122"/>
                        <a:cs typeface="Times New Roman" panose="02020603050405020304" pitchFamily="18" charset="0"/>
                      </a:rPr>
                      <m:t>−1+</m:t>
                    </m:r>
                    <m:r>
                      <a:rPr lang="en-AU" sz="1800" i="1">
                        <a:effectLst/>
                        <a:latin typeface="Cambria Math" panose="02040503050406030204" pitchFamily="18" charset="0"/>
                        <a:ea typeface="DengXian" panose="02010600030101010101" pitchFamily="2" charset="-122"/>
                        <a:cs typeface="Times New Roman" panose="02020603050405020304" pitchFamily="18" charset="0"/>
                      </a:rPr>
                      <m:t>𝛿𝜎</m:t>
                    </m:r>
                    <m:sSub>
                      <m:sSub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𝐸𝑣</m:t>
                        </m:r>
                      </m:e>
                      <m:sub>
                        <m:d>
                          <m:d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AU" sz="1800" i="1">
                                <a:effectLst/>
                                <a:latin typeface="Cambria Math" panose="02040503050406030204" pitchFamily="18" charset="0"/>
                                <a:ea typeface="DengXian" panose="02010600030101010101" pitchFamily="2" charset="-122"/>
                                <a:cs typeface="Times New Roman" panose="02020603050405020304" pitchFamily="18" charset="0"/>
                              </a:rPr>
                              <m:t>0,0</m:t>
                            </m:r>
                          </m:e>
                        </m:d>
                      </m:sub>
                    </m:sSub>
                  </m:oMath>
                </a14:m>
                <a:r>
                  <a:rPr lang="en-AU" sz="1800" dirty="0">
                    <a:effectLst/>
                    <a:latin typeface="Times New Roman" panose="02020603050405020304" pitchFamily="18" charset="0"/>
                    <a:ea typeface="DengXian" panose="02010600030101010101" pitchFamily="2" charset="-122"/>
                    <a:cs typeface="Times New Roman" panose="02020603050405020304" pitchFamily="18" charset="0"/>
                  </a:rPr>
                  <a:t>, </a:t>
                </a:r>
                <a:endParaRPr lang="en-AU" sz="1800" dirty="0">
                  <a:effectLst/>
                  <a:latin typeface="DengXian" panose="02010600030101010101" pitchFamily="2" charset="-122"/>
                  <a:ea typeface="DengXian" panose="02010600030101010101" pitchFamily="2" charset="-122"/>
                  <a:cs typeface="Times New Roman" panose="02020603050405020304" pitchFamily="18" charset="0"/>
                </a:endParaRPr>
              </a:p>
              <a:p>
                <a:pPr indent="266700">
                  <a:lnSpc>
                    <a:spcPct val="107000"/>
                  </a:lnSpc>
                  <a:spcAft>
                    <a:spcPts val="800"/>
                  </a:spcAft>
                </a:pPr>
                <a14:m>
                  <m:oMath xmlns:m="http://schemas.openxmlformats.org/officeDocument/2006/math">
                    <m:sSub>
                      <m:sSub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𝑣</m:t>
                        </m:r>
                      </m:e>
                      <m:sub>
                        <m:d>
                          <m:d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AU" sz="1800" i="1">
                                <a:effectLst/>
                                <a:latin typeface="Cambria Math" panose="02040503050406030204" pitchFamily="18" charset="0"/>
                                <a:ea typeface="DengXian" panose="02010600030101010101" pitchFamily="2" charset="-122"/>
                                <a:cs typeface="Times New Roman" panose="02020603050405020304" pitchFamily="18" charset="0"/>
                              </a:rPr>
                              <m:t>0,1</m:t>
                            </m:r>
                          </m:e>
                        </m:d>
                      </m:sub>
                    </m:sSub>
                    <m:r>
                      <a:rPr lang="en-AU" sz="1800" i="1">
                        <a:effectLst/>
                        <a:latin typeface="Cambria Math" panose="02040503050406030204" pitchFamily="18" charset="0"/>
                        <a:ea typeface="DengXian" panose="02010600030101010101" pitchFamily="2" charset="-122"/>
                        <a:cs typeface="Times New Roman" panose="02020603050405020304" pitchFamily="18" charset="0"/>
                      </a:rPr>
                      <m:t>=</m:t>
                    </m:r>
                    <m:d>
                      <m:d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AU" sz="1800" i="1">
                            <a:effectLst/>
                            <a:latin typeface="Cambria Math" panose="02040503050406030204" pitchFamily="18" charset="0"/>
                            <a:ea typeface="DengXian" panose="02010600030101010101" pitchFamily="2" charset="-122"/>
                            <a:cs typeface="Times New Roman" panose="02020603050405020304" pitchFamily="18" charset="0"/>
                          </a:rPr>
                          <m:t>1−</m:t>
                        </m:r>
                        <m:r>
                          <a:rPr lang="en-AU" sz="1800" i="1">
                            <a:effectLst/>
                            <a:latin typeface="Cambria Math" panose="02040503050406030204" pitchFamily="18" charset="0"/>
                            <a:ea typeface="DengXian" panose="02010600030101010101" pitchFamily="2" charset="-122"/>
                            <a:cs typeface="Times New Roman" panose="02020603050405020304" pitchFamily="18" charset="0"/>
                          </a:rPr>
                          <m:t>𝜌</m:t>
                        </m:r>
                      </m:e>
                    </m:d>
                    <m:sSup>
                      <m:sSup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𝜌</m:t>
                        </m:r>
                      </m:e>
                      <m:sup>
                        <m:f>
                          <m:f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fPr>
                          <m:num>
                            <m:r>
                              <a:rPr lang="en-AU" sz="1800" i="1">
                                <a:effectLst/>
                                <a:latin typeface="Cambria Math" panose="02040503050406030204" pitchFamily="18" charset="0"/>
                                <a:ea typeface="DengXian" panose="02010600030101010101" pitchFamily="2" charset="-122"/>
                                <a:cs typeface="Times New Roman" panose="02020603050405020304" pitchFamily="18" charset="0"/>
                              </a:rPr>
                              <m:t>𝜌</m:t>
                            </m:r>
                          </m:num>
                          <m:den>
                            <m:r>
                              <a:rPr lang="en-AU" sz="1800" i="1">
                                <a:effectLst/>
                                <a:latin typeface="Cambria Math" panose="02040503050406030204" pitchFamily="18" charset="0"/>
                                <a:ea typeface="DengXian" panose="02010600030101010101" pitchFamily="2" charset="-122"/>
                                <a:cs typeface="Times New Roman" panose="02020603050405020304" pitchFamily="18" charset="0"/>
                              </a:rPr>
                              <m:t>1−</m:t>
                            </m:r>
                            <m:r>
                              <a:rPr lang="en-AU" sz="1800" i="1">
                                <a:effectLst/>
                                <a:latin typeface="Cambria Math" panose="02040503050406030204" pitchFamily="18" charset="0"/>
                                <a:ea typeface="DengXian" panose="02010600030101010101" pitchFamily="2" charset="-122"/>
                                <a:cs typeface="Times New Roman" panose="02020603050405020304" pitchFamily="18" charset="0"/>
                              </a:rPr>
                              <m:t>𝜌</m:t>
                            </m:r>
                          </m:den>
                        </m:f>
                      </m:sup>
                    </m:sSup>
                    <m:sSup>
                      <m:sSup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sSupPr>
                      <m:e>
                        <m:d>
                          <m:d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dPr>
                          <m:e>
                            <m:f>
                              <m:f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fPr>
                              <m:num>
                                <m:r>
                                  <a:rPr lang="en-AU" sz="1800" i="1">
                                    <a:effectLst/>
                                    <a:latin typeface="Cambria Math" panose="02040503050406030204" pitchFamily="18" charset="0"/>
                                    <a:ea typeface="DengXian" panose="02010600030101010101" pitchFamily="2" charset="-122"/>
                                    <a:cs typeface="Times New Roman" panose="02020603050405020304" pitchFamily="18" charset="0"/>
                                  </a:rPr>
                                  <m:t>𝜓</m:t>
                                </m:r>
                              </m:num>
                              <m:den>
                                <m:r>
                                  <a:rPr lang="en-AU" sz="1800" i="1">
                                    <a:effectLst/>
                                    <a:latin typeface="Cambria Math" panose="02040503050406030204" pitchFamily="18" charset="0"/>
                                    <a:ea typeface="DengXian" panose="02010600030101010101" pitchFamily="2" charset="-122"/>
                                    <a:cs typeface="Times New Roman" panose="02020603050405020304" pitchFamily="18" charset="0"/>
                                  </a:rPr>
                                  <m:t>𝑤</m:t>
                                </m:r>
                                <m:r>
                                  <a:rPr lang="en-AU" sz="1800" i="1">
                                    <a:effectLst/>
                                    <a:latin typeface="Cambria Math" panose="02040503050406030204" pitchFamily="18" charset="0"/>
                                    <a:ea typeface="DengXian" panose="02010600030101010101" pitchFamily="2" charset="-122"/>
                                    <a:cs typeface="Times New Roman" panose="02020603050405020304" pitchFamily="18" charset="0"/>
                                  </a:rPr>
                                  <m:t>+</m:t>
                                </m:r>
                                <m:r>
                                  <a:rPr lang="en-AU" sz="1800" i="1">
                                    <a:effectLst/>
                                    <a:latin typeface="Cambria Math" panose="02040503050406030204" pitchFamily="18" charset="0"/>
                                    <a:ea typeface="DengXian" panose="02010600030101010101" pitchFamily="2" charset="-122"/>
                                    <a:cs typeface="Times New Roman" panose="02020603050405020304" pitchFamily="18" charset="0"/>
                                  </a:rPr>
                                  <m:t>𝑚</m:t>
                                </m:r>
                              </m:den>
                            </m:f>
                          </m:e>
                        </m:d>
                      </m:e>
                      <m:sup>
                        <m:f>
                          <m:f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fPr>
                          <m:num>
                            <m:r>
                              <a:rPr lang="en-AU" sz="1800" i="1">
                                <a:effectLst/>
                                <a:latin typeface="Cambria Math" panose="02040503050406030204" pitchFamily="18" charset="0"/>
                                <a:ea typeface="DengXian" panose="02010600030101010101" pitchFamily="2" charset="-122"/>
                                <a:cs typeface="Times New Roman" panose="02020603050405020304" pitchFamily="18" charset="0"/>
                              </a:rPr>
                              <m:t>𝜌</m:t>
                            </m:r>
                          </m:num>
                          <m:den>
                            <m:r>
                              <a:rPr lang="en-AU" sz="1800" i="1">
                                <a:effectLst/>
                                <a:latin typeface="Cambria Math" panose="02040503050406030204" pitchFamily="18" charset="0"/>
                                <a:ea typeface="DengXian" panose="02010600030101010101" pitchFamily="2" charset="-122"/>
                                <a:cs typeface="Times New Roman" panose="02020603050405020304" pitchFamily="18" charset="0"/>
                              </a:rPr>
                              <m:t>1−</m:t>
                            </m:r>
                            <m:r>
                              <a:rPr lang="en-AU" sz="1800" i="1">
                                <a:effectLst/>
                                <a:latin typeface="Cambria Math" panose="02040503050406030204" pitchFamily="18" charset="0"/>
                                <a:ea typeface="DengXian" panose="02010600030101010101" pitchFamily="2" charset="-122"/>
                                <a:cs typeface="Times New Roman" panose="02020603050405020304" pitchFamily="18" charset="0"/>
                              </a:rPr>
                              <m:t>𝜌</m:t>
                            </m:r>
                          </m:den>
                        </m:f>
                      </m:sup>
                    </m:sSup>
                    <m:sSub>
                      <m:sSub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sSubPr>
                      <m:e>
                        <m:acc>
                          <m:accPr>
                            <m:chr m:val="̂"/>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acc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𝜆</m:t>
                            </m:r>
                          </m:e>
                        </m:acc>
                      </m:e>
                      <m:sub>
                        <m:r>
                          <a:rPr lang="en-AU" sz="1800" i="1">
                            <a:effectLst/>
                            <a:latin typeface="Cambria Math" panose="02040503050406030204" pitchFamily="18" charset="0"/>
                            <a:ea typeface="DengXian" panose="02010600030101010101" pitchFamily="2" charset="-122"/>
                            <a:cs typeface="Times New Roman" panose="02020603050405020304" pitchFamily="18" charset="0"/>
                          </a:rPr>
                          <m:t>1</m:t>
                        </m:r>
                      </m:sub>
                    </m:sSub>
                    <m:r>
                      <a:rPr lang="en-AU" sz="1800" i="1">
                        <a:effectLst/>
                        <a:latin typeface="Cambria Math" panose="02040503050406030204" pitchFamily="18" charset="0"/>
                        <a:ea typeface="DengXian" panose="02010600030101010101" pitchFamily="2" charset="-122"/>
                        <a:cs typeface="Times New Roman" panose="02020603050405020304" pitchFamily="18" charset="0"/>
                      </a:rPr>
                      <m:t>+</m:t>
                    </m:r>
                    <m:d>
                      <m:d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AU" sz="1800" i="1">
                            <a:effectLst/>
                            <a:latin typeface="Cambria Math" panose="02040503050406030204" pitchFamily="18" charset="0"/>
                            <a:ea typeface="DengXian" panose="02010600030101010101" pitchFamily="2" charset="-122"/>
                            <a:cs typeface="Times New Roman" panose="02020603050405020304" pitchFamily="18" charset="0"/>
                          </a:rPr>
                          <m:t>1−</m:t>
                        </m:r>
                        <m:acc>
                          <m:accPr>
                            <m:chr m:val="̃"/>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acc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𝜌</m:t>
                            </m:r>
                          </m:e>
                        </m:acc>
                      </m:e>
                    </m:d>
                    <m:sSup>
                      <m:sSup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sSupPr>
                      <m:e>
                        <m:acc>
                          <m:accPr>
                            <m:chr m:val="̃"/>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acc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𝜌</m:t>
                            </m:r>
                          </m:e>
                        </m:acc>
                      </m:e>
                      <m:sup>
                        <m:f>
                          <m:f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fPr>
                          <m:num>
                            <m:acc>
                              <m:accPr>
                                <m:chr m:val="̃"/>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acc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𝜌</m:t>
                                </m:r>
                              </m:e>
                            </m:acc>
                          </m:num>
                          <m:den>
                            <m:r>
                              <a:rPr lang="en-AU" sz="1800" i="1">
                                <a:effectLst/>
                                <a:latin typeface="Cambria Math" panose="02040503050406030204" pitchFamily="18" charset="0"/>
                                <a:ea typeface="DengXian" panose="02010600030101010101" pitchFamily="2" charset="-122"/>
                                <a:cs typeface="Times New Roman" panose="02020603050405020304" pitchFamily="18" charset="0"/>
                              </a:rPr>
                              <m:t>1−</m:t>
                            </m:r>
                            <m:acc>
                              <m:accPr>
                                <m:chr m:val="̃"/>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acc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𝜌</m:t>
                                </m:r>
                              </m:e>
                            </m:acc>
                          </m:den>
                        </m:f>
                      </m:sup>
                    </m:sSup>
                    <m:sSup>
                      <m:sSup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𝑒</m:t>
                        </m:r>
                      </m:e>
                      <m:sup>
                        <m:sSub>
                          <m:sSub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𝛽</m:t>
                            </m:r>
                          </m:e>
                          <m:sub>
                            <m:r>
                              <a:rPr lang="en-AU" sz="1800" i="1">
                                <a:effectLst/>
                                <a:latin typeface="Cambria Math" panose="02040503050406030204" pitchFamily="18" charset="0"/>
                                <a:ea typeface="DengXian" panose="02010600030101010101" pitchFamily="2" charset="-122"/>
                                <a:cs typeface="Times New Roman" panose="02020603050405020304" pitchFamily="18" charset="0"/>
                              </a:rPr>
                              <m:t>0</m:t>
                            </m:r>
                          </m:sub>
                        </m:sSub>
                      </m:sup>
                    </m:sSup>
                    <m:sSup>
                      <m:sSup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sSupPr>
                      <m:e>
                        <m:d>
                          <m:d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dPr>
                          <m:e>
                            <m:f>
                              <m:f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fPr>
                              <m:num>
                                <m:r>
                                  <a:rPr lang="en-AU" sz="1800" i="1">
                                    <a:effectLst/>
                                    <a:latin typeface="Cambria Math" panose="02040503050406030204" pitchFamily="18" charset="0"/>
                                    <a:ea typeface="DengXian" panose="02010600030101010101" pitchFamily="2" charset="-122"/>
                                    <a:cs typeface="Times New Roman" panose="02020603050405020304" pitchFamily="18" charset="0"/>
                                  </a:rPr>
                                  <m:t>𝜓</m:t>
                                </m:r>
                              </m:num>
                              <m:den>
                                <m:r>
                                  <a:rPr lang="en-AU" sz="1800" i="1">
                                    <a:effectLst/>
                                    <a:latin typeface="Cambria Math" panose="02040503050406030204" pitchFamily="18" charset="0"/>
                                    <a:ea typeface="DengXian" panose="02010600030101010101" pitchFamily="2" charset="-122"/>
                                    <a:cs typeface="Times New Roman" panose="02020603050405020304" pitchFamily="18" charset="0"/>
                                  </a:rPr>
                                  <m:t>𝑤</m:t>
                                </m:r>
                                <m:r>
                                  <a:rPr lang="en-AU" sz="1800" i="1">
                                    <a:effectLst/>
                                    <a:latin typeface="Cambria Math" panose="02040503050406030204" pitchFamily="18" charset="0"/>
                                    <a:ea typeface="DengXian" panose="02010600030101010101" pitchFamily="2" charset="-122"/>
                                    <a:cs typeface="Times New Roman" panose="02020603050405020304" pitchFamily="18" charset="0"/>
                                  </a:rPr>
                                  <m:t>+</m:t>
                                </m:r>
                                <m:r>
                                  <a:rPr lang="en-AU" sz="1800" i="1">
                                    <a:effectLst/>
                                    <a:latin typeface="Cambria Math" panose="02040503050406030204" pitchFamily="18" charset="0"/>
                                    <a:ea typeface="DengXian" panose="02010600030101010101" pitchFamily="2" charset="-122"/>
                                    <a:cs typeface="Times New Roman" panose="02020603050405020304" pitchFamily="18" charset="0"/>
                                  </a:rPr>
                                  <m:t>𝑚</m:t>
                                </m:r>
                              </m:den>
                            </m:f>
                          </m:e>
                        </m:d>
                      </m:e>
                      <m:sup>
                        <m:f>
                          <m:f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fPr>
                          <m:num>
                            <m:acc>
                              <m:accPr>
                                <m:chr m:val="̃"/>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acc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𝜌</m:t>
                                </m:r>
                              </m:e>
                            </m:acc>
                          </m:num>
                          <m:den>
                            <m:r>
                              <a:rPr lang="en-AU" sz="1800" i="1">
                                <a:effectLst/>
                                <a:latin typeface="Cambria Math" panose="02040503050406030204" pitchFamily="18" charset="0"/>
                                <a:ea typeface="DengXian" panose="02010600030101010101" pitchFamily="2" charset="-122"/>
                                <a:cs typeface="Times New Roman" panose="02020603050405020304" pitchFamily="18" charset="0"/>
                              </a:rPr>
                              <m:t>1−</m:t>
                            </m:r>
                            <m:acc>
                              <m:accPr>
                                <m:chr m:val="̃"/>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acc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𝜌</m:t>
                                </m:r>
                              </m:e>
                            </m:acc>
                          </m:den>
                        </m:f>
                      </m:sup>
                    </m:sSup>
                    <m:sSup>
                      <m:sSup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sSupPr>
                      <m:e>
                        <m:sSub>
                          <m:sSub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sSubPr>
                          <m:e>
                            <m:acc>
                              <m:accPr>
                                <m:chr m:val="̂"/>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acc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𝜆</m:t>
                                </m:r>
                              </m:e>
                            </m:acc>
                          </m:e>
                          <m:sub>
                            <m:r>
                              <a:rPr lang="en-AU" sz="1800" i="1">
                                <a:effectLst/>
                                <a:latin typeface="Cambria Math" panose="02040503050406030204" pitchFamily="18" charset="0"/>
                                <a:ea typeface="DengXian" panose="02010600030101010101" pitchFamily="2" charset="-122"/>
                                <a:cs typeface="Times New Roman" panose="02020603050405020304" pitchFamily="18" charset="0"/>
                              </a:rPr>
                              <m:t>1</m:t>
                            </m:r>
                          </m:sub>
                        </m:sSub>
                      </m:e>
                      <m:sup>
                        <m:f>
                          <m:f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fPr>
                          <m:num>
                            <m:d>
                              <m:d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AU" sz="1800" i="1">
                                    <a:effectLst/>
                                    <a:latin typeface="Cambria Math" panose="02040503050406030204" pitchFamily="18" charset="0"/>
                                    <a:ea typeface="DengXian" panose="02010600030101010101" pitchFamily="2" charset="-122"/>
                                    <a:cs typeface="Times New Roman" panose="02020603050405020304" pitchFamily="18" charset="0"/>
                                  </a:rPr>
                                  <m:t>1−</m:t>
                                </m:r>
                                <m:r>
                                  <a:rPr lang="en-AU" sz="1800" i="1">
                                    <a:effectLst/>
                                    <a:latin typeface="Cambria Math" panose="02040503050406030204" pitchFamily="18" charset="0"/>
                                    <a:ea typeface="DengXian" panose="02010600030101010101" pitchFamily="2" charset="-122"/>
                                    <a:cs typeface="Times New Roman" panose="02020603050405020304" pitchFamily="18" charset="0"/>
                                  </a:rPr>
                                  <m:t>𝜌</m:t>
                                </m:r>
                              </m:e>
                            </m:d>
                            <m:acc>
                              <m:accPr>
                                <m:chr m:val="̃"/>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acc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𝜌</m:t>
                                </m:r>
                              </m:e>
                            </m:acc>
                          </m:num>
                          <m:den>
                            <m:r>
                              <a:rPr lang="en-AU" sz="1800" i="1">
                                <a:effectLst/>
                                <a:latin typeface="Cambria Math" panose="02040503050406030204" pitchFamily="18" charset="0"/>
                                <a:ea typeface="DengXian" panose="02010600030101010101" pitchFamily="2" charset="-122"/>
                                <a:cs typeface="Times New Roman" panose="02020603050405020304" pitchFamily="18" charset="0"/>
                              </a:rPr>
                              <m:t>𝜌</m:t>
                            </m:r>
                            <m:d>
                              <m:d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AU" sz="1800" i="1">
                                    <a:effectLst/>
                                    <a:latin typeface="Cambria Math" panose="02040503050406030204" pitchFamily="18" charset="0"/>
                                    <a:ea typeface="DengXian" panose="02010600030101010101" pitchFamily="2" charset="-122"/>
                                    <a:cs typeface="Times New Roman" panose="02020603050405020304" pitchFamily="18" charset="0"/>
                                  </a:rPr>
                                  <m:t>1−</m:t>
                                </m:r>
                                <m:acc>
                                  <m:accPr>
                                    <m:chr m:val="̃"/>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acc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𝜌</m:t>
                                    </m:r>
                                  </m:e>
                                </m:acc>
                              </m:e>
                            </m:d>
                          </m:den>
                        </m:f>
                      </m:sup>
                    </m:sSup>
                    <m:r>
                      <a:rPr lang="en-AU" sz="1800" i="1">
                        <a:effectLst/>
                        <a:latin typeface="Cambria Math" panose="02040503050406030204" pitchFamily="18" charset="0"/>
                        <a:ea typeface="DengXian" panose="02010600030101010101" pitchFamily="2" charset="-122"/>
                        <a:cs typeface="Times New Roman" panose="02020603050405020304" pitchFamily="18" charset="0"/>
                      </a:rPr>
                      <m:t>−1−</m:t>
                    </m:r>
                    <m:d>
                      <m:dPr>
                        <m:begChr m:val="{"/>
                        <m:endChr m:val="}"/>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dPr>
                      <m:e>
                        <m:sSup>
                          <m:sSup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𝑒</m:t>
                            </m:r>
                          </m:e>
                          <m:sup>
                            <m:sSub>
                              <m:sSub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𝛽</m:t>
                                </m:r>
                              </m:e>
                              <m:sub>
                                <m:r>
                                  <a:rPr lang="en-AU" sz="1800" i="1">
                                    <a:effectLst/>
                                    <a:latin typeface="Cambria Math" panose="02040503050406030204" pitchFamily="18" charset="0"/>
                                    <a:ea typeface="DengXian" panose="02010600030101010101" pitchFamily="2" charset="-122"/>
                                    <a:cs typeface="Times New Roman" panose="02020603050405020304" pitchFamily="18" charset="0"/>
                                  </a:rPr>
                                  <m:t>1</m:t>
                                </m:r>
                              </m:sub>
                            </m:sSub>
                          </m:sup>
                        </m:sSup>
                        <m:r>
                          <a:rPr lang="en-AU" sz="1800" i="1">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𝜀</m:t>
                            </m:r>
                          </m:e>
                          <m:sub>
                            <m:r>
                              <a:rPr lang="en-AU" sz="1800" i="1">
                                <a:effectLst/>
                                <a:latin typeface="Cambria Math" panose="02040503050406030204" pitchFamily="18" charset="0"/>
                                <a:ea typeface="DengXian" panose="02010600030101010101" pitchFamily="2" charset="-122"/>
                                <a:cs typeface="Times New Roman" panose="02020603050405020304" pitchFamily="18" charset="0"/>
                              </a:rPr>
                              <m:t>3</m:t>
                            </m:r>
                          </m:sub>
                        </m:sSub>
                        <m:r>
                          <a:rPr lang="en-AU" sz="1800" i="1">
                            <a:effectLst/>
                            <a:latin typeface="Cambria Math" panose="02040503050406030204" pitchFamily="18" charset="0"/>
                            <a:ea typeface="DengXian" panose="02010600030101010101" pitchFamily="2" charset="-122"/>
                            <a:cs typeface="Times New Roman" panose="02020603050405020304" pitchFamily="18" charset="0"/>
                          </a:rPr>
                          <m:t>+</m:t>
                        </m:r>
                        <m:d>
                          <m:d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dPr>
                          <m:e>
                            <m:sSup>
                              <m:sSup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𝑒</m:t>
                                </m:r>
                              </m:e>
                              <m:sup>
                                <m:sSub>
                                  <m:sSub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𝛽</m:t>
                                    </m:r>
                                  </m:e>
                                  <m:sub>
                                    <m:r>
                                      <a:rPr lang="en-AU" sz="1800" i="1">
                                        <a:effectLst/>
                                        <a:latin typeface="Cambria Math" panose="02040503050406030204" pitchFamily="18" charset="0"/>
                                        <a:ea typeface="DengXian" panose="02010600030101010101" pitchFamily="2" charset="-122"/>
                                        <a:cs typeface="Times New Roman" panose="02020603050405020304" pitchFamily="18" charset="0"/>
                                      </a:rPr>
                                      <m:t>3</m:t>
                                    </m:r>
                                  </m:sub>
                                </m:sSub>
                                <m:r>
                                  <a:rPr lang="en-AU" sz="1800" i="1">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𝛽</m:t>
                                    </m:r>
                                  </m:e>
                                  <m:sub>
                                    <m:r>
                                      <a:rPr lang="en-AU" sz="1800" i="1">
                                        <a:effectLst/>
                                        <a:latin typeface="Cambria Math" panose="02040503050406030204" pitchFamily="18" charset="0"/>
                                        <a:ea typeface="DengXian" panose="02010600030101010101" pitchFamily="2" charset="-122"/>
                                        <a:cs typeface="Times New Roman" panose="02020603050405020304" pitchFamily="18" charset="0"/>
                                      </a:rPr>
                                      <m:t>4</m:t>
                                    </m:r>
                                  </m:sub>
                                </m:sSub>
                                <m:r>
                                  <a:rPr lang="en-AU" sz="1800" i="1">
                                    <a:effectLst/>
                                    <a:latin typeface="Cambria Math" panose="02040503050406030204" pitchFamily="18" charset="0"/>
                                    <a:ea typeface="DengXian" panose="02010600030101010101" pitchFamily="2" charset="-122"/>
                                    <a:cs typeface="Times New Roman" panose="02020603050405020304" pitchFamily="18" charset="0"/>
                                  </a:rPr>
                                  <m:t>𝐼𝑠𝐵𝑖𝑔</m:t>
                                </m:r>
                              </m:sup>
                            </m:sSup>
                            <m:r>
                              <a:rPr lang="en-AU" sz="1800" i="1">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𝜀</m:t>
                                </m:r>
                              </m:e>
                              <m:sub>
                                <m:r>
                                  <a:rPr lang="en-AU" sz="1800" i="1">
                                    <a:effectLst/>
                                    <a:latin typeface="Cambria Math" panose="02040503050406030204" pitchFamily="18" charset="0"/>
                                    <a:ea typeface="DengXian" panose="02010600030101010101" pitchFamily="2" charset="-122"/>
                                    <a:cs typeface="Times New Roman" panose="02020603050405020304" pitchFamily="18" charset="0"/>
                                  </a:rPr>
                                  <m:t>5</m:t>
                                </m:r>
                              </m:sub>
                            </m:sSub>
                          </m:e>
                        </m:d>
                        <m:d>
                          <m:d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AU" sz="1800" i="1">
                                <a:effectLst/>
                                <a:latin typeface="Cambria Math" panose="02040503050406030204" pitchFamily="18" charset="0"/>
                                <a:ea typeface="DengXian" panose="02010600030101010101" pitchFamily="2" charset="-122"/>
                                <a:cs typeface="Times New Roman" panose="02020603050405020304" pitchFamily="18" charset="0"/>
                              </a:rPr>
                              <m:t>1−</m:t>
                            </m:r>
                            <m:sSub>
                              <m:sSub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𝜒</m:t>
                                </m:r>
                              </m:e>
                              <m:sub>
                                <m:r>
                                  <a:rPr lang="en-AU" sz="1800" i="1">
                                    <a:effectLst/>
                                    <a:latin typeface="Cambria Math" panose="02040503050406030204" pitchFamily="18" charset="0"/>
                                    <a:ea typeface="DengXian" panose="02010600030101010101" pitchFamily="2" charset="-122"/>
                                    <a:cs typeface="Times New Roman" panose="02020603050405020304" pitchFamily="18" charset="0"/>
                                  </a:rPr>
                                  <m:t>2,−1</m:t>
                                </m:r>
                              </m:sub>
                            </m:sSub>
                          </m:e>
                        </m:d>
                      </m:e>
                    </m:d>
                    <m:r>
                      <a:rPr lang="en-AU" sz="1800" i="1">
                        <a:effectLst/>
                        <a:latin typeface="Cambria Math" panose="02040503050406030204" pitchFamily="18" charset="0"/>
                        <a:ea typeface="DengXian" panose="02010600030101010101" pitchFamily="2" charset="-122"/>
                        <a:cs typeface="Times New Roman" panose="02020603050405020304" pitchFamily="18" charset="0"/>
                      </a:rPr>
                      <m:t>+</m:t>
                    </m:r>
                    <m:r>
                      <a:rPr lang="en-AU" sz="1800" i="1">
                        <a:effectLst/>
                        <a:latin typeface="Cambria Math" panose="02040503050406030204" pitchFamily="18" charset="0"/>
                        <a:ea typeface="DengXian" panose="02010600030101010101" pitchFamily="2" charset="-122"/>
                        <a:cs typeface="Times New Roman" panose="02020603050405020304" pitchFamily="18" charset="0"/>
                      </a:rPr>
                      <m:t>𝛿𝜎</m:t>
                    </m:r>
                    <m:sSub>
                      <m:sSub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𝐸𝑣</m:t>
                        </m:r>
                      </m:e>
                      <m:sub>
                        <m:d>
                          <m:d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AU" sz="1800" i="1">
                                <a:effectLst/>
                                <a:latin typeface="Cambria Math" panose="02040503050406030204" pitchFamily="18" charset="0"/>
                                <a:ea typeface="DengXian" panose="02010600030101010101" pitchFamily="2" charset="-122"/>
                                <a:cs typeface="Times New Roman" panose="02020603050405020304" pitchFamily="18" charset="0"/>
                              </a:rPr>
                              <m:t>0,1</m:t>
                            </m:r>
                          </m:e>
                        </m:d>
                      </m:sub>
                    </m:sSub>
                  </m:oMath>
                </a14:m>
                <a:r>
                  <a:rPr lang="en-AU" sz="1800" dirty="0">
                    <a:effectLst/>
                    <a:latin typeface="Times New Roman" panose="02020603050405020304" pitchFamily="18" charset="0"/>
                    <a:ea typeface="DengXian" panose="02010600030101010101" pitchFamily="2" charset="-122"/>
                    <a:cs typeface="Times New Roman" panose="02020603050405020304" pitchFamily="18" charset="0"/>
                  </a:rPr>
                  <a:t>, </a:t>
                </a:r>
                <a:endParaRPr lang="en-AU" sz="1800" dirty="0">
                  <a:effectLst/>
                  <a:latin typeface="DengXian" panose="02010600030101010101" pitchFamily="2" charset="-122"/>
                  <a:ea typeface="DengXian" panose="02010600030101010101" pitchFamily="2" charset="-122"/>
                  <a:cs typeface="Times New Roman" panose="02020603050405020304" pitchFamily="18" charset="0"/>
                </a:endParaRPr>
              </a:p>
              <a:p>
                <a:pPr indent="266700">
                  <a:lnSpc>
                    <a:spcPct val="107000"/>
                  </a:lnSpc>
                  <a:spcAft>
                    <a:spcPts val="800"/>
                  </a:spcAft>
                </a:pPr>
                <a14:m>
                  <m:oMath xmlns:m="http://schemas.openxmlformats.org/officeDocument/2006/math">
                    <m:sSub>
                      <m:sSub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𝑣</m:t>
                        </m:r>
                      </m:e>
                      <m:sub>
                        <m:d>
                          <m:d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AU" sz="1800" i="1">
                                <a:effectLst/>
                                <a:latin typeface="Cambria Math" panose="02040503050406030204" pitchFamily="18" charset="0"/>
                                <a:ea typeface="DengXian" panose="02010600030101010101" pitchFamily="2" charset="-122"/>
                                <a:cs typeface="Times New Roman" panose="02020603050405020304" pitchFamily="18" charset="0"/>
                              </a:rPr>
                              <m:t>1,0</m:t>
                            </m:r>
                          </m:e>
                        </m:d>
                      </m:sub>
                    </m:sSub>
                    <m:r>
                      <a:rPr lang="en-AU" sz="1800" i="1">
                        <a:effectLst/>
                        <a:latin typeface="Cambria Math" panose="02040503050406030204" pitchFamily="18" charset="0"/>
                        <a:ea typeface="DengXian" panose="02010600030101010101" pitchFamily="2" charset="-122"/>
                        <a:cs typeface="Times New Roman" panose="02020603050405020304" pitchFamily="18" charset="0"/>
                      </a:rPr>
                      <m:t>=</m:t>
                    </m:r>
                    <m:d>
                      <m:d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AU" sz="1800" i="1">
                            <a:effectLst/>
                            <a:latin typeface="Cambria Math" panose="02040503050406030204" pitchFamily="18" charset="0"/>
                            <a:ea typeface="DengXian" panose="02010600030101010101" pitchFamily="2" charset="-122"/>
                            <a:cs typeface="Times New Roman" panose="02020603050405020304" pitchFamily="18" charset="0"/>
                          </a:rPr>
                          <m:t>1−</m:t>
                        </m:r>
                        <m:r>
                          <a:rPr lang="en-AU" sz="1800" i="1">
                            <a:effectLst/>
                            <a:latin typeface="Cambria Math" panose="02040503050406030204" pitchFamily="18" charset="0"/>
                            <a:ea typeface="DengXian" panose="02010600030101010101" pitchFamily="2" charset="-122"/>
                            <a:cs typeface="Times New Roman" panose="02020603050405020304" pitchFamily="18" charset="0"/>
                          </a:rPr>
                          <m:t>𝜌</m:t>
                        </m:r>
                      </m:e>
                    </m:d>
                    <m:sSup>
                      <m:sSup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𝜌</m:t>
                        </m:r>
                      </m:e>
                      <m:sup>
                        <m:f>
                          <m:f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fPr>
                          <m:num>
                            <m:r>
                              <a:rPr lang="en-AU" sz="1800" i="1">
                                <a:effectLst/>
                                <a:latin typeface="Cambria Math" panose="02040503050406030204" pitchFamily="18" charset="0"/>
                                <a:ea typeface="DengXian" panose="02010600030101010101" pitchFamily="2" charset="-122"/>
                                <a:cs typeface="Times New Roman" panose="02020603050405020304" pitchFamily="18" charset="0"/>
                              </a:rPr>
                              <m:t>𝜌</m:t>
                            </m:r>
                          </m:num>
                          <m:den>
                            <m:r>
                              <a:rPr lang="en-AU" sz="1800" i="1">
                                <a:effectLst/>
                                <a:latin typeface="Cambria Math" panose="02040503050406030204" pitchFamily="18" charset="0"/>
                                <a:ea typeface="DengXian" panose="02010600030101010101" pitchFamily="2" charset="-122"/>
                                <a:cs typeface="Times New Roman" panose="02020603050405020304" pitchFamily="18" charset="0"/>
                              </a:rPr>
                              <m:t>1−</m:t>
                            </m:r>
                            <m:r>
                              <a:rPr lang="en-AU" sz="1800" i="1">
                                <a:effectLst/>
                                <a:latin typeface="Cambria Math" panose="02040503050406030204" pitchFamily="18" charset="0"/>
                                <a:ea typeface="DengXian" panose="02010600030101010101" pitchFamily="2" charset="-122"/>
                                <a:cs typeface="Times New Roman" panose="02020603050405020304" pitchFamily="18" charset="0"/>
                              </a:rPr>
                              <m:t>𝜌</m:t>
                            </m:r>
                          </m:den>
                        </m:f>
                      </m:sup>
                    </m:sSup>
                    <m:sSup>
                      <m:sSup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sSupPr>
                      <m:e>
                        <m:d>
                          <m:d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dPr>
                          <m:e>
                            <m:f>
                              <m:f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fPr>
                              <m:num>
                                <m:r>
                                  <a:rPr lang="en-AU" sz="1800" i="1">
                                    <a:effectLst/>
                                    <a:latin typeface="Cambria Math" panose="02040503050406030204" pitchFamily="18" charset="0"/>
                                    <a:ea typeface="DengXian" panose="02010600030101010101" pitchFamily="2" charset="-122"/>
                                    <a:cs typeface="Times New Roman" panose="02020603050405020304" pitchFamily="18" charset="0"/>
                                  </a:rPr>
                                  <m:t>𝜓</m:t>
                                </m:r>
                              </m:num>
                              <m:den>
                                <m:r>
                                  <a:rPr lang="en-AU" sz="1800" i="1">
                                    <a:effectLst/>
                                    <a:latin typeface="Cambria Math" panose="02040503050406030204" pitchFamily="18" charset="0"/>
                                    <a:ea typeface="DengXian" panose="02010600030101010101" pitchFamily="2" charset="-122"/>
                                    <a:cs typeface="Times New Roman" panose="02020603050405020304" pitchFamily="18" charset="0"/>
                                  </a:rPr>
                                  <m:t>𝑤</m:t>
                                </m:r>
                                <m:r>
                                  <a:rPr lang="en-AU" sz="1800" i="1">
                                    <a:effectLst/>
                                    <a:latin typeface="Cambria Math" panose="02040503050406030204" pitchFamily="18" charset="0"/>
                                    <a:ea typeface="DengXian" panose="02010600030101010101" pitchFamily="2" charset="-122"/>
                                    <a:cs typeface="Times New Roman" panose="02020603050405020304" pitchFamily="18" charset="0"/>
                                  </a:rPr>
                                  <m:t>+</m:t>
                                </m:r>
                                <m:r>
                                  <a:rPr lang="en-AU" sz="1800" i="1">
                                    <a:effectLst/>
                                    <a:latin typeface="Cambria Math" panose="02040503050406030204" pitchFamily="18" charset="0"/>
                                    <a:ea typeface="DengXian" panose="02010600030101010101" pitchFamily="2" charset="-122"/>
                                    <a:cs typeface="Times New Roman" panose="02020603050405020304" pitchFamily="18" charset="0"/>
                                  </a:rPr>
                                  <m:t>𝑚</m:t>
                                </m:r>
                              </m:den>
                            </m:f>
                          </m:e>
                        </m:d>
                      </m:e>
                      <m:sup>
                        <m:f>
                          <m:f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fPr>
                          <m:num>
                            <m:r>
                              <a:rPr lang="en-AU" sz="1800" i="1">
                                <a:effectLst/>
                                <a:latin typeface="Cambria Math" panose="02040503050406030204" pitchFamily="18" charset="0"/>
                                <a:ea typeface="DengXian" panose="02010600030101010101" pitchFamily="2" charset="-122"/>
                                <a:cs typeface="Times New Roman" panose="02020603050405020304" pitchFamily="18" charset="0"/>
                              </a:rPr>
                              <m:t>𝜌</m:t>
                            </m:r>
                          </m:num>
                          <m:den>
                            <m:r>
                              <a:rPr lang="en-AU" sz="1800" i="1">
                                <a:effectLst/>
                                <a:latin typeface="Cambria Math" panose="02040503050406030204" pitchFamily="18" charset="0"/>
                                <a:ea typeface="DengXian" panose="02010600030101010101" pitchFamily="2" charset="-122"/>
                                <a:cs typeface="Times New Roman" panose="02020603050405020304" pitchFamily="18" charset="0"/>
                              </a:rPr>
                              <m:t>1−</m:t>
                            </m:r>
                            <m:r>
                              <a:rPr lang="en-AU" sz="1800" i="1">
                                <a:effectLst/>
                                <a:latin typeface="Cambria Math" panose="02040503050406030204" pitchFamily="18" charset="0"/>
                                <a:ea typeface="DengXian" panose="02010600030101010101" pitchFamily="2" charset="-122"/>
                                <a:cs typeface="Times New Roman" panose="02020603050405020304" pitchFamily="18" charset="0"/>
                              </a:rPr>
                              <m:t>𝜌</m:t>
                            </m:r>
                          </m:den>
                        </m:f>
                      </m:sup>
                    </m:sSup>
                    <m:sSub>
                      <m:sSub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sSubPr>
                      <m:e>
                        <m:acc>
                          <m:accPr>
                            <m:chr m:val="̂"/>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acc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𝜆</m:t>
                            </m:r>
                          </m:e>
                        </m:acc>
                      </m:e>
                      <m:sub>
                        <m:r>
                          <a:rPr lang="en-AU" sz="1800" i="1">
                            <a:effectLst/>
                            <a:latin typeface="Cambria Math" panose="02040503050406030204" pitchFamily="18" charset="0"/>
                            <a:ea typeface="DengXian" panose="02010600030101010101" pitchFamily="2" charset="-122"/>
                            <a:cs typeface="Times New Roman" panose="02020603050405020304" pitchFamily="18" charset="0"/>
                          </a:rPr>
                          <m:t>1</m:t>
                        </m:r>
                      </m:sub>
                    </m:sSub>
                    <m:d>
                      <m:d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AU" sz="1800" i="1">
                            <a:effectLst/>
                            <a:latin typeface="Cambria Math" panose="02040503050406030204" pitchFamily="18" charset="0"/>
                            <a:ea typeface="DengXian" panose="02010600030101010101" pitchFamily="2" charset="-122"/>
                            <a:cs typeface="Times New Roman" panose="02020603050405020304" pitchFamily="18" charset="0"/>
                          </a:rPr>
                          <m:t>1+</m:t>
                        </m:r>
                        <m:sSub>
                          <m:sSub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sSubPr>
                          <m:e>
                            <m:acc>
                              <m:accPr>
                                <m:chr m:val="̂"/>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acc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𝜆</m:t>
                                </m:r>
                              </m:e>
                            </m:acc>
                          </m:e>
                          <m:sub>
                            <m:r>
                              <a:rPr lang="en-AU" sz="1800" i="1">
                                <a:effectLst/>
                                <a:latin typeface="Cambria Math" panose="02040503050406030204" pitchFamily="18" charset="0"/>
                                <a:ea typeface="DengXian" panose="02010600030101010101" pitchFamily="2" charset="-122"/>
                                <a:cs typeface="Times New Roman" panose="02020603050405020304" pitchFamily="18" charset="0"/>
                              </a:rPr>
                              <m:t>2</m:t>
                            </m:r>
                          </m:sub>
                        </m:sSub>
                      </m:e>
                    </m:d>
                    <m:r>
                      <a:rPr lang="en-AU" sz="1800" i="1">
                        <a:effectLst/>
                        <a:latin typeface="Cambria Math" panose="02040503050406030204" pitchFamily="18" charset="0"/>
                        <a:ea typeface="DengXian" panose="02010600030101010101" pitchFamily="2" charset="-122"/>
                        <a:cs typeface="Times New Roman" panose="02020603050405020304" pitchFamily="18" charset="0"/>
                      </a:rPr>
                      <m:t>−1−</m:t>
                    </m:r>
                    <m:d>
                      <m:dPr>
                        <m:begChr m:val="{"/>
                        <m:endChr m:val="}"/>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dPr>
                      <m:e>
                        <m:sSup>
                          <m:sSup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𝑒</m:t>
                            </m:r>
                          </m:e>
                          <m:sup>
                            <m:sSub>
                              <m:sSub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𝛽</m:t>
                                </m:r>
                              </m:e>
                              <m:sub>
                                <m:r>
                                  <a:rPr lang="en-AU" sz="1800" i="1">
                                    <a:effectLst/>
                                    <a:latin typeface="Cambria Math" panose="02040503050406030204" pitchFamily="18" charset="0"/>
                                    <a:ea typeface="DengXian" panose="02010600030101010101" pitchFamily="2" charset="-122"/>
                                    <a:cs typeface="Times New Roman" panose="02020603050405020304" pitchFamily="18" charset="0"/>
                                  </a:rPr>
                                  <m:t>2</m:t>
                                </m:r>
                              </m:sub>
                            </m:sSub>
                          </m:sup>
                        </m:sSup>
                        <m:r>
                          <a:rPr lang="en-AU" sz="1800" i="1">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𝜀</m:t>
                            </m:r>
                          </m:e>
                          <m:sub>
                            <m:r>
                              <a:rPr lang="en-AU" sz="1800" i="1">
                                <a:effectLst/>
                                <a:latin typeface="Cambria Math" panose="02040503050406030204" pitchFamily="18" charset="0"/>
                                <a:ea typeface="DengXian" panose="02010600030101010101" pitchFamily="2" charset="-122"/>
                                <a:cs typeface="Times New Roman" panose="02020603050405020304" pitchFamily="18" charset="0"/>
                              </a:rPr>
                              <m:t>4</m:t>
                            </m:r>
                          </m:sub>
                        </m:sSub>
                        <m:r>
                          <a:rPr lang="en-AU" sz="1800" i="1">
                            <a:effectLst/>
                            <a:latin typeface="Cambria Math" panose="02040503050406030204" pitchFamily="18" charset="0"/>
                            <a:ea typeface="DengXian" panose="02010600030101010101" pitchFamily="2" charset="-122"/>
                            <a:cs typeface="Times New Roman" panose="02020603050405020304" pitchFamily="18" charset="0"/>
                          </a:rPr>
                          <m:t>+</m:t>
                        </m:r>
                        <m:d>
                          <m:d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dPr>
                          <m:e>
                            <m:sSup>
                              <m:sSup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𝑒</m:t>
                                </m:r>
                              </m:e>
                              <m:sup>
                                <m:sSub>
                                  <m:sSub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𝛽</m:t>
                                    </m:r>
                                  </m:e>
                                  <m:sub>
                                    <m:r>
                                      <a:rPr lang="en-AU" sz="1800" i="1">
                                        <a:effectLst/>
                                        <a:latin typeface="Cambria Math" panose="02040503050406030204" pitchFamily="18" charset="0"/>
                                        <a:ea typeface="DengXian" panose="02010600030101010101" pitchFamily="2" charset="-122"/>
                                        <a:cs typeface="Times New Roman" panose="02020603050405020304" pitchFamily="18" charset="0"/>
                                      </a:rPr>
                                      <m:t>5</m:t>
                                    </m:r>
                                  </m:sub>
                                </m:sSub>
                                <m:r>
                                  <a:rPr lang="en-AU" sz="1800" i="1">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𝛽</m:t>
                                    </m:r>
                                  </m:e>
                                  <m:sub>
                                    <m:r>
                                      <a:rPr lang="en-AU" sz="1800" i="1">
                                        <a:effectLst/>
                                        <a:latin typeface="Cambria Math" panose="02040503050406030204" pitchFamily="18" charset="0"/>
                                        <a:ea typeface="DengXian" panose="02010600030101010101" pitchFamily="2" charset="-122"/>
                                        <a:cs typeface="Times New Roman" panose="02020603050405020304" pitchFamily="18" charset="0"/>
                                      </a:rPr>
                                      <m:t>6</m:t>
                                    </m:r>
                                  </m:sub>
                                </m:sSub>
                                <m:r>
                                  <a:rPr lang="en-AU" sz="1800" i="1">
                                    <a:effectLst/>
                                    <a:latin typeface="Cambria Math" panose="02040503050406030204" pitchFamily="18" charset="0"/>
                                    <a:ea typeface="DengXian" panose="02010600030101010101" pitchFamily="2" charset="-122"/>
                                    <a:cs typeface="Times New Roman" panose="02020603050405020304" pitchFamily="18" charset="0"/>
                                  </a:rPr>
                                  <m:t>𝐼𝑠𝐵𝑖𝑔</m:t>
                                </m:r>
                              </m:sup>
                            </m:sSup>
                            <m:r>
                              <a:rPr lang="en-AU" sz="1800" i="1">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𝜀</m:t>
                                </m:r>
                              </m:e>
                              <m:sub>
                                <m:r>
                                  <a:rPr lang="en-AU" sz="1800" i="1">
                                    <a:effectLst/>
                                    <a:latin typeface="Cambria Math" panose="02040503050406030204" pitchFamily="18" charset="0"/>
                                    <a:ea typeface="DengXian" panose="02010600030101010101" pitchFamily="2" charset="-122"/>
                                    <a:cs typeface="Times New Roman" panose="02020603050405020304" pitchFamily="18" charset="0"/>
                                  </a:rPr>
                                  <m:t>6</m:t>
                                </m:r>
                              </m:sub>
                            </m:sSub>
                          </m:e>
                        </m:d>
                        <m:d>
                          <m:d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AU" sz="1800" i="1">
                                <a:effectLst/>
                                <a:latin typeface="Cambria Math" panose="02040503050406030204" pitchFamily="18" charset="0"/>
                                <a:ea typeface="DengXian" panose="02010600030101010101" pitchFamily="2" charset="-122"/>
                                <a:cs typeface="Times New Roman" panose="02020603050405020304" pitchFamily="18" charset="0"/>
                              </a:rPr>
                              <m:t>1−</m:t>
                            </m:r>
                            <m:sSub>
                              <m:sSub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𝜒</m:t>
                                </m:r>
                              </m:e>
                              <m:sub>
                                <m:r>
                                  <a:rPr lang="en-AU" sz="1800" i="1">
                                    <a:effectLst/>
                                    <a:latin typeface="Cambria Math" panose="02040503050406030204" pitchFamily="18" charset="0"/>
                                    <a:ea typeface="DengXian" panose="02010600030101010101" pitchFamily="2" charset="-122"/>
                                    <a:cs typeface="Times New Roman" panose="02020603050405020304" pitchFamily="18" charset="0"/>
                                  </a:rPr>
                                  <m:t>1,−1</m:t>
                                </m:r>
                              </m:sub>
                            </m:sSub>
                          </m:e>
                        </m:d>
                      </m:e>
                    </m:d>
                    <m:r>
                      <a:rPr lang="en-AU" sz="1800" i="1">
                        <a:effectLst/>
                        <a:latin typeface="Cambria Math" panose="02040503050406030204" pitchFamily="18" charset="0"/>
                        <a:ea typeface="DengXian" panose="02010600030101010101" pitchFamily="2" charset="-122"/>
                        <a:cs typeface="Times New Roman" panose="02020603050405020304" pitchFamily="18" charset="0"/>
                      </a:rPr>
                      <m:t>+</m:t>
                    </m:r>
                    <m:r>
                      <a:rPr lang="en-AU" sz="1800" i="1">
                        <a:effectLst/>
                        <a:latin typeface="Cambria Math" panose="02040503050406030204" pitchFamily="18" charset="0"/>
                        <a:ea typeface="DengXian" panose="02010600030101010101" pitchFamily="2" charset="-122"/>
                        <a:cs typeface="Times New Roman" panose="02020603050405020304" pitchFamily="18" charset="0"/>
                      </a:rPr>
                      <m:t>𝛿𝜎</m:t>
                    </m:r>
                    <m:sSub>
                      <m:sSub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AU" sz="1800" i="1">
                            <a:effectLst/>
                            <a:latin typeface="Cambria Math" panose="02040503050406030204" pitchFamily="18" charset="0"/>
                            <a:ea typeface="DengXian" panose="02010600030101010101" pitchFamily="2" charset="-122"/>
                            <a:cs typeface="Times New Roman" panose="02020603050405020304" pitchFamily="18" charset="0"/>
                          </a:rPr>
                          <m:t>𝐸𝑣</m:t>
                        </m:r>
                      </m:e>
                      <m:sub>
                        <m:d>
                          <m:dPr>
                            <m:ctrlPr>
                              <a:rPr lang="en-AU" sz="18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AU" sz="1800" i="1">
                                <a:effectLst/>
                                <a:latin typeface="Cambria Math" panose="02040503050406030204" pitchFamily="18" charset="0"/>
                                <a:ea typeface="DengXian" panose="02010600030101010101" pitchFamily="2" charset="-122"/>
                                <a:cs typeface="Times New Roman" panose="02020603050405020304" pitchFamily="18" charset="0"/>
                              </a:rPr>
                              <m:t>1,0</m:t>
                            </m:r>
                          </m:e>
                        </m:d>
                      </m:sub>
                    </m:sSub>
                  </m:oMath>
                </a14:m>
                <a:r>
                  <a:rPr lang="en-AU" sz="1800" dirty="0">
                    <a:effectLst/>
                    <a:latin typeface="Times New Roman" panose="02020603050405020304" pitchFamily="18" charset="0"/>
                    <a:ea typeface="DengXian" panose="02010600030101010101" pitchFamily="2" charset="-122"/>
                    <a:cs typeface="Times New Roman" panose="02020603050405020304" pitchFamily="18" charset="0"/>
                  </a:rPr>
                  <a:t>, </a:t>
                </a:r>
                <a:endParaRPr lang="en-AU" sz="1800" i="1" dirty="0">
                  <a:effectLst/>
                  <a:latin typeface="Cambria Math" panose="02040503050406030204" pitchFamily="18" charset="0"/>
                  <a:cs typeface="Times New Roman" panose="02020603050405020304" pitchFamily="18" charset="0"/>
                </a:endParaRPr>
              </a:p>
              <a:p>
                <a:pPr indent="266700">
                  <a:lnSpc>
                    <a:spcPct val="107000"/>
                  </a:lnSpc>
                  <a:spcAft>
                    <a:spcPts val="800"/>
                  </a:spcAft>
                </a:pPr>
                <a14:m>
                  <m:oMath xmlns:m="http://schemas.openxmlformats.org/officeDocument/2006/math">
                    <m:sSub>
                      <m:sSubPr>
                        <m:ctrlPr>
                          <a:rPr lang="en-AU" sz="1800" i="1">
                            <a:effectLst/>
                            <a:latin typeface="Cambria Math" panose="02040503050406030204" pitchFamily="18" charset="0"/>
                            <a:cs typeface="Times New Roman" panose="02020603050405020304" pitchFamily="18" charset="0"/>
                          </a:rPr>
                        </m:ctrlPr>
                      </m:sSub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𝑣</m:t>
                        </m:r>
                      </m:e>
                      <m:sub>
                        <m:d>
                          <m:dPr>
                            <m:ctrlPr>
                              <a:rPr lang="en-AU" sz="1800" i="1">
                                <a:effectLst/>
                                <a:latin typeface="Cambria Math" panose="02040503050406030204" pitchFamily="18" charset="0"/>
                                <a:cs typeface="Times New Roman" panose="02020603050405020304" pitchFamily="18" charset="0"/>
                              </a:rPr>
                            </m:ctrlPr>
                          </m:d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1,1</m:t>
                            </m:r>
                          </m:e>
                        </m:d>
                      </m:sub>
                    </m:sSub>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m:t>
                    </m:r>
                    <m:d>
                      <m:dPr>
                        <m:ctrlPr>
                          <a:rPr lang="en-AU" sz="1800" i="1">
                            <a:effectLst/>
                            <a:latin typeface="Cambria Math" panose="02040503050406030204" pitchFamily="18" charset="0"/>
                            <a:cs typeface="Times New Roman" panose="02020603050405020304" pitchFamily="18" charset="0"/>
                          </a:rPr>
                        </m:ctrlPr>
                      </m:d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1−</m:t>
                        </m:r>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𝜌</m:t>
                        </m:r>
                      </m:e>
                    </m:d>
                    <m:sSup>
                      <m:sSupPr>
                        <m:ctrlPr>
                          <a:rPr lang="en-AU" sz="1800" i="1">
                            <a:effectLst/>
                            <a:latin typeface="Cambria Math" panose="02040503050406030204" pitchFamily="18" charset="0"/>
                            <a:cs typeface="Times New Roman" panose="02020603050405020304" pitchFamily="18" charset="0"/>
                          </a:rPr>
                        </m:ctrlPr>
                      </m:sSup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𝜌</m:t>
                        </m:r>
                      </m:e>
                      <m:sup>
                        <m:f>
                          <m:fPr>
                            <m:ctrlPr>
                              <a:rPr lang="en-AU" sz="1800" i="1">
                                <a:effectLst/>
                                <a:latin typeface="Cambria Math" panose="02040503050406030204" pitchFamily="18" charset="0"/>
                                <a:cs typeface="Times New Roman" panose="02020603050405020304" pitchFamily="18" charset="0"/>
                              </a:rPr>
                            </m:ctrlPr>
                          </m:fPr>
                          <m:num>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𝜌</m:t>
                            </m:r>
                          </m:num>
                          <m:den>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1−</m:t>
                            </m:r>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𝜌</m:t>
                            </m:r>
                          </m:den>
                        </m:f>
                      </m:sup>
                    </m:sSup>
                    <m:sSup>
                      <m:sSupPr>
                        <m:ctrlPr>
                          <a:rPr lang="en-AU" sz="1800" i="1">
                            <a:effectLst/>
                            <a:latin typeface="Cambria Math" panose="02040503050406030204" pitchFamily="18" charset="0"/>
                            <a:cs typeface="Times New Roman" panose="02020603050405020304" pitchFamily="18" charset="0"/>
                          </a:rPr>
                        </m:ctrlPr>
                      </m:sSupPr>
                      <m:e>
                        <m:d>
                          <m:dPr>
                            <m:ctrlPr>
                              <a:rPr lang="en-AU" sz="1800" i="1">
                                <a:effectLst/>
                                <a:latin typeface="Cambria Math" panose="02040503050406030204" pitchFamily="18" charset="0"/>
                                <a:cs typeface="Times New Roman" panose="02020603050405020304" pitchFamily="18" charset="0"/>
                              </a:rPr>
                            </m:ctrlPr>
                          </m:dPr>
                          <m:e>
                            <m:f>
                              <m:fPr>
                                <m:ctrlPr>
                                  <a:rPr lang="en-AU" sz="1800" i="1">
                                    <a:effectLst/>
                                    <a:latin typeface="Cambria Math" panose="02040503050406030204" pitchFamily="18" charset="0"/>
                                    <a:cs typeface="Times New Roman" panose="02020603050405020304" pitchFamily="18" charset="0"/>
                                  </a:rPr>
                                </m:ctrlPr>
                              </m:fPr>
                              <m:num>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𝜓</m:t>
                                </m:r>
                              </m:num>
                              <m:den>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𝑤</m:t>
                                </m:r>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m:t>
                                </m:r>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𝑚</m:t>
                                </m:r>
                              </m:den>
                            </m:f>
                          </m:e>
                        </m:d>
                      </m:e>
                      <m:sup>
                        <m:f>
                          <m:fPr>
                            <m:ctrlPr>
                              <a:rPr lang="en-AU" sz="1800" i="1">
                                <a:effectLst/>
                                <a:latin typeface="Cambria Math" panose="02040503050406030204" pitchFamily="18" charset="0"/>
                                <a:cs typeface="Times New Roman" panose="02020603050405020304" pitchFamily="18" charset="0"/>
                              </a:rPr>
                            </m:ctrlPr>
                          </m:fPr>
                          <m:num>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𝜌</m:t>
                            </m:r>
                          </m:num>
                          <m:den>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1−</m:t>
                            </m:r>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𝜌</m:t>
                            </m:r>
                          </m:den>
                        </m:f>
                      </m:sup>
                    </m:sSup>
                    <m:sSub>
                      <m:sSubPr>
                        <m:ctrlPr>
                          <a:rPr lang="en-AU" sz="1800" i="1">
                            <a:effectLst/>
                            <a:latin typeface="Cambria Math" panose="02040503050406030204" pitchFamily="18" charset="0"/>
                            <a:cs typeface="Times New Roman" panose="02020603050405020304" pitchFamily="18" charset="0"/>
                          </a:rPr>
                        </m:ctrlPr>
                      </m:sSubPr>
                      <m:e>
                        <m:acc>
                          <m:accPr>
                            <m:chr m:val="̂"/>
                            <m:ctrlPr>
                              <a:rPr lang="en-AU" sz="1800" i="1">
                                <a:effectLst/>
                                <a:latin typeface="Cambria Math" panose="02040503050406030204" pitchFamily="18" charset="0"/>
                                <a:cs typeface="Times New Roman" panose="02020603050405020304" pitchFamily="18" charset="0"/>
                              </a:rPr>
                            </m:ctrlPr>
                          </m:acc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𝜆</m:t>
                            </m:r>
                          </m:e>
                        </m:acc>
                      </m:e>
                      <m:sub>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1</m:t>
                        </m:r>
                      </m:sub>
                    </m:sSub>
                    <m:d>
                      <m:dPr>
                        <m:ctrlPr>
                          <a:rPr lang="en-AU" sz="1800" i="1">
                            <a:effectLst/>
                            <a:latin typeface="Cambria Math" panose="02040503050406030204" pitchFamily="18" charset="0"/>
                            <a:cs typeface="Times New Roman" panose="02020603050405020304" pitchFamily="18" charset="0"/>
                          </a:rPr>
                        </m:ctrlPr>
                      </m:d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1+</m:t>
                        </m:r>
                        <m:sSub>
                          <m:sSubPr>
                            <m:ctrlPr>
                              <a:rPr lang="en-AU" sz="1800" i="1">
                                <a:effectLst/>
                                <a:latin typeface="Cambria Math" panose="02040503050406030204" pitchFamily="18" charset="0"/>
                                <a:cs typeface="Times New Roman" panose="02020603050405020304" pitchFamily="18" charset="0"/>
                              </a:rPr>
                            </m:ctrlPr>
                          </m:sSubPr>
                          <m:e>
                            <m:acc>
                              <m:accPr>
                                <m:chr m:val="̂"/>
                                <m:ctrlPr>
                                  <a:rPr lang="en-AU" sz="1800" i="1">
                                    <a:effectLst/>
                                    <a:latin typeface="Cambria Math" panose="02040503050406030204" pitchFamily="18" charset="0"/>
                                    <a:cs typeface="Times New Roman" panose="02020603050405020304" pitchFamily="18" charset="0"/>
                                  </a:rPr>
                                </m:ctrlPr>
                              </m:acc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𝜆</m:t>
                                </m:r>
                              </m:e>
                            </m:acc>
                          </m:e>
                          <m:sub>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2</m:t>
                            </m:r>
                          </m:sub>
                        </m:sSub>
                      </m:e>
                    </m:d>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m:t>
                    </m:r>
                    <m:d>
                      <m:dPr>
                        <m:ctrlPr>
                          <a:rPr lang="en-AU" sz="1800" i="1">
                            <a:effectLst/>
                            <a:latin typeface="Cambria Math" panose="02040503050406030204" pitchFamily="18" charset="0"/>
                            <a:cs typeface="Times New Roman" panose="02020603050405020304" pitchFamily="18" charset="0"/>
                          </a:rPr>
                        </m:ctrlPr>
                      </m:d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1−</m:t>
                        </m:r>
                        <m:acc>
                          <m:accPr>
                            <m:chr m:val="̃"/>
                            <m:ctrlPr>
                              <a:rPr lang="en-AU" sz="1800" i="1">
                                <a:effectLst/>
                                <a:latin typeface="Cambria Math" panose="02040503050406030204" pitchFamily="18" charset="0"/>
                                <a:cs typeface="Times New Roman" panose="02020603050405020304" pitchFamily="18" charset="0"/>
                              </a:rPr>
                            </m:ctrlPr>
                          </m:acc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𝜌</m:t>
                            </m:r>
                          </m:e>
                        </m:acc>
                      </m:e>
                    </m:d>
                    <m:sSup>
                      <m:sSupPr>
                        <m:ctrlPr>
                          <a:rPr lang="en-AU" sz="1800" i="1">
                            <a:effectLst/>
                            <a:latin typeface="Cambria Math" panose="02040503050406030204" pitchFamily="18" charset="0"/>
                            <a:cs typeface="Times New Roman" panose="02020603050405020304" pitchFamily="18" charset="0"/>
                          </a:rPr>
                        </m:ctrlPr>
                      </m:sSupPr>
                      <m:e>
                        <m:acc>
                          <m:accPr>
                            <m:chr m:val="̃"/>
                            <m:ctrlPr>
                              <a:rPr lang="en-AU" sz="1800" i="1">
                                <a:effectLst/>
                                <a:latin typeface="Cambria Math" panose="02040503050406030204" pitchFamily="18" charset="0"/>
                                <a:cs typeface="Times New Roman" panose="02020603050405020304" pitchFamily="18" charset="0"/>
                              </a:rPr>
                            </m:ctrlPr>
                          </m:acc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𝜌</m:t>
                            </m:r>
                          </m:e>
                        </m:acc>
                      </m:e>
                      <m:sup>
                        <m:f>
                          <m:fPr>
                            <m:ctrlPr>
                              <a:rPr lang="en-AU" sz="1800" i="1">
                                <a:effectLst/>
                                <a:latin typeface="Cambria Math" panose="02040503050406030204" pitchFamily="18" charset="0"/>
                                <a:cs typeface="Times New Roman" panose="02020603050405020304" pitchFamily="18" charset="0"/>
                              </a:rPr>
                            </m:ctrlPr>
                          </m:fPr>
                          <m:num>
                            <m:acc>
                              <m:accPr>
                                <m:chr m:val="̃"/>
                                <m:ctrlPr>
                                  <a:rPr lang="en-AU" sz="1800" i="1">
                                    <a:effectLst/>
                                    <a:latin typeface="Cambria Math" panose="02040503050406030204" pitchFamily="18" charset="0"/>
                                    <a:cs typeface="Times New Roman" panose="02020603050405020304" pitchFamily="18" charset="0"/>
                                  </a:rPr>
                                </m:ctrlPr>
                              </m:acc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𝜌</m:t>
                                </m:r>
                              </m:e>
                            </m:acc>
                          </m:num>
                          <m:den>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1−</m:t>
                            </m:r>
                            <m:acc>
                              <m:accPr>
                                <m:chr m:val="̃"/>
                                <m:ctrlPr>
                                  <a:rPr lang="en-AU" sz="1800" i="1">
                                    <a:effectLst/>
                                    <a:latin typeface="Cambria Math" panose="02040503050406030204" pitchFamily="18" charset="0"/>
                                    <a:cs typeface="Times New Roman" panose="02020603050405020304" pitchFamily="18" charset="0"/>
                                  </a:rPr>
                                </m:ctrlPr>
                              </m:acc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𝜌</m:t>
                                </m:r>
                              </m:e>
                            </m:acc>
                          </m:den>
                        </m:f>
                      </m:sup>
                    </m:sSup>
                    <m:sSup>
                      <m:sSupPr>
                        <m:ctrlPr>
                          <a:rPr lang="en-AU" sz="1800" i="1">
                            <a:effectLst/>
                            <a:latin typeface="Cambria Math" panose="02040503050406030204" pitchFamily="18" charset="0"/>
                            <a:cs typeface="Times New Roman" panose="02020603050405020304" pitchFamily="18" charset="0"/>
                          </a:rPr>
                        </m:ctrlPr>
                      </m:sSup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𝑒</m:t>
                        </m:r>
                      </m:e>
                      <m:sup>
                        <m:sSub>
                          <m:sSubPr>
                            <m:ctrlPr>
                              <a:rPr lang="en-AU" sz="1800" i="1">
                                <a:effectLst/>
                                <a:latin typeface="Cambria Math" panose="02040503050406030204" pitchFamily="18" charset="0"/>
                                <a:cs typeface="Times New Roman" panose="02020603050405020304" pitchFamily="18" charset="0"/>
                              </a:rPr>
                            </m:ctrlPr>
                          </m:sSub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𝛽</m:t>
                            </m:r>
                          </m:e>
                          <m:sub>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0</m:t>
                            </m:r>
                          </m:sub>
                        </m:sSub>
                      </m:sup>
                    </m:sSup>
                    <m:sSup>
                      <m:sSupPr>
                        <m:ctrlPr>
                          <a:rPr lang="en-AU" sz="1800" i="1">
                            <a:effectLst/>
                            <a:latin typeface="Cambria Math" panose="02040503050406030204" pitchFamily="18" charset="0"/>
                            <a:cs typeface="Times New Roman" panose="02020603050405020304" pitchFamily="18" charset="0"/>
                          </a:rPr>
                        </m:ctrlPr>
                      </m:sSupPr>
                      <m:e>
                        <m:d>
                          <m:dPr>
                            <m:ctrlPr>
                              <a:rPr lang="en-AU" sz="1800" i="1">
                                <a:effectLst/>
                                <a:latin typeface="Cambria Math" panose="02040503050406030204" pitchFamily="18" charset="0"/>
                                <a:cs typeface="Times New Roman" panose="02020603050405020304" pitchFamily="18" charset="0"/>
                              </a:rPr>
                            </m:ctrlPr>
                          </m:dPr>
                          <m:e>
                            <m:f>
                              <m:fPr>
                                <m:ctrlPr>
                                  <a:rPr lang="en-AU" sz="1800" i="1">
                                    <a:effectLst/>
                                    <a:latin typeface="Cambria Math" panose="02040503050406030204" pitchFamily="18" charset="0"/>
                                    <a:cs typeface="Times New Roman" panose="02020603050405020304" pitchFamily="18" charset="0"/>
                                  </a:rPr>
                                </m:ctrlPr>
                              </m:fPr>
                              <m:num>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𝜓</m:t>
                                </m:r>
                              </m:num>
                              <m:den>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𝑤</m:t>
                                </m:r>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m:t>
                                </m:r>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𝑚</m:t>
                                </m:r>
                              </m:den>
                            </m:f>
                          </m:e>
                        </m:d>
                      </m:e>
                      <m:sup>
                        <m:f>
                          <m:fPr>
                            <m:ctrlPr>
                              <a:rPr lang="en-AU" sz="1800" i="1">
                                <a:effectLst/>
                                <a:latin typeface="Cambria Math" panose="02040503050406030204" pitchFamily="18" charset="0"/>
                                <a:cs typeface="Times New Roman" panose="02020603050405020304" pitchFamily="18" charset="0"/>
                              </a:rPr>
                            </m:ctrlPr>
                          </m:fPr>
                          <m:num>
                            <m:acc>
                              <m:accPr>
                                <m:chr m:val="̃"/>
                                <m:ctrlPr>
                                  <a:rPr lang="en-AU" sz="1800" i="1">
                                    <a:effectLst/>
                                    <a:latin typeface="Cambria Math" panose="02040503050406030204" pitchFamily="18" charset="0"/>
                                    <a:cs typeface="Times New Roman" panose="02020603050405020304" pitchFamily="18" charset="0"/>
                                  </a:rPr>
                                </m:ctrlPr>
                              </m:acc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𝜌</m:t>
                                </m:r>
                              </m:e>
                            </m:acc>
                          </m:num>
                          <m:den>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1−</m:t>
                            </m:r>
                            <m:acc>
                              <m:accPr>
                                <m:chr m:val="̃"/>
                                <m:ctrlPr>
                                  <a:rPr lang="en-AU" sz="1800" i="1">
                                    <a:effectLst/>
                                    <a:latin typeface="Cambria Math" panose="02040503050406030204" pitchFamily="18" charset="0"/>
                                    <a:cs typeface="Times New Roman" panose="02020603050405020304" pitchFamily="18" charset="0"/>
                                  </a:rPr>
                                </m:ctrlPr>
                              </m:acc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𝜌</m:t>
                                </m:r>
                              </m:e>
                            </m:acc>
                          </m:den>
                        </m:f>
                      </m:sup>
                    </m:sSup>
                    <m:sSup>
                      <m:sSupPr>
                        <m:ctrlPr>
                          <a:rPr lang="en-AU" sz="1800" i="1">
                            <a:effectLst/>
                            <a:latin typeface="Cambria Math" panose="02040503050406030204" pitchFamily="18" charset="0"/>
                            <a:cs typeface="Times New Roman" panose="02020603050405020304" pitchFamily="18" charset="0"/>
                          </a:rPr>
                        </m:ctrlPr>
                      </m:sSupPr>
                      <m:e>
                        <m:sSub>
                          <m:sSubPr>
                            <m:ctrlPr>
                              <a:rPr lang="en-AU" sz="1800" i="1">
                                <a:effectLst/>
                                <a:latin typeface="Cambria Math" panose="02040503050406030204" pitchFamily="18" charset="0"/>
                                <a:cs typeface="Times New Roman" panose="02020603050405020304" pitchFamily="18" charset="0"/>
                              </a:rPr>
                            </m:ctrlPr>
                          </m:sSubPr>
                          <m:e>
                            <m:acc>
                              <m:accPr>
                                <m:chr m:val="̂"/>
                                <m:ctrlPr>
                                  <a:rPr lang="en-AU" sz="1800" i="1">
                                    <a:effectLst/>
                                    <a:latin typeface="Cambria Math" panose="02040503050406030204" pitchFamily="18" charset="0"/>
                                    <a:cs typeface="Times New Roman" panose="02020603050405020304" pitchFamily="18" charset="0"/>
                                  </a:rPr>
                                </m:ctrlPr>
                              </m:acc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𝜆</m:t>
                                </m:r>
                              </m:e>
                            </m:acc>
                          </m:e>
                          <m:sub>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1</m:t>
                            </m:r>
                          </m:sub>
                        </m:sSub>
                      </m:e>
                      <m:sup>
                        <m:f>
                          <m:fPr>
                            <m:ctrlPr>
                              <a:rPr lang="en-AU" sz="1800" i="1">
                                <a:effectLst/>
                                <a:latin typeface="Cambria Math" panose="02040503050406030204" pitchFamily="18" charset="0"/>
                                <a:cs typeface="Times New Roman" panose="02020603050405020304" pitchFamily="18" charset="0"/>
                              </a:rPr>
                            </m:ctrlPr>
                          </m:fPr>
                          <m:num>
                            <m:d>
                              <m:dPr>
                                <m:ctrlPr>
                                  <a:rPr lang="en-AU" sz="1800" i="1">
                                    <a:effectLst/>
                                    <a:latin typeface="Cambria Math" panose="02040503050406030204" pitchFamily="18" charset="0"/>
                                    <a:cs typeface="Times New Roman" panose="02020603050405020304" pitchFamily="18" charset="0"/>
                                  </a:rPr>
                                </m:ctrlPr>
                              </m:d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1−</m:t>
                                </m:r>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𝜌</m:t>
                                </m:r>
                              </m:e>
                            </m:d>
                            <m:acc>
                              <m:accPr>
                                <m:chr m:val="̃"/>
                                <m:ctrlPr>
                                  <a:rPr lang="en-AU" sz="1800" i="1">
                                    <a:effectLst/>
                                    <a:latin typeface="Cambria Math" panose="02040503050406030204" pitchFamily="18" charset="0"/>
                                    <a:cs typeface="Times New Roman" panose="02020603050405020304" pitchFamily="18" charset="0"/>
                                  </a:rPr>
                                </m:ctrlPr>
                              </m:acc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𝜌</m:t>
                                </m:r>
                              </m:e>
                            </m:acc>
                          </m:num>
                          <m:den>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𝜌</m:t>
                            </m:r>
                            <m:d>
                              <m:dPr>
                                <m:ctrlPr>
                                  <a:rPr lang="en-AU" sz="1800" i="1">
                                    <a:effectLst/>
                                    <a:latin typeface="Cambria Math" panose="02040503050406030204" pitchFamily="18" charset="0"/>
                                    <a:cs typeface="Times New Roman" panose="02020603050405020304" pitchFamily="18" charset="0"/>
                                  </a:rPr>
                                </m:ctrlPr>
                              </m:d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1−</m:t>
                                </m:r>
                                <m:acc>
                                  <m:accPr>
                                    <m:chr m:val="̃"/>
                                    <m:ctrlPr>
                                      <a:rPr lang="en-AU" sz="1800" i="1">
                                        <a:effectLst/>
                                        <a:latin typeface="Cambria Math" panose="02040503050406030204" pitchFamily="18" charset="0"/>
                                        <a:cs typeface="Times New Roman" panose="02020603050405020304" pitchFamily="18" charset="0"/>
                                      </a:rPr>
                                    </m:ctrlPr>
                                  </m:acc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𝜌</m:t>
                                    </m:r>
                                  </m:e>
                                </m:acc>
                              </m:e>
                            </m:d>
                          </m:den>
                        </m:f>
                      </m:sup>
                    </m:sSup>
                    <m:sSup>
                      <m:sSupPr>
                        <m:ctrlPr>
                          <a:rPr lang="en-AU" sz="1800" i="1">
                            <a:effectLst/>
                            <a:latin typeface="Cambria Math" panose="02040503050406030204" pitchFamily="18" charset="0"/>
                            <a:cs typeface="Times New Roman" panose="02020603050405020304" pitchFamily="18" charset="0"/>
                          </a:rPr>
                        </m:ctrlPr>
                      </m:sSupPr>
                      <m:e>
                        <m:d>
                          <m:dPr>
                            <m:ctrlPr>
                              <a:rPr lang="en-AU" sz="1800" i="1">
                                <a:effectLst/>
                                <a:latin typeface="Cambria Math" panose="02040503050406030204" pitchFamily="18" charset="0"/>
                                <a:cs typeface="Times New Roman" panose="02020603050405020304" pitchFamily="18" charset="0"/>
                              </a:rPr>
                            </m:ctrlPr>
                          </m:d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1+</m:t>
                            </m:r>
                            <m:sSub>
                              <m:sSubPr>
                                <m:ctrlPr>
                                  <a:rPr lang="en-AU" sz="1800" i="1">
                                    <a:effectLst/>
                                    <a:latin typeface="Cambria Math" panose="02040503050406030204" pitchFamily="18" charset="0"/>
                                    <a:cs typeface="Times New Roman" panose="02020603050405020304" pitchFamily="18" charset="0"/>
                                  </a:rPr>
                                </m:ctrlPr>
                              </m:sSubPr>
                              <m:e>
                                <m:acc>
                                  <m:accPr>
                                    <m:chr m:val="̂"/>
                                    <m:ctrlPr>
                                      <a:rPr lang="en-AU" sz="1800" i="1">
                                        <a:effectLst/>
                                        <a:latin typeface="Cambria Math" panose="02040503050406030204" pitchFamily="18" charset="0"/>
                                        <a:cs typeface="Times New Roman" panose="02020603050405020304" pitchFamily="18" charset="0"/>
                                      </a:rPr>
                                    </m:ctrlPr>
                                  </m:acc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𝜆</m:t>
                                    </m:r>
                                  </m:e>
                                </m:acc>
                              </m:e>
                              <m:sub>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2</m:t>
                                </m:r>
                              </m:sub>
                            </m:sSub>
                          </m:e>
                        </m:d>
                      </m:e>
                      <m:sup>
                        <m:f>
                          <m:fPr>
                            <m:ctrlPr>
                              <a:rPr lang="en-AU" sz="1800" i="1">
                                <a:effectLst/>
                                <a:latin typeface="Cambria Math" panose="02040503050406030204" pitchFamily="18" charset="0"/>
                                <a:cs typeface="Times New Roman" panose="02020603050405020304" pitchFamily="18" charset="0"/>
                              </a:rPr>
                            </m:ctrlPr>
                          </m:fPr>
                          <m:num>
                            <m:d>
                              <m:dPr>
                                <m:ctrlPr>
                                  <a:rPr lang="en-AU" sz="1800" i="1">
                                    <a:effectLst/>
                                    <a:latin typeface="Cambria Math" panose="02040503050406030204" pitchFamily="18" charset="0"/>
                                    <a:cs typeface="Times New Roman" panose="02020603050405020304" pitchFamily="18" charset="0"/>
                                  </a:rPr>
                                </m:ctrlPr>
                              </m:d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1−</m:t>
                                </m:r>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𝜌</m:t>
                                </m:r>
                              </m:e>
                            </m:d>
                            <m:acc>
                              <m:accPr>
                                <m:chr m:val="̃"/>
                                <m:ctrlPr>
                                  <a:rPr lang="en-AU" sz="1800" i="1">
                                    <a:effectLst/>
                                    <a:latin typeface="Cambria Math" panose="02040503050406030204" pitchFamily="18" charset="0"/>
                                    <a:cs typeface="Times New Roman" panose="02020603050405020304" pitchFamily="18" charset="0"/>
                                  </a:rPr>
                                </m:ctrlPr>
                              </m:acc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𝜌</m:t>
                                </m:r>
                              </m:e>
                            </m:acc>
                          </m:num>
                          <m:den>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𝜌</m:t>
                            </m:r>
                            <m:d>
                              <m:dPr>
                                <m:ctrlPr>
                                  <a:rPr lang="en-AU" sz="1800" i="1">
                                    <a:effectLst/>
                                    <a:latin typeface="Cambria Math" panose="02040503050406030204" pitchFamily="18" charset="0"/>
                                    <a:cs typeface="Times New Roman" panose="02020603050405020304" pitchFamily="18" charset="0"/>
                                  </a:rPr>
                                </m:ctrlPr>
                              </m:d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1−</m:t>
                                </m:r>
                                <m:acc>
                                  <m:accPr>
                                    <m:chr m:val="̃"/>
                                    <m:ctrlPr>
                                      <a:rPr lang="en-AU" sz="1800" i="1">
                                        <a:effectLst/>
                                        <a:latin typeface="Cambria Math" panose="02040503050406030204" pitchFamily="18" charset="0"/>
                                        <a:cs typeface="Times New Roman" panose="02020603050405020304" pitchFamily="18" charset="0"/>
                                      </a:rPr>
                                    </m:ctrlPr>
                                  </m:acc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𝜌</m:t>
                                    </m:r>
                                  </m:e>
                                </m:acc>
                              </m:e>
                            </m:d>
                          </m:den>
                        </m:f>
                      </m:sup>
                    </m:sSup>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−1−</m:t>
                    </m:r>
                    <m:d>
                      <m:dPr>
                        <m:begChr m:val="{"/>
                        <m:endChr m:val="}"/>
                        <m:ctrlPr>
                          <a:rPr lang="en-AU" sz="1800" i="1">
                            <a:effectLst/>
                            <a:latin typeface="Cambria Math" panose="02040503050406030204" pitchFamily="18" charset="0"/>
                            <a:cs typeface="Times New Roman" panose="02020603050405020304" pitchFamily="18" charset="0"/>
                          </a:rPr>
                        </m:ctrlPr>
                      </m:dPr>
                      <m:e>
                        <m:sSup>
                          <m:sSupPr>
                            <m:ctrlPr>
                              <a:rPr lang="en-AU" sz="1800" i="1">
                                <a:effectLst/>
                                <a:latin typeface="Cambria Math" panose="02040503050406030204" pitchFamily="18" charset="0"/>
                                <a:cs typeface="Times New Roman" panose="02020603050405020304" pitchFamily="18" charset="0"/>
                              </a:rPr>
                            </m:ctrlPr>
                          </m:sSup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𝑒</m:t>
                            </m:r>
                          </m:e>
                          <m:sup>
                            <m:sSub>
                              <m:sSubPr>
                                <m:ctrlPr>
                                  <a:rPr lang="en-AU" sz="1800" i="1">
                                    <a:effectLst/>
                                    <a:latin typeface="Cambria Math" panose="02040503050406030204" pitchFamily="18" charset="0"/>
                                    <a:cs typeface="Times New Roman" panose="02020603050405020304" pitchFamily="18" charset="0"/>
                                  </a:rPr>
                                </m:ctrlPr>
                              </m:sSub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𝛽</m:t>
                                </m:r>
                              </m:e>
                              <m:sub>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1</m:t>
                                </m:r>
                              </m:sub>
                            </m:sSub>
                          </m:sup>
                        </m:sSup>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AU" sz="1800" i="1">
                                <a:effectLst/>
                                <a:latin typeface="Cambria Math" panose="02040503050406030204" pitchFamily="18" charset="0"/>
                                <a:cs typeface="Times New Roman" panose="02020603050405020304" pitchFamily="18" charset="0"/>
                              </a:rPr>
                            </m:ctrlPr>
                          </m:sSub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𝜀</m:t>
                            </m:r>
                          </m:e>
                          <m:sub>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3</m:t>
                            </m:r>
                          </m:sub>
                        </m:sSub>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m:t>
                        </m:r>
                        <m:d>
                          <m:dPr>
                            <m:ctrlPr>
                              <a:rPr lang="en-AU" sz="1800" i="1">
                                <a:effectLst/>
                                <a:latin typeface="Cambria Math" panose="02040503050406030204" pitchFamily="18" charset="0"/>
                                <a:cs typeface="Times New Roman" panose="02020603050405020304" pitchFamily="18" charset="0"/>
                              </a:rPr>
                            </m:ctrlPr>
                          </m:dPr>
                          <m:e>
                            <m:sSup>
                              <m:sSupPr>
                                <m:ctrlPr>
                                  <a:rPr lang="en-AU" sz="1800" i="1">
                                    <a:effectLst/>
                                    <a:latin typeface="Cambria Math" panose="02040503050406030204" pitchFamily="18" charset="0"/>
                                    <a:cs typeface="Times New Roman" panose="02020603050405020304" pitchFamily="18" charset="0"/>
                                  </a:rPr>
                                </m:ctrlPr>
                              </m:sSup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𝑒</m:t>
                                </m:r>
                              </m:e>
                              <m:sup>
                                <m:sSub>
                                  <m:sSubPr>
                                    <m:ctrlPr>
                                      <a:rPr lang="en-AU" sz="1800" i="1">
                                        <a:effectLst/>
                                        <a:latin typeface="Cambria Math" panose="02040503050406030204" pitchFamily="18" charset="0"/>
                                        <a:cs typeface="Times New Roman" panose="02020603050405020304" pitchFamily="18" charset="0"/>
                                      </a:rPr>
                                    </m:ctrlPr>
                                  </m:sSub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𝛽</m:t>
                                    </m:r>
                                  </m:e>
                                  <m:sub>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3</m:t>
                                    </m:r>
                                  </m:sub>
                                </m:sSub>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AU" sz="1800" i="1">
                                        <a:effectLst/>
                                        <a:latin typeface="Cambria Math" panose="02040503050406030204" pitchFamily="18" charset="0"/>
                                        <a:cs typeface="Times New Roman" panose="02020603050405020304" pitchFamily="18" charset="0"/>
                                      </a:rPr>
                                    </m:ctrlPr>
                                  </m:sSub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𝛽</m:t>
                                    </m:r>
                                  </m:e>
                                  <m:sub>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4</m:t>
                                    </m:r>
                                  </m:sub>
                                </m:sSub>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𝐼𝑠𝐵𝑖𝑔</m:t>
                                </m:r>
                              </m:sup>
                            </m:sSup>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AU" sz="1800" i="1">
                                    <a:effectLst/>
                                    <a:latin typeface="Cambria Math" panose="02040503050406030204" pitchFamily="18" charset="0"/>
                                    <a:cs typeface="Times New Roman" panose="02020603050405020304" pitchFamily="18" charset="0"/>
                                  </a:rPr>
                                </m:ctrlPr>
                              </m:sSub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𝜀</m:t>
                                </m:r>
                              </m:e>
                              <m:sub>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5</m:t>
                                </m:r>
                              </m:sub>
                            </m:sSub>
                          </m:e>
                        </m:d>
                        <m:d>
                          <m:dPr>
                            <m:ctrlPr>
                              <a:rPr lang="en-AU" sz="1800" i="1">
                                <a:effectLst/>
                                <a:latin typeface="Cambria Math" panose="02040503050406030204" pitchFamily="18" charset="0"/>
                                <a:cs typeface="Times New Roman" panose="02020603050405020304" pitchFamily="18" charset="0"/>
                              </a:rPr>
                            </m:ctrlPr>
                          </m:d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1−</m:t>
                            </m:r>
                            <m:sSub>
                              <m:sSubPr>
                                <m:ctrlPr>
                                  <a:rPr lang="en-AU" sz="1800" i="1">
                                    <a:effectLst/>
                                    <a:latin typeface="Cambria Math" panose="02040503050406030204" pitchFamily="18" charset="0"/>
                                    <a:cs typeface="Times New Roman" panose="02020603050405020304" pitchFamily="18" charset="0"/>
                                  </a:rPr>
                                </m:ctrlPr>
                              </m:sSub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𝜒</m:t>
                                </m:r>
                              </m:e>
                              <m:sub>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2,−1</m:t>
                                </m:r>
                              </m:sub>
                            </m:sSub>
                          </m:e>
                        </m:d>
                      </m:e>
                    </m:d>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m:t>
                    </m:r>
                    <m:d>
                      <m:dPr>
                        <m:begChr m:val="{"/>
                        <m:endChr m:val="}"/>
                        <m:ctrlPr>
                          <a:rPr lang="en-AU" sz="1800" i="1">
                            <a:effectLst/>
                            <a:latin typeface="Cambria Math" panose="02040503050406030204" pitchFamily="18" charset="0"/>
                            <a:cs typeface="Times New Roman" panose="02020603050405020304" pitchFamily="18" charset="0"/>
                          </a:rPr>
                        </m:ctrlPr>
                      </m:dPr>
                      <m:e>
                        <m:sSup>
                          <m:sSupPr>
                            <m:ctrlPr>
                              <a:rPr lang="en-AU" sz="1800" i="1">
                                <a:effectLst/>
                                <a:latin typeface="Cambria Math" panose="02040503050406030204" pitchFamily="18" charset="0"/>
                                <a:cs typeface="Times New Roman" panose="02020603050405020304" pitchFamily="18" charset="0"/>
                              </a:rPr>
                            </m:ctrlPr>
                          </m:sSup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𝑒</m:t>
                            </m:r>
                          </m:e>
                          <m:sup>
                            <m:sSub>
                              <m:sSubPr>
                                <m:ctrlPr>
                                  <a:rPr lang="en-AU" sz="1800" i="1">
                                    <a:effectLst/>
                                    <a:latin typeface="Cambria Math" panose="02040503050406030204" pitchFamily="18" charset="0"/>
                                    <a:cs typeface="Times New Roman" panose="02020603050405020304" pitchFamily="18" charset="0"/>
                                  </a:rPr>
                                </m:ctrlPr>
                              </m:sSub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𝛽</m:t>
                                </m:r>
                              </m:e>
                              <m:sub>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2</m:t>
                                </m:r>
                              </m:sub>
                            </m:sSub>
                          </m:sup>
                        </m:sSup>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AU" sz="1800" i="1">
                                <a:effectLst/>
                                <a:latin typeface="Cambria Math" panose="02040503050406030204" pitchFamily="18" charset="0"/>
                                <a:cs typeface="Times New Roman" panose="02020603050405020304" pitchFamily="18" charset="0"/>
                              </a:rPr>
                            </m:ctrlPr>
                          </m:sSub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𝜀</m:t>
                            </m:r>
                          </m:e>
                          <m:sub>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4</m:t>
                            </m:r>
                          </m:sub>
                        </m:sSub>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m:t>
                        </m:r>
                        <m:d>
                          <m:dPr>
                            <m:ctrlPr>
                              <a:rPr lang="en-AU" sz="1800" i="1">
                                <a:effectLst/>
                                <a:latin typeface="Cambria Math" panose="02040503050406030204" pitchFamily="18" charset="0"/>
                                <a:cs typeface="Times New Roman" panose="02020603050405020304" pitchFamily="18" charset="0"/>
                              </a:rPr>
                            </m:ctrlPr>
                          </m:dPr>
                          <m:e>
                            <m:sSup>
                              <m:sSupPr>
                                <m:ctrlPr>
                                  <a:rPr lang="en-AU" sz="1800" i="1">
                                    <a:effectLst/>
                                    <a:latin typeface="Cambria Math" panose="02040503050406030204" pitchFamily="18" charset="0"/>
                                    <a:cs typeface="Times New Roman" panose="02020603050405020304" pitchFamily="18" charset="0"/>
                                  </a:rPr>
                                </m:ctrlPr>
                              </m:sSup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𝑒</m:t>
                                </m:r>
                              </m:e>
                              <m:sup>
                                <m:sSub>
                                  <m:sSubPr>
                                    <m:ctrlPr>
                                      <a:rPr lang="en-AU" sz="1800" i="1">
                                        <a:effectLst/>
                                        <a:latin typeface="Cambria Math" panose="02040503050406030204" pitchFamily="18" charset="0"/>
                                        <a:cs typeface="Times New Roman" panose="02020603050405020304" pitchFamily="18" charset="0"/>
                                      </a:rPr>
                                    </m:ctrlPr>
                                  </m:sSub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𝛽</m:t>
                                    </m:r>
                                  </m:e>
                                  <m:sub>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5</m:t>
                                    </m:r>
                                  </m:sub>
                                </m:sSub>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AU" sz="1800" i="1">
                                        <a:effectLst/>
                                        <a:latin typeface="Cambria Math" panose="02040503050406030204" pitchFamily="18" charset="0"/>
                                        <a:cs typeface="Times New Roman" panose="02020603050405020304" pitchFamily="18" charset="0"/>
                                      </a:rPr>
                                    </m:ctrlPr>
                                  </m:sSub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𝛽</m:t>
                                    </m:r>
                                  </m:e>
                                  <m:sub>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6</m:t>
                                    </m:r>
                                  </m:sub>
                                </m:sSub>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𝐼𝑠𝐵𝑖𝑔</m:t>
                                </m:r>
                              </m:sup>
                            </m:sSup>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AU" sz="1800" i="1">
                                    <a:effectLst/>
                                    <a:latin typeface="Cambria Math" panose="02040503050406030204" pitchFamily="18" charset="0"/>
                                    <a:cs typeface="Times New Roman" panose="02020603050405020304" pitchFamily="18" charset="0"/>
                                  </a:rPr>
                                </m:ctrlPr>
                              </m:sSub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𝜀</m:t>
                                </m:r>
                              </m:e>
                              <m:sub>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6</m:t>
                                </m:r>
                              </m:sub>
                            </m:sSub>
                          </m:e>
                        </m:d>
                        <m:d>
                          <m:dPr>
                            <m:ctrlPr>
                              <a:rPr lang="en-AU" sz="1800" i="1">
                                <a:effectLst/>
                                <a:latin typeface="Cambria Math" panose="02040503050406030204" pitchFamily="18" charset="0"/>
                                <a:cs typeface="Times New Roman" panose="02020603050405020304" pitchFamily="18" charset="0"/>
                              </a:rPr>
                            </m:ctrlPr>
                          </m:d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1−</m:t>
                            </m:r>
                            <m:sSub>
                              <m:sSubPr>
                                <m:ctrlPr>
                                  <a:rPr lang="en-AU" sz="1800" i="1">
                                    <a:effectLst/>
                                    <a:latin typeface="Cambria Math" panose="02040503050406030204" pitchFamily="18" charset="0"/>
                                    <a:cs typeface="Times New Roman" panose="02020603050405020304" pitchFamily="18" charset="0"/>
                                  </a:rPr>
                                </m:ctrlPr>
                              </m:sSub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𝜒</m:t>
                                </m:r>
                              </m:e>
                              <m:sub>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1,−1</m:t>
                                </m:r>
                              </m:sub>
                            </m:sSub>
                          </m:e>
                        </m:d>
                      </m:e>
                    </m:d>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m:t>
                    </m:r>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𝛿𝜎</m:t>
                    </m:r>
                    <m:sSub>
                      <m:sSubPr>
                        <m:ctrlPr>
                          <a:rPr lang="en-AU" sz="1800" i="1">
                            <a:effectLst/>
                            <a:latin typeface="Cambria Math" panose="02040503050406030204" pitchFamily="18" charset="0"/>
                            <a:cs typeface="Times New Roman" panose="02020603050405020304" pitchFamily="18" charset="0"/>
                          </a:rPr>
                        </m:ctrlPr>
                      </m:sSub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𝐸𝑣</m:t>
                        </m:r>
                      </m:e>
                      <m:sub>
                        <m:d>
                          <m:dPr>
                            <m:ctrlPr>
                              <a:rPr lang="en-AU" sz="1800" i="1">
                                <a:effectLst/>
                                <a:latin typeface="Cambria Math" panose="02040503050406030204" pitchFamily="18" charset="0"/>
                                <a:cs typeface="Times New Roman" panose="02020603050405020304" pitchFamily="18" charset="0"/>
                              </a:rPr>
                            </m:ctrlPr>
                          </m:dPr>
                          <m:e>
                            <m:r>
                              <a:rPr lang="en-AU" sz="1800" i="1" kern="0">
                                <a:effectLst/>
                                <a:latin typeface="Cambria Math" panose="02040503050406030204" pitchFamily="18" charset="0"/>
                                <a:ea typeface="DengXian" panose="02010600030101010101" pitchFamily="2" charset="-122"/>
                                <a:cs typeface="Times New Roman" panose="02020603050405020304" pitchFamily="18" charset="0"/>
                              </a:rPr>
                              <m:t>1,1</m:t>
                            </m:r>
                          </m:e>
                        </m:d>
                      </m:sub>
                    </m:sSub>
                  </m:oMath>
                </a14:m>
                <a:endParaRPr lang="en-AU" dirty="0"/>
              </a:p>
            </p:txBody>
          </p:sp>
        </mc:Choice>
        <mc:Fallback xmlns="">
          <p:sp>
            <p:nvSpPr>
              <p:cNvPr id="3" name="Content Placeholder 2">
                <a:extLst>
                  <a:ext uri="{FF2B5EF4-FFF2-40B4-BE49-F238E27FC236}">
                    <a16:creationId xmlns:a16="http://schemas.microsoft.com/office/drawing/2014/main" id="{68EAD2A2-3993-8A3E-40F1-56BEAD980054}"/>
                  </a:ext>
                </a:extLst>
              </p:cNvPr>
              <p:cNvSpPr>
                <a:spLocks noGrp="1" noRot="1" noChangeAspect="1" noMove="1" noResize="1" noEditPoints="1" noAdjustHandles="1" noChangeArrowheads="1" noChangeShapeType="1" noTextEdit="1"/>
              </p:cNvSpPr>
              <p:nvPr>
                <p:ph idx="1"/>
              </p:nvPr>
            </p:nvSpPr>
            <p:spPr>
              <a:blipFill>
                <a:blip r:embed="rId2"/>
                <a:stretch>
                  <a:fillRect l="-1043" t="-3081"/>
                </a:stretch>
              </a:blipFill>
            </p:spPr>
            <p:txBody>
              <a:bodyPr/>
              <a:lstStyle/>
              <a:p>
                <a:r>
                  <a:rPr lang="en-AU">
                    <a:noFill/>
                  </a:rPr>
                  <a:t> </a:t>
                </a:r>
              </a:p>
            </p:txBody>
          </p:sp>
        </mc:Fallback>
      </mc:AlternateContent>
    </p:spTree>
    <p:extLst>
      <p:ext uri="{BB962C8B-B14F-4D97-AF65-F5344CB8AC3E}">
        <p14:creationId xmlns:p14="http://schemas.microsoft.com/office/powerpoint/2010/main" val="18983300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18AA5-9930-6D3B-0866-C619149B3A8C}"/>
              </a:ext>
            </a:extLst>
          </p:cNvPr>
          <p:cNvSpPr>
            <a:spLocks noGrp="1"/>
          </p:cNvSpPr>
          <p:nvPr>
            <p:ph type="title"/>
          </p:nvPr>
        </p:nvSpPr>
        <p:spPr/>
        <p:txBody>
          <a:bodyPr/>
          <a:lstStyle/>
          <a:p>
            <a:r>
              <a:rPr lang="en-AU" dirty="0"/>
              <a:t>Analytical Framework-Estimation Strategy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5C834EB-E416-6660-C33C-9545C7C92D3D}"/>
                  </a:ext>
                </a:extLst>
              </p:cNvPr>
              <p:cNvSpPr>
                <a:spLocks noGrp="1"/>
              </p:cNvSpPr>
              <p:nvPr>
                <p:ph idx="1"/>
              </p:nvPr>
            </p:nvSpPr>
            <p:spPr/>
            <p:txBody>
              <a:bodyPr>
                <a:normAutofit/>
              </a:bodyPr>
              <a:lstStyle/>
              <a:p>
                <a:r>
                  <a:rPr lang="en-AU" sz="2400" dirty="0"/>
                  <a:t>The known parameters in the value functions, from estimations in the previous steps, are </a:t>
                </a:r>
                <a14:m>
                  <m:oMath xmlns:m="http://schemas.openxmlformats.org/officeDocument/2006/math">
                    <m:d>
                      <m:dPr>
                        <m:ctrlPr>
                          <a:rPr lang="en-AU" sz="2400" i="1">
                            <a:latin typeface="Cambria Math" panose="02040503050406030204" pitchFamily="18" charset="0"/>
                          </a:rPr>
                        </m:ctrlPr>
                      </m:dPr>
                      <m:e>
                        <m:r>
                          <a:rPr lang="en-AU" sz="2400">
                            <a:latin typeface="Cambria Math" panose="02040503050406030204" pitchFamily="18" charset="0"/>
                          </a:rPr>
                          <m:t>𝜌</m:t>
                        </m:r>
                        <m:r>
                          <a:rPr lang="en-AU" sz="2400">
                            <a:latin typeface="Cambria Math" panose="02040503050406030204" pitchFamily="18" charset="0"/>
                          </a:rPr>
                          <m:t>,</m:t>
                        </m:r>
                        <m:acc>
                          <m:accPr>
                            <m:chr m:val="̃"/>
                            <m:ctrlPr>
                              <a:rPr lang="en-AU" sz="2400" i="1">
                                <a:latin typeface="Cambria Math" panose="02040503050406030204" pitchFamily="18" charset="0"/>
                              </a:rPr>
                            </m:ctrlPr>
                          </m:accPr>
                          <m:e>
                            <m:r>
                              <a:rPr lang="en-AU" sz="2400">
                                <a:latin typeface="Cambria Math" panose="02040503050406030204" pitchFamily="18" charset="0"/>
                              </a:rPr>
                              <m:t>𝜌</m:t>
                            </m:r>
                          </m:e>
                        </m:acc>
                        <m:r>
                          <a:rPr lang="en-AU" sz="2400">
                            <a:latin typeface="Cambria Math" panose="02040503050406030204" pitchFamily="18" charset="0"/>
                          </a:rPr>
                          <m:t>,</m:t>
                        </m:r>
                        <m:r>
                          <a:rPr lang="en-AU" sz="2400">
                            <a:latin typeface="Cambria Math" panose="02040503050406030204" pitchFamily="18" charset="0"/>
                          </a:rPr>
                          <m:t>𝜎</m:t>
                        </m:r>
                        <m:r>
                          <a:rPr lang="en-AU" sz="2400">
                            <a:latin typeface="Cambria Math" panose="02040503050406030204" pitchFamily="18" charset="0"/>
                          </a:rPr>
                          <m:t>,</m:t>
                        </m:r>
                        <m:r>
                          <m:rPr>
                            <m:sty m:val="p"/>
                          </m:rPr>
                          <a:rPr lang="en-AU" sz="2400">
                            <a:latin typeface="Cambria Math" panose="02040503050406030204" pitchFamily="18" charset="0"/>
                          </a:rPr>
                          <m:t>Σ</m:t>
                        </m:r>
                      </m:e>
                    </m:d>
                  </m:oMath>
                </a14:m>
                <a:r>
                  <a:rPr lang="en-AU" sz="2400" dirty="0"/>
                  <a:t> where </a:t>
                </a:r>
                <a14:m>
                  <m:oMath xmlns:m="http://schemas.openxmlformats.org/officeDocument/2006/math">
                    <m:r>
                      <m:rPr>
                        <m:sty m:val="p"/>
                      </m:rPr>
                      <a:rPr lang="en-AU" sz="2400">
                        <a:latin typeface="Cambria Math" panose="02040503050406030204" pitchFamily="18" charset="0"/>
                      </a:rPr>
                      <m:t>Σ</m:t>
                    </m:r>
                  </m:oMath>
                </a14:m>
                <a:r>
                  <a:rPr lang="en-AU" sz="2400" dirty="0"/>
                  <a:t> represents the set of conditional transition probability matrix of discretised </a:t>
                </a:r>
                <a14:m>
                  <m:oMath xmlns:m="http://schemas.openxmlformats.org/officeDocument/2006/math">
                    <m:d>
                      <m:dPr>
                        <m:ctrlPr>
                          <a:rPr lang="en-AU" sz="2400" i="1">
                            <a:latin typeface="Cambria Math" panose="02040503050406030204" pitchFamily="18" charset="0"/>
                          </a:rPr>
                        </m:ctrlPr>
                      </m:dPr>
                      <m:e>
                        <m:f>
                          <m:fPr>
                            <m:ctrlPr>
                              <a:rPr lang="en-AU" sz="2400" i="1">
                                <a:latin typeface="Cambria Math" panose="02040503050406030204" pitchFamily="18" charset="0"/>
                              </a:rPr>
                            </m:ctrlPr>
                          </m:fPr>
                          <m:num>
                            <m:r>
                              <a:rPr lang="en-AU" sz="2400">
                                <a:latin typeface="Cambria Math" panose="02040503050406030204" pitchFamily="18" charset="0"/>
                              </a:rPr>
                              <m:t>𝜓</m:t>
                            </m:r>
                          </m:num>
                          <m:den>
                            <m:r>
                              <a:rPr lang="en-AU" sz="2400">
                                <a:latin typeface="Cambria Math" panose="02040503050406030204" pitchFamily="18" charset="0"/>
                              </a:rPr>
                              <m:t>𝑤</m:t>
                            </m:r>
                            <m:r>
                              <a:rPr lang="en-AU" sz="2400">
                                <a:latin typeface="Cambria Math" panose="02040503050406030204" pitchFamily="18" charset="0"/>
                              </a:rPr>
                              <m:t>+</m:t>
                            </m:r>
                            <m:r>
                              <a:rPr lang="en-AU" sz="2400">
                                <a:latin typeface="Cambria Math" panose="02040503050406030204" pitchFamily="18" charset="0"/>
                              </a:rPr>
                              <m:t>𝑚</m:t>
                            </m:r>
                          </m:den>
                        </m:f>
                      </m:e>
                    </m:d>
                  </m:oMath>
                </a14:m>
                <a:r>
                  <a:rPr lang="en-AU" sz="2400" dirty="0"/>
                  <a:t>, and we set the discount rate (</a:t>
                </a:r>
                <a14:m>
                  <m:oMath xmlns:m="http://schemas.openxmlformats.org/officeDocument/2006/math">
                    <m:r>
                      <a:rPr lang="en-AU" sz="2400">
                        <a:latin typeface="Cambria Math" panose="02040503050406030204" pitchFamily="18" charset="0"/>
                      </a:rPr>
                      <m:t>1−</m:t>
                    </m:r>
                    <m:r>
                      <a:rPr lang="en-AU" sz="2400">
                        <a:latin typeface="Cambria Math" panose="02040503050406030204" pitchFamily="18" charset="0"/>
                      </a:rPr>
                      <m:t>𝛿</m:t>
                    </m:r>
                  </m:oMath>
                </a14:m>
                <a:r>
                  <a:rPr lang="en-AU" sz="2400" dirty="0"/>
                  <a:t>) to 0.05</a:t>
                </a:r>
              </a:p>
              <a:p>
                <a:r>
                  <a:rPr lang="en-AU" sz="2400" dirty="0"/>
                  <a:t>In step four, first, we draw </a:t>
                </a:r>
                <a14:m>
                  <m:oMath xmlns:m="http://schemas.openxmlformats.org/officeDocument/2006/math">
                    <m:r>
                      <a:rPr lang="en-AU" sz="2400">
                        <a:latin typeface="Cambria Math" panose="02040503050406030204" pitchFamily="18" charset="0"/>
                      </a:rPr>
                      <m:t>𝐷</m:t>
                    </m:r>
                    <m:r>
                      <a:rPr lang="en-AU" sz="2400">
                        <a:latin typeface="Cambria Math" panose="02040503050406030204" pitchFamily="18" charset="0"/>
                      </a:rPr>
                      <m:t>=1000</m:t>
                    </m:r>
                  </m:oMath>
                </a14:m>
                <a:r>
                  <a:rPr lang="en-AU" sz="2400" dirty="0"/>
                  <a:t> </a:t>
                </a:r>
                <a14:m>
                  <m:oMath xmlns:m="http://schemas.openxmlformats.org/officeDocument/2006/math">
                    <m:sSub>
                      <m:sSubPr>
                        <m:ctrlPr>
                          <a:rPr lang="en-AU" sz="2400" i="1">
                            <a:latin typeface="Cambria Math" panose="02040503050406030204" pitchFamily="18" charset="0"/>
                          </a:rPr>
                        </m:ctrlPr>
                      </m:sSubPr>
                      <m:e>
                        <m:acc>
                          <m:accPr>
                            <m:chr m:val="̂"/>
                            <m:ctrlPr>
                              <a:rPr lang="en-AU" sz="2400" i="1">
                                <a:latin typeface="Cambria Math" panose="02040503050406030204" pitchFamily="18" charset="0"/>
                              </a:rPr>
                            </m:ctrlPr>
                          </m:accPr>
                          <m:e>
                            <m:r>
                              <a:rPr lang="en-AU" sz="2400">
                                <a:latin typeface="Cambria Math" panose="02040503050406030204" pitchFamily="18" charset="0"/>
                              </a:rPr>
                              <m:t>𝜆</m:t>
                            </m:r>
                          </m:e>
                        </m:acc>
                      </m:e>
                      <m:sub>
                        <m:r>
                          <a:rPr lang="en-AU" sz="2400">
                            <a:latin typeface="Cambria Math" panose="02040503050406030204" pitchFamily="18" charset="0"/>
                          </a:rPr>
                          <m:t>1</m:t>
                        </m:r>
                      </m:sub>
                    </m:sSub>
                  </m:oMath>
                </a14:m>
                <a:r>
                  <a:rPr lang="en-AU" sz="2400" dirty="0"/>
                  <a:t> and </a:t>
                </a:r>
                <a14:m>
                  <m:oMath xmlns:m="http://schemas.openxmlformats.org/officeDocument/2006/math">
                    <m:sSub>
                      <m:sSubPr>
                        <m:ctrlPr>
                          <a:rPr lang="en-AU" sz="2400" i="1">
                            <a:latin typeface="Cambria Math" panose="02040503050406030204" pitchFamily="18" charset="0"/>
                          </a:rPr>
                        </m:ctrlPr>
                      </m:sSubPr>
                      <m:e>
                        <m:acc>
                          <m:accPr>
                            <m:chr m:val="̂"/>
                            <m:ctrlPr>
                              <a:rPr lang="en-AU" sz="2400" i="1">
                                <a:latin typeface="Cambria Math" panose="02040503050406030204" pitchFamily="18" charset="0"/>
                              </a:rPr>
                            </m:ctrlPr>
                          </m:accPr>
                          <m:e>
                            <m:r>
                              <a:rPr lang="en-AU" sz="2400">
                                <a:latin typeface="Cambria Math" panose="02040503050406030204" pitchFamily="18" charset="0"/>
                              </a:rPr>
                              <m:t>𝜆</m:t>
                            </m:r>
                          </m:e>
                        </m:acc>
                      </m:e>
                      <m:sub>
                        <m:r>
                          <a:rPr lang="en-AU" sz="2400">
                            <a:latin typeface="Cambria Math" panose="02040503050406030204" pitchFamily="18" charset="0"/>
                          </a:rPr>
                          <m:t>2</m:t>
                        </m:r>
                      </m:sub>
                    </m:sSub>
                  </m:oMath>
                </a14:m>
                <a:r>
                  <a:rPr lang="en-AU" sz="2400" dirty="0"/>
                  <a:t> from the standard log-normal distributions and </a:t>
                </a:r>
                <a14:m>
                  <m:oMath xmlns:m="http://schemas.openxmlformats.org/officeDocument/2006/math">
                    <m:r>
                      <a:rPr lang="en-AU" sz="2400">
                        <a:latin typeface="Cambria Math" panose="02040503050406030204" pitchFamily="18" charset="0"/>
                      </a:rPr>
                      <m:t>𝐷</m:t>
                    </m:r>
                    <m:r>
                      <a:rPr lang="en-AU" sz="2400">
                        <a:latin typeface="Cambria Math" panose="02040503050406030204" pitchFamily="18" charset="0"/>
                      </a:rPr>
                      <m:t>=1000</m:t>
                    </m:r>
                  </m:oMath>
                </a14:m>
                <a:r>
                  <a:rPr lang="en-AU" sz="2400" dirty="0"/>
                  <a:t> </a:t>
                </a:r>
                <a14:m>
                  <m:oMath xmlns:m="http://schemas.openxmlformats.org/officeDocument/2006/math">
                    <m:sSub>
                      <m:sSubPr>
                        <m:ctrlPr>
                          <a:rPr lang="en-AU" sz="2400" i="1">
                            <a:latin typeface="Cambria Math" panose="02040503050406030204" pitchFamily="18" charset="0"/>
                          </a:rPr>
                        </m:ctrlPr>
                      </m:sSubPr>
                      <m:e>
                        <m:r>
                          <a:rPr lang="en-AU" sz="2400">
                            <a:latin typeface="Cambria Math" panose="02040503050406030204" pitchFamily="18" charset="0"/>
                          </a:rPr>
                          <m:t>𝜀</m:t>
                        </m:r>
                      </m:e>
                      <m:sub>
                        <m:r>
                          <a:rPr lang="en-AU" sz="2400">
                            <a:latin typeface="Cambria Math" panose="02040503050406030204" pitchFamily="18" charset="0"/>
                          </a:rPr>
                          <m:t>3</m:t>
                        </m:r>
                      </m:sub>
                    </m:sSub>
                  </m:oMath>
                </a14:m>
                <a:r>
                  <a:rPr lang="en-AU" sz="2400" dirty="0"/>
                  <a:t>, </a:t>
                </a:r>
                <a14:m>
                  <m:oMath xmlns:m="http://schemas.openxmlformats.org/officeDocument/2006/math">
                    <m:sSub>
                      <m:sSubPr>
                        <m:ctrlPr>
                          <a:rPr lang="en-AU" sz="2400" i="1">
                            <a:latin typeface="Cambria Math" panose="02040503050406030204" pitchFamily="18" charset="0"/>
                          </a:rPr>
                        </m:ctrlPr>
                      </m:sSubPr>
                      <m:e>
                        <m:r>
                          <a:rPr lang="en-AU" sz="2400">
                            <a:latin typeface="Cambria Math" panose="02040503050406030204" pitchFamily="18" charset="0"/>
                          </a:rPr>
                          <m:t>𝜀</m:t>
                        </m:r>
                      </m:e>
                      <m:sub>
                        <m:r>
                          <a:rPr lang="en-AU" sz="2400">
                            <a:latin typeface="Cambria Math" panose="02040503050406030204" pitchFamily="18" charset="0"/>
                          </a:rPr>
                          <m:t>4</m:t>
                        </m:r>
                      </m:sub>
                    </m:sSub>
                  </m:oMath>
                </a14:m>
                <a:r>
                  <a:rPr lang="en-AU" sz="2400" dirty="0"/>
                  <a:t>, </a:t>
                </a:r>
                <a14:m>
                  <m:oMath xmlns:m="http://schemas.openxmlformats.org/officeDocument/2006/math">
                    <m:sSub>
                      <m:sSubPr>
                        <m:ctrlPr>
                          <a:rPr lang="en-AU" sz="2400" i="1">
                            <a:latin typeface="Cambria Math" panose="02040503050406030204" pitchFamily="18" charset="0"/>
                          </a:rPr>
                        </m:ctrlPr>
                      </m:sSubPr>
                      <m:e>
                        <m:r>
                          <a:rPr lang="en-AU" sz="2400">
                            <a:latin typeface="Cambria Math" panose="02040503050406030204" pitchFamily="18" charset="0"/>
                          </a:rPr>
                          <m:t>𝜀</m:t>
                        </m:r>
                      </m:e>
                      <m:sub>
                        <m:r>
                          <a:rPr lang="en-AU" sz="2400">
                            <a:latin typeface="Cambria Math" panose="02040503050406030204" pitchFamily="18" charset="0"/>
                          </a:rPr>
                          <m:t>5</m:t>
                        </m:r>
                      </m:sub>
                    </m:sSub>
                  </m:oMath>
                </a14:m>
                <a:r>
                  <a:rPr lang="en-AU" sz="2400" dirty="0"/>
                  <a:t> and </a:t>
                </a:r>
                <a14:m>
                  <m:oMath xmlns:m="http://schemas.openxmlformats.org/officeDocument/2006/math">
                    <m:sSub>
                      <m:sSubPr>
                        <m:ctrlPr>
                          <a:rPr lang="en-AU" sz="2400" i="1">
                            <a:latin typeface="Cambria Math" panose="02040503050406030204" pitchFamily="18" charset="0"/>
                          </a:rPr>
                        </m:ctrlPr>
                      </m:sSubPr>
                      <m:e>
                        <m:r>
                          <a:rPr lang="en-AU" sz="2400">
                            <a:latin typeface="Cambria Math" panose="02040503050406030204" pitchFamily="18" charset="0"/>
                          </a:rPr>
                          <m:t>𝜀</m:t>
                        </m:r>
                      </m:e>
                      <m:sub>
                        <m:r>
                          <a:rPr lang="en-AU" sz="2400">
                            <a:latin typeface="Cambria Math" panose="02040503050406030204" pitchFamily="18" charset="0"/>
                          </a:rPr>
                          <m:t>6</m:t>
                        </m:r>
                      </m:sub>
                    </m:sSub>
                  </m:oMath>
                </a14:m>
                <a:r>
                  <a:rPr lang="en-AU" sz="2400" dirty="0"/>
                  <a:t> from the standard normal distributions. </a:t>
                </a:r>
              </a:p>
              <a:p>
                <a:r>
                  <a:rPr lang="en-AU" sz="2400" dirty="0"/>
                  <a:t>Conditional on </a:t>
                </a:r>
                <a14:m>
                  <m:oMath xmlns:m="http://schemas.openxmlformats.org/officeDocument/2006/math">
                    <m:d>
                      <m:dPr>
                        <m:ctrlPr>
                          <a:rPr lang="en-AU" sz="2400" i="1">
                            <a:latin typeface="Cambria Math" panose="02040503050406030204" pitchFamily="18" charset="0"/>
                          </a:rPr>
                        </m:ctrlPr>
                      </m:dPr>
                      <m:e>
                        <m:r>
                          <a:rPr lang="en-AU" sz="2400">
                            <a:latin typeface="Cambria Math" panose="02040503050406030204" pitchFamily="18" charset="0"/>
                          </a:rPr>
                          <m:t>𝜌</m:t>
                        </m:r>
                        <m:r>
                          <a:rPr lang="en-AU" sz="2400">
                            <a:latin typeface="Cambria Math" panose="02040503050406030204" pitchFamily="18" charset="0"/>
                          </a:rPr>
                          <m:t>,</m:t>
                        </m:r>
                        <m:acc>
                          <m:accPr>
                            <m:chr m:val="̃"/>
                            <m:ctrlPr>
                              <a:rPr lang="en-AU" sz="2400" i="1">
                                <a:latin typeface="Cambria Math" panose="02040503050406030204" pitchFamily="18" charset="0"/>
                              </a:rPr>
                            </m:ctrlPr>
                          </m:accPr>
                          <m:e>
                            <m:r>
                              <a:rPr lang="en-AU" sz="2400">
                                <a:latin typeface="Cambria Math" panose="02040503050406030204" pitchFamily="18" charset="0"/>
                              </a:rPr>
                              <m:t>𝜌</m:t>
                            </m:r>
                          </m:e>
                        </m:acc>
                        <m:r>
                          <a:rPr lang="en-AU" sz="2400">
                            <a:latin typeface="Cambria Math" panose="02040503050406030204" pitchFamily="18" charset="0"/>
                          </a:rPr>
                          <m:t>,</m:t>
                        </m:r>
                        <m:r>
                          <a:rPr lang="en-AU" sz="2400">
                            <a:latin typeface="Cambria Math" panose="02040503050406030204" pitchFamily="18" charset="0"/>
                          </a:rPr>
                          <m:t>𝜎</m:t>
                        </m:r>
                        <m:r>
                          <a:rPr lang="en-AU" sz="2400">
                            <a:latin typeface="Cambria Math" panose="02040503050406030204" pitchFamily="18" charset="0"/>
                          </a:rPr>
                          <m:t>,</m:t>
                        </m:r>
                        <m:r>
                          <m:rPr>
                            <m:sty m:val="p"/>
                          </m:rPr>
                          <a:rPr lang="en-AU" sz="2400">
                            <a:latin typeface="Cambria Math" panose="02040503050406030204" pitchFamily="18" charset="0"/>
                          </a:rPr>
                          <m:t>Σ</m:t>
                        </m:r>
                        <m:r>
                          <a:rPr lang="en-AU" sz="2400">
                            <a:latin typeface="Cambria Math" panose="02040503050406030204" pitchFamily="18" charset="0"/>
                          </a:rPr>
                          <m:t>,</m:t>
                        </m:r>
                        <m:r>
                          <m:rPr>
                            <m:sty m:val="p"/>
                          </m:rPr>
                          <a:rPr lang="en-AU" sz="2400">
                            <a:latin typeface="Cambria Math" panose="02040503050406030204" pitchFamily="18" charset="0"/>
                          </a:rPr>
                          <m:t>δ</m:t>
                        </m:r>
                      </m:e>
                    </m:d>
                  </m:oMath>
                </a14:m>
                <a:r>
                  <a:rPr lang="en-AU" sz="2400" dirty="0"/>
                  <a:t>, one can compute the choice values for each pair of </a:t>
                </a:r>
                <a14:m>
                  <m:oMath xmlns:m="http://schemas.openxmlformats.org/officeDocument/2006/math">
                    <m:d>
                      <m:dPr>
                        <m:ctrlPr>
                          <a:rPr lang="en-AU" sz="2400" i="1">
                            <a:latin typeface="Cambria Math" panose="02040503050406030204" pitchFamily="18" charset="0"/>
                          </a:rPr>
                        </m:ctrlPr>
                      </m:dPr>
                      <m:e>
                        <m:sSub>
                          <m:sSubPr>
                            <m:ctrlPr>
                              <a:rPr lang="en-AU" sz="2400" i="1">
                                <a:latin typeface="Cambria Math" panose="02040503050406030204" pitchFamily="18" charset="0"/>
                              </a:rPr>
                            </m:ctrlPr>
                          </m:sSubPr>
                          <m:e>
                            <m:r>
                              <a:rPr lang="en-AU" sz="2400">
                                <a:latin typeface="Cambria Math" panose="02040503050406030204" pitchFamily="18" charset="0"/>
                              </a:rPr>
                              <m:t>𝜆</m:t>
                            </m:r>
                          </m:e>
                          <m:sub>
                            <m:r>
                              <a:rPr lang="en-AU" sz="2400">
                                <a:latin typeface="Cambria Math" panose="02040503050406030204" pitchFamily="18" charset="0"/>
                              </a:rPr>
                              <m:t>1</m:t>
                            </m:r>
                          </m:sub>
                        </m:sSub>
                        <m:r>
                          <a:rPr lang="en-AU" sz="2400">
                            <a:latin typeface="Cambria Math" panose="02040503050406030204" pitchFamily="18" charset="0"/>
                          </a:rPr>
                          <m:t>,</m:t>
                        </m:r>
                        <m:sSub>
                          <m:sSubPr>
                            <m:ctrlPr>
                              <a:rPr lang="en-AU" sz="2400" i="1">
                                <a:latin typeface="Cambria Math" panose="02040503050406030204" pitchFamily="18" charset="0"/>
                              </a:rPr>
                            </m:ctrlPr>
                          </m:sSubPr>
                          <m:e>
                            <m:r>
                              <a:rPr lang="en-AU" sz="2400">
                                <a:latin typeface="Cambria Math" panose="02040503050406030204" pitchFamily="18" charset="0"/>
                              </a:rPr>
                              <m:t>𝜆</m:t>
                            </m:r>
                          </m:e>
                          <m:sub>
                            <m:r>
                              <a:rPr lang="en-AU" sz="2400">
                                <a:latin typeface="Cambria Math" panose="02040503050406030204" pitchFamily="18" charset="0"/>
                              </a:rPr>
                              <m:t>2</m:t>
                            </m:r>
                          </m:sub>
                        </m:sSub>
                      </m:e>
                    </m:d>
                  </m:oMath>
                </a14:m>
                <a:r>
                  <a:rPr lang="en-AU" sz="2400" dirty="0"/>
                  <a:t> with a guess of </a:t>
                </a:r>
                <a14:m>
                  <m:oMath xmlns:m="http://schemas.openxmlformats.org/officeDocument/2006/math">
                    <m:r>
                      <a:rPr lang="en-AU" sz="2400">
                        <a:latin typeface="Cambria Math" panose="02040503050406030204" pitchFamily="18" charset="0"/>
                      </a:rPr>
                      <m:t>𝛽</m:t>
                    </m:r>
                  </m:oMath>
                </a14:m>
                <a:r>
                  <a:rPr lang="en-AU" sz="2400" dirty="0"/>
                  <a:t>, namely </a:t>
                </a:r>
                <a14:m>
                  <m:oMath xmlns:m="http://schemas.openxmlformats.org/officeDocument/2006/math">
                    <m:d>
                      <m:dPr>
                        <m:ctrlPr>
                          <a:rPr lang="en-AU" sz="2400" i="1">
                            <a:latin typeface="Cambria Math" panose="02040503050406030204" pitchFamily="18" charset="0"/>
                          </a:rPr>
                        </m:ctrlPr>
                      </m:dPr>
                      <m:e>
                        <m:sSubSup>
                          <m:sSubSupPr>
                            <m:ctrlPr>
                              <a:rPr lang="en-AU" sz="2400" i="1">
                                <a:latin typeface="Cambria Math" panose="02040503050406030204" pitchFamily="18" charset="0"/>
                              </a:rPr>
                            </m:ctrlPr>
                          </m:sSubSupPr>
                          <m:e>
                            <m:r>
                              <a:rPr lang="en-AU" sz="2400">
                                <a:latin typeface="Cambria Math" panose="02040503050406030204" pitchFamily="18" charset="0"/>
                              </a:rPr>
                              <m:t>𝑣</m:t>
                            </m:r>
                          </m:e>
                          <m:sub>
                            <m:d>
                              <m:dPr>
                                <m:ctrlPr>
                                  <a:rPr lang="en-AU" sz="2400" i="1">
                                    <a:latin typeface="Cambria Math" panose="02040503050406030204" pitchFamily="18" charset="0"/>
                                  </a:rPr>
                                </m:ctrlPr>
                              </m:dPr>
                              <m:e>
                                <m:r>
                                  <a:rPr lang="en-AU" sz="2400">
                                    <a:latin typeface="Cambria Math" panose="02040503050406030204" pitchFamily="18" charset="0"/>
                                  </a:rPr>
                                  <m:t>0,0</m:t>
                                </m:r>
                              </m:e>
                            </m:d>
                          </m:sub>
                          <m:sup>
                            <m:r>
                              <a:rPr lang="en-AU" sz="2400">
                                <a:latin typeface="Cambria Math" panose="02040503050406030204" pitchFamily="18" charset="0"/>
                              </a:rPr>
                              <m:t>𝑑</m:t>
                            </m:r>
                          </m:sup>
                        </m:sSubSup>
                        <m:r>
                          <a:rPr lang="en-AU" sz="2400">
                            <a:latin typeface="Cambria Math" panose="02040503050406030204" pitchFamily="18" charset="0"/>
                          </a:rPr>
                          <m:t>,</m:t>
                        </m:r>
                        <m:sSubSup>
                          <m:sSubSupPr>
                            <m:ctrlPr>
                              <a:rPr lang="en-AU" sz="2400" i="1">
                                <a:latin typeface="Cambria Math" panose="02040503050406030204" pitchFamily="18" charset="0"/>
                              </a:rPr>
                            </m:ctrlPr>
                          </m:sSubSupPr>
                          <m:e>
                            <m:r>
                              <a:rPr lang="en-AU" sz="2400">
                                <a:latin typeface="Cambria Math" panose="02040503050406030204" pitchFamily="18" charset="0"/>
                              </a:rPr>
                              <m:t>𝑣</m:t>
                            </m:r>
                          </m:e>
                          <m:sub>
                            <m:d>
                              <m:dPr>
                                <m:ctrlPr>
                                  <a:rPr lang="en-AU" sz="2400" i="1">
                                    <a:latin typeface="Cambria Math" panose="02040503050406030204" pitchFamily="18" charset="0"/>
                                  </a:rPr>
                                </m:ctrlPr>
                              </m:dPr>
                              <m:e>
                                <m:r>
                                  <a:rPr lang="en-AU" sz="2400">
                                    <a:latin typeface="Cambria Math" panose="02040503050406030204" pitchFamily="18" charset="0"/>
                                  </a:rPr>
                                  <m:t>0,1</m:t>
                                </m:r>
                              </m:e>
                            </m:d>
                          </m:sub>
                          <m:sup>
                            <m:r>
                              <a:rPr lang="en-AU" sz="2400">
                                <a:latin typeface="Cambria Math" panose="02040503050406030204" pitchFamily="18" charset="0"/>
                              </a:rPr>
                              <m:t>𝑑</m:t>
                            </m:r>
                          </m:sup>
                        </m:sSubSup>
                        <m:r>
                          <a:rPr lang="en-AU" sz="2400">
                            <a:latin typeface="Cambria Math" panose="02040503050406030204" pitchFamily="18" charset="0"/>
                          </a:rPr>
                          <m:t>,</m:t>
                        </m:r>
                        <m:sSubSup>
                          <m:sSubSupPr>
                            <m:ctrlPr>
                              <a:rPr lang="en-AU" sz="2400" i="1">
                                <a:latin typeface="Cambria Math" panose="02040503050406030204" pitchFamily="18" charset="0"/>
                              </a:rPr>
                            </m:ctrlPr>
                          </m:sSubSupPr>
                          <m:e>
                            <m:r>
                              <a:rPr lang="en-AU" sz="2400">
                                <a:latin typeface="Cambria Math" panose="02040503050406030204" pitchFamily="18" charset="0"/>
                              </a:rPr>
                              <m:t>𝑣</m:t>
                            </m:r>
                          </m:e>
                          <m:sub>
                            <m:d>
                              <m:dPr>
                                <m:ctrlPr>
                                  <a:rPr lang="en-AU" sz="2400" i="1">
                                    <a:latin typeface="Cambria Math" panose="02040503050406030204" pitchFamily="18" charset="0"/>
                                  </a:rPr>
                                </m:ctrlPr>
                              </m:dPr>
                              <m:e>
                                <m:r>
                                  <a:rPr lang="en-AU" sz="2400">
                                    <a:latin typeface="Cambria Math" panose="02040503050406030204" pitchFamily="18" charset="0"/>
                                  </a:rPr>
                                  <m:t>1,0</m:t>
                                </m:r>
                              </m:e>
                            </m:d>
                          </m:sub>
                          <m:sup>
                            <m:r>
                              <a:rPr lang="en-AU" sz="2400">
                                <a:latin typeface="Cambria Math" panose="02040503050406030204" pitchFamily="18" charset="0"/>
                              </a:rPr>
                              <m:t>𝑑</m:t>
                            </m:r>
                          </m:sup>
                        </m:sSubSup>
                        <m:r>
                          <a:rPr lang="en-AU" sz="2400">
                            <a:latin typeface="Cambria Math" panose="02040503050406030204" pitchFamily="18" charset="0"/>
                          </a:rPr>
                          <m:t>,</m:t>
                        </m:r>
                        <m:sSubSup>
                          <m:sSubSupPr>
                            <m:ctrlPr>
                              <a:rPr lang="en-AU" sz="2400" i="1">
                                <a:latin typeface="Cambria Math" panose="02040503050406030204" pitchFamily="18" charset="0"/>
                              </a:rPr>
                            </m:ctrlPr>
                          </m:sSubSupPr>
                          <m:e>
                            <m:r>
                              <a:rPr lang="en-AU" sz="2400">
                                <a:latin typeface="Cambria Math" panose="02040503050406030204" pitchFamily="18" charset="0"/>
                              </a:rPr>
                              <m:t>𝑣</m:t>
                            </m:r>
                          </m:e>
                          <m:sub>
                            <m:d>
                              <m:dPr>
                                <m:ctrlPr>
                                  <a:rPr lang="en-AU" sz="2400" i="1">
                                    <a:latin typeface="Cambria Math" panose="02040503050406030204" pitchFamily="18" charset="0"/>
                                  </a:rPr>
                                </m:ctrlPr>
                              </m:dPr>
                              <m:e>
                                <m:r>
                                  <a:rPr lang="en-AU" sz="2400">
                                    <a:latin typeface="Cambria Math" panose="02040503050406030204" pitchFamily="18" charset="0"/>
                                  </a:rPr>
                                  <m:t>1,1</m:t>
                                </m:r>
                              </m:e>
                            </m:d>
                          </m:sub>
                          <m:sup>
                            <m:r>
                              <a:rPr lang="en-AU" sz="2400">
                                <a:latin typeface="Cambria Math" panose="02040503050406030204" pitchFamily="18" charset="0"/>
                              </a:rPr>
                              <m:t>𝑑</m:t>
                            </m:r>
                          </m:sup>
                        </m:sSubSup>
                      </m:e>
                    </m:d>
                  </m:oMath>
                </a14:m>
                <a:r>
                  <a:rPr lang="en-AU" sz="2400" dirty="0"/>
                  <a:t>, </a:t>
                </a:r>
                <a14:m>
                  <m:oMath xmlns:m="http://schemas.openxmlformats.org/officeDocument/2006/math">
                    <m:r>
                      <a:rPr lang="en-AU" sz="2400">
                        <a:latin typeface="Cambria Math" panose="02040503050406030204" pitchFamily="18" charset="0"/>
                      </a:rPr>
                      <m:t>𝑑</m:t>
                    </m:r>
                    <m:r>
                      <a:rPr lang="en-AU" sz="2400">
                        <a:latin typeface="Cambria Math" panose="02040503050406030204" pitchFamily="18" charset="0"/>
                      </a:rPr>
                      <m:t>=1,…,</m:t>
                    </m:r>
                    <m:r>
                      <a:rPr lang="en-AU" sz="2400">
                        <a:latin typeface="Cambria Math" panose="02040503050406030204" pitchFamily="18" charset="0"/>
                      </a:rPr>
                      <m:t>𝐷</m:t>
                    </m:r>
                  </m:oMath>
                </a14:m>
                <a:r>
                  <a:rPr lang="en-AU" sz="2400" dirty="0"/>
                  <a:t>, where we utilize a nested fixed-point algorithm in the computation (Rust, 1987). </a:t>
                </a:r>
              </a:p>
            </p:txBody>
          </p:sp>
        </mc:Choice>
        <mc:Fallback xmlns="">
          <p:sp>
            <p:nvSpPr>
              <p:cNvPr id="3" name="Content Placeholder 2">
                <a:extLst>
                  <a:ext uri="{FF2B5EF4-FFF2-40B4-BE49-F238E27FC236}">
                    <a16:creationId xmlns:a16="http://schemas.microsoft.com/office/drawing/2014/main" id="{05C834EB-E416-6660-C33C-9545C7C92D3D}"/>
                  </a:ext>
                </a:extLst>
              </p:cNvPr>
              <p:cNvSpPr>
                <a:spLocks noGrp="1" noRot="1" noChangeAspect="1" noMove="1" noResize="1" noEditPoints="1" noAdjustHandles="1" noChangeArrowheads="1" noChangeShapeType="1" noTextEdit="1"/>
              </p:cNvSpPr>
              <p:nvPr>
                <p:ph idx="1"/>
              </p:nvPr>
            </p:nvSpPr>
            <p:spPr>
              <a:blipFill>
                <a:blip r:embed="rId2"/>
                <a:stretch>
                  <a:fillRect l="-812" t="-1961" r="-812"/>
                </a:stretch>
              </a:blipFill>
            </p:spPr>
            <p:txBody>
              <a:bodyPr/>
              <a:lstStyle/>
              <a:p>
                <a:r>
                  <a:rPr lang="en-AU">
                    <a:noFill/>
                  </a:rPr>
                  <a:t> </a:t>
                </a:r>
              </a:p>
            </p:txBody>
          </p:sp>
        </mc:Fallback>
      </mc:AlternateContent>
    </p:spTree>
    <p:extLst>
      <p:ext uri="{BB962C8B-B14F-4D97-AF65-F5344CB8AC3E}">
        <p14:creationId xmlns:p14="http://schemas.microsoft.com/office/powerpoint/2010/main" val="26047871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0EE6E-37F4-3650-DC2B-EB7B9249C453}"/>
              </a:ext>
            </a:extLst>
          </p:cNvPr>
          <p:cNvSpPr>
            <a:spLocks noGrp="1"/>
          </p:cNvSpPr>
          <p:nvPr>
            <p:ph type="title"/>
          </p:nvPr>
        </p:nvSpPr>
        <p:spPr/>
        <p:txBody>
          <a:bodyPr/>
          <a:lstStyle/>
          <a:p>
            <a:r>
              <a:rPr lang="en-AU" dirty="0"/>
              <a:t>Analytical Framework-Estimation Strategy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CE22D4-88C9-660A-40FE-FE68B0C346D6}"/>
                  </a:ext>
                </a:extLst>
              </p:cNvPr>
              <p:cNvSpPr>
                <a:spLocks noGrp="1"/>
              </p:cNvSpPr>
              <p:nvPr>
                <p:ph idx="1"/>
              </p:nvPr>
            </p:nvSpPr>
            <p:spPr/>
            <p:txBody>
              <a:bodyPr>
                <a:normAutofit/>
              </a:bodyPr>
              <a:lstStyle/>
              <a:p>
                <a:r>
                  <a:rPr lang="en-AU" sz="2400" dirty="0"/>
                  <a:t>Then, we can simulate the four choice probabilities, conditional on firm entry at stage one and stay at stage two. </a:t>
                </a:r>
              </a:p>
              <a:p>
                <a:r>
                  <a:rPr lang="en-AU" sz="2400" dirty="0"/>
                  <a:t>For example </a:t>
                </a:r>
                <a14:m>
                  <m:oMath xmlns:m="http://schemas.openxmlformats.org/officeDocument/2006/math">
                    <m:acc>
                      <m:accPr>
                        <m:chr m:val="̂"/>
                        <m:ctrlPr>
                          <a:rPr lang="en-AU" sz="2400" i="1">
                            <a:latin typeface="Cambria Math" panose="02040503050406030204" pitchFamily="18" charset="0"/>
                          </a:rPr>
                        </m:ctrlPr>
                      </m:accPr>
                      <m:e>
                        <m:r>
                          <a:rPr lang="en-AU" sz="2400">
                            <a:latin typeface="Cambria Math" panose="02040503050406030204" pitchFamily="18" charset="0"/>
                          </a:rPr>
                          <m:t>𝑃𝑟</m:t>
                        </m:r>
                      </m:e>
                    </m:acc>
                    <m:d>
                      <m:dPr>
                        <m:ctrlPr>
                          <a:rPr lang="en-AU" sz="2400" i="1">
                            <a:latin typeface="Cambria Math" panose="02040503050406030204" pitchFamily="18" charset="0"/>
                          </a:rPr>
                        </m:ctrlPr>
                      </m:dPr>
                      <m:e>
                        <m:d>
                          <m:dPr>
                            <m:begChr m:val=""/>
                            <m:endChr m:val="|"/>
                            <m:ctrlPr>
                              <a:rPr lang="en-AU" sz="2400" i="1">
                                <a:latin typeface="Cambria Math" panose="02040503050406030204" pitchFamily="18" charset="0"/>
                              </a:rPr>
                            </m:ctrlPr>
                          </m:dPr>
                          <m:e>
                            <m:sSub>
                              <m:sSubPr>
                                <m:ctrlPr>
                                  <a:rPr lang="en-AU" sz="2400" i="1">
                                    <a:latin typeface="Cambria Math" panose="02040503050406030204" pitchFamily="18" charset="0"/>
                                  </a:rPr>
                                </m:ctrlPr>
                              </m:sSubPr>
                              <m:e>
                                <m:r>
                                  <a:rPr lang="en-AU" sz="2400">
                                    <a:latin typeface="Cambria Math" panose="02040503050406030204" pitchFamily="18" charset="0"/>
                                  </a:rPr>
                                  <m:t>𝜒</m:t>
                                </m:r>
                              </m:e>
                              <m:sub>
                                <m:r>
                                  <a:rPr lang="en-AU" sz="2400">
                                    <a:latin typeface="Cambria Math" panose="02040503050406030204" pitchFamily="18" charset="0"/>
                                  </a:rPr>
                                  <m:t>1</m:t>
                                </m:r>
                              </m:sub>
                            </m:sSub>
                            <m:r>
                              <a:rPr lang="en-AU" sz="2400">
                                <a:latin typeface="Cambria Math" panose="02040503050406030204" pitchFamily="18" charset="0"/>
                              </a:rPr>
                              <m:t>=1,</m:t>
                            </m:r>
                            <m:sSub>
                              <m:sSubPr>
                                <m:ctrlPr>
                                  <a:rPr lang="en-AU" sz="2400" i="1">
                                    <a:latin typeface="Cambria Math" panose="02040503050406030204" pitchFamily="18" charset="0"/>
                                  </a:rPr>
                                </m:ctrlPr>
                              </m:sSubPr>
                              <m:e>
                                <m:r>
                                  <a:rPr lang="en-AU" sz="2400">
                                    <a:latin typeface="Cambria Math" panose="02040503050406030204" pitchFamily="18" charset="0"/>
                                  </a:rPr>
                                  <m:t>𝜒</m:t>
                                </m:r>
                              </m:e>
                              <m:sub>
                                <m:r>
                                  <a:rPr lang="en-AU" sz="2400">
                                    <a:latin typeface="Cambria Math" panose="02040503050406030204" pitchFamily="18" charset="0"/>
                                  </a:rPr>
                                  <m:t>2</m:t>
                                </m:r>
                              </m:sub>
                            </m:sSub>
                            <m:r>
                              <a:rPr lang="en-AU" sz="2400">
                                <a:latin typeface="Cambria Math" panose="02040503050406030204" pitchFamily="18" charset="0"/>
                              </a:rPr>
                              <m:t>=1</m:t>
                            </m:r>
                          </m:e>
                        </m:d>
                        <m:r>
                          <a:rPr lang="en-AU" sz="2400">
                            <a:latin typeface="Cambria Math" panose="02040503050406030204" pitchFamily="18" charset="0"/>
                          </a:rPr>
                          <m:t>𝑒𝑛𝑡𝑟𝑦</m:t>
                        </m:r>
                        <m:r>
                          <a:rPr lang="en-AU" sz="2400">
                            <a:latin typeface="Cambria Math" panose="02040503050406030204" pitchFamily="18" charset="0"/>
                          </a:rPr>
                          <m:t>,</m:t>
                        </m:r>
                        <m:r>
                          <a:rPr lang="en-AU" sz="2400">
                            <a:latin typeface="Cambria Math" panose="02040503050406030204" pitchFamily="18" charset="0"/>
                          </a:rPr>
                          <m:t>𝑠𝑡𝑎𝑦</m:t>
                        </m:r>
                      </m:e>
                    </m:d>
                    <m:r>
                      <a:rPr lang="en-AU" sz="2400">
                        <a:latin typeface="Cambria Math" panose="02040503050406030204" pitchFamily="18" charset="0"/>
                      </a:rPr>
                      <m:t>=</m:t>
                    </m:r>
                    <m:f>
                      <m:fPr>
                        <m:ctrlPr>
                          <a:rPr lang="en-AU" sz="2400" i="1">
                            <a:latin typeface="Cambria Math" panose="02040503050406030204" pitchFamily="18" charset="0"/>
                          </a:rPr>
                        </m:ctrlPr>
                      </m:fPr>
                      <m:num>
                        <m:r>
                          <a:rPr lang="en-AU" sz="2400">
                            <a:latin typeface="Cambria Math" panose="02040503050406030204" pitchFamily="18" charset="0"/>
                          </a:rPr>
                          <m:t>1</m:t>
                        </m:r>
                      </m:num>
                      <m:den>
                        <m:nary>
                          <m:naryPr>
                            <m:chr m:val="∑"/>
                            <m:limLoc m:val="subSup"/>
                            <m:ctrlPr>
                              <a:rPr lang="en-AU" sz="2400" i="1">
                                <a:latin typeface="Cambria Math" panose="02040503050406030204" pitchFamily="18" charset="0"/>
                              </a:rPr>
                            </m:ctrlPr>
                          </m:naryPr>
                          <m:sub>
                            <m:r>
                              <a:rPr lang="en-AU" sz="2400">
                                <a:latin typeface="Cambria Math" panose="02040503050406030204" pitchFamily="18" charset="0"/>
                              </a:rPr>
                              <m:t>𝑑</m:t>
                            </m:r>
                            <m:r>
                              <a:rPr lang="en-AU" sz="2400">
                                <a:latin typeface="Cambria Math" panose="02040503050406030204" pitchFamily="18" charset="0"/>
                              </a:rPr>
                              <m:t>=1</m:t>
                            </m:r>
                          </m:sub>
                          <m:sup>
                            <m:r>
                              <a:rPr lang="en-AU" sz="2400">
                                <a:latin typeface="Cambria Math" panose="02040503050406030204" pitchFamily="18" charset="0"/>
                              </a:rPr>
                              <m:t>𝐷</m:t>
                            </m:r>
                          </m:sup>
                          <m:e>
                            <m:r>
                              <a:rPr lang="en-AU" sz="2400">
                                <a:latin typeface="Cambria Math" panose="02040503050406030204" pitchFamily="18" charset="0"/>
                              </a:rPr>
                              <m:t>1</m:t>
                            </m:r>
                            <m:d>
                              <m:dPr>
                                <m:ctrlPr>
                                  <a:rPr lang="en-AU" sz="2400" i="1">
                                    <a:latin typeface="Cambria Math" panose="02040503050406030204" pitchFamily="18" charset="0"/>
                                  </a:rPr>
                                </m:ctrlPr>
                              </m:dPr>
                              <m:e>
                                <m:sSubSup>
                                  <m:sSubSupPr>
                                    <m:ctrlPr>
                                      <a:rPr lang="en-AU" sz="2400" i="1">
                                        <a:latin typeface="Cambria Math" panose="02040503050406030204" pitchFamily="18" charset="0"/>
                                      </a:rPr>
                                    </m:ctrlPr>
                                  </m:sSubSupPr>
                                  <m:e>
                                    <m:r>
                                      <a:rPr lang="en-AU" sz="2400">
                                        <a:latin typeface="Cambria Math" panose="02040503050406030204" pitchFamily="18" charset="0"/>
                                      </a:rPr>
                                      <m:t>𝑣</m:t>
                                    </m:r>
                                  </m:e>
                                  <m:sub>
                                    <m:d>
                                      <m:dPr>
                                        <m:ctrlPr>
                                          <a:rPr lang="en-AU" sz="2400" i="1">
                                            <a:latin typeface="Cambria Math" panose="02040503050406030204" pitchFamily="18" charset="0"/>
                                          </a:rPr>
                                        </m:ctrlPr>
                                      </m:dPr>
                                      <m:e>
                                        <m:r>
                                          <a:rPr lang="en-AU" sz="2400">
                                            <a:latin typeface="Cambria Math" panose="02040503050406030204" pitchFamily="18" charset="0"/>
                                          </a:rPr>
                                          <m:t>0,0</m:t>
                                        </m:r>
                                      </m:e>
                                    </m:d>
                                  </m:sub>
                                  <m:sup>
                                    <m:r>
                                      <a:rPr lang="en-AU" sz="2400">
                                        <a:latin typeface="Cambria Math" panose="02040503050406030204" pitchFamily="18" charset="0"/>
                                      </a:rPr>
                                      <m:t>𝑑</m:t>
                                    </m:r>
                                  </m:sup>
                                </m:sSubSup>
                                <m:r>
                                  <a:rPr lang="en-AU" sz="2400">
                                    <a:latin typeface="Cambria Math" panose="02040503050406030204" pitchFamily="18" charset="0"/>
                                  </a:rPr>
                                  <m:t>≥0</m:t>
                                </m:r>
                              </m:e>
                            </m:d>
                          </m:e>
                        </m:nary>
                      </m:den>
                    </m:f>
                    <m:nary>
                      <m:naryPr>
                        <m:chr m:val="∑"/>
                        <m:limLoc m:val="subSup"/>
                        <m:ctrlPr>
                          <a:rPr lang="en-AU" sz="2400" i="1">
                            <a:latin typeface="Cambria Math" panose="02040503050406030204" pitchFamily="18" charset="0"/>
                          </a:rPr>
                        </m:ctrlPr>
                      </m:naryPr>
                      <m:sub>
                        <m:r>
                          <a:rPr lang="en-AU" sz="2400">
                            <a:latin typeface="Cambria Math" panose="02040503050406030204" pitchFamily="18" charset="0"/>
                          </a:rPr>
                          <m:t>𝑑</m:t>
                        </m:r>
                        <m:r>
                          <a:rPr lang="en-AU" sz="2400">
                            <a:latin typeface="Cambria Math" panose="02040503050406030204" pitchFamily="18" charset="0"/>
                          </a:rPr>
                          <m:t>=1</m:t>
                        </m:r>
                      </m:sub>
                      <m:sup>
                        <m:r>
                          <a:rPr lang="en-AU" sz="2400">
                            <a:latin typeface="Cambria Math" panose="02040503050406030204" pitchFamily="18" charset="0"/>
                          </a:rPr>
                          <m:t>𝐷</m:t>
                        </m:r>
                      </m:sup>
                      <m:e>
                        <m:f>
                          <m:fPr>
                            <m:ctrlPr>
                              <a:rPr lang="en-AU" sz="2400" i="1">
                                <a:latin typeface="Cambria Math" panose="02040503050406030204" pitchFamily="18" charset="0"/>
                              </a:rPr>
                            </m:ctrlPr>
                          </m:fPr>
                          <m:num>
                            <m:r>
                              <a:rPr lang="en-AU" sz="2400">
                                <a:latin typeface="Cambria Math" panose="02040503050406030204" pitchFamily="18" charset="0"/>
                              </a:rPr>
                              <m:t>1</m:t>
                            </m:r>
                          </m:num>
                          <m:den>
                            <m:r>
                              <a:rPr lang="en-AU" sz="2400">
                                <a:latin typeface="Cambria Math" panose="02040503050406030204" pitchFamily="18" charset="0"/>
                              </a:rPr>
                              <m:t>1+</m:t>
                            </m:r>
                            <m:r>
                              <a:rPr lang="en-AU" sz="2400">
                                <a:latin typeface="Cambria Math" panose="02040503050406030204" pitchFamily="18" charset="0"/>
                              </a:rPr>
                              <m:t>𝑒𝑥𝑝</m:t>
                            </m:r>
                            <m:d>
                              <m:dPr>
                                <m:ctrlPr>
                                  <a:rPr lang="en-AU" sz="2400" i="1">
                                    <a:latin typeface="Cambria Math" panose="02040503050406030204" pitchFamily="18" charset="0"/>
                                  </a:rPr>
                                </m:ctrlPr>
                              </m:dPr>
                              <m:e>
                                <m:sSubSup>
                                  <m:sSubSupPr>
                                    <m:ctrlPr>
                                      <a:rPr lang="en-AU" sz="2400" i="1">
                                        <a:latin typeface="Cambria Math" panose="02040503050406030204" pitchFamily="18" charset="0"/>
                                      </a:rPr>
                                    </m:ctrlPr>
                                  </m:sSubSupPr>
                                  <m:e>
                                    <m:r>
                                      <a:rPr lang="en-AU" sz="2400">
                                        <a:latin typeface="Cambria Math" panose="02040503050406030204" pitchFamily="18" charset="0"/>
                                      </a:rPr>
                                      <m:t>𝑣</m:t>
                                    </m:r>
                                  </m:e>
                                  <m:sub>
                                    <m:d>
                                      <m:dPr>
                                        <m:ctrlPr>
                                          <a:rPr lang="en-AU" sz="2400" i="1">
                                            <a:latin typeface="Cambria Math" panose="02040503050406030204" pitchFamily="18" charset="0"/>
                                          </a:rPr>
                                        </m:ctrlPr>
                                      </m:dPr>
                                      <m:e>
                                        <m:r>
                                          <a:rPr lang="en-AU" sz="2400">
                                            <a:latin typeface="Cambria Math" panose="02040503050406030204" pitchFamily="18" charset="0"/>
                                          </a:rPr>
                                          <m:t>0,0</m:t>
                                        </m:r>
                                      </m:e>
                                    </m:d>
                                  </m:sub>
                                  <m:sup>
                                    <m:r>
                                      <a:rPr lang="en-AU" sz="2400">
                                        <a:latin typeface="Cambria Math" panose="02040503050406030204" pitchFamily="18" charset="0"/>
                                      </a:rPr>
                                      <m:t>𝑑</m:t>
                                    </m:r>
                                  </m:sup>
                                </m:sSubSup>
                                <m:r>
                                  <a:rPr lang="en-AU" sz="2400">
                                    <a:latin typeface="Cambria Math" panose="02040503050406030204" pitchFamily="18" charset="0"/>
                                  </a:rPr>
                                  <m:t>−</m:t>
                                </m:r>
                                <m:sSubSup>
                                  <m:sSubSupPr>
                                    <m:ctrlPr>
                                      <a:rPr lang="en-AU" sz="2400" i="1">
                                        <a:latin typeface="Cambria Math" panose="02040503050406030204" pitchFamily="18" charset="0"/>
                                      </a:rPr>
                                    </m:ctrlPr>
                                  </m:sSubSupPr>
                                  <m:e>
                                    <m:r>
                                      <a:rPr lang="en-AU" sz="2400">
                                        <a:latin typeface="Cambria Math" panose="02040503050406030204" pitchFamily="18" charset="0"/>
                                      </a:rPr>
                                      <m:t>𝑣</m:t>
                                    </m:r>
                                  </m:e>
                                  <m:sub>
                                    <m:d>
                                      <m:dPr>
                                        <m:ctrlPr>
                                          <a:rPr lang="en-AU" sz="2400" i="1">
                                            <a:latin typeface="Cambria Math" panose="02040503050406030204" pitchFamily="18" charset="0"/>
                                          </a:rPr>
                                        </m:ctrlPr>
                                      </m:dPr>
                                      <m:e>
                                        <m:r>
                                          <a:rPr lang="en-AU" sz="2400">
                                            <a:latin typeface="Cambria Math" panose="02040503050406030204" pitchFamily="18" charset="0"/>
                                          </a:rPr>
                                          <m:t>1,1</m:t>
                                        </m:r>
                                      </m:e>
                                    </m:d>
                                  </m:sub>
                                  <m:sup>
                                    <m:r>
                                      <a:rPr lang="en-AU" sz="2400">
                                        <a:latin typeface="Cambria Math" panose="02040503050406030204" pitchFamily="18" charset="0"/>
                                      </a:rPr>
                                      <m:t>𝑑</m:t>
                                    </m:r>
                                  </m:sup>
                                </m:sSubSup>
                              </m:e>
                            </m:d>
                            <m:r>
                              <a:rPr lang="en-AU" sz="2400">
                                <a:latin typeface="Cambria Math" panose="02040503050406030204" pitchFamily="18" charset="0"/>
                              </a:rPr>
                              <m:t>+</m:t>
                            </m:r>
                            <m:r>
                              <a:rPr lang="en-AU" sz="2400">
                                <a:latin typeface="Cambria Math" panose="02040503050406030204" pitchFamily="18" charset="0"/>
                              </a:rPr>
                              <m:t>𝑒𝑥𝑝</m:t>
                            </m:r>
                            <m:d>
                              <m:dPr>
                                <m:ctrlPr>
                                  <a:rPr lang="en-AU" sz="2400" i="1">
                                    <a:latin typeface="Cambria Math" panose="02040503050406030204" pitchFamily="18" charset="0"/>
                                  </a:rPr>
                                </m:ctrlPr>
                              </m:dPr>
                              <m:e>
                                <m:sSubSup>
                                  <m:sSubSupPr>
                                    <m:ctrlPr>
                                      <a:rPr lang="en-AU" sz="2400" i="1">
                                        <a:latin typeface="Cambria Math" panose="02040503050406030204" pitchFamily="18" charset="0"/>
                                      </a:rPr>
                                    </m:ctrlPr>
                                  </m:sSubSupPr>
                                  <m:e>
                                    <m:r>
                                      <a:rPr lang="en-AU" sz="2400">
                                        <a:latin typeface="Cambria Math" panose="02040503050406030204" pitchFamily="18" charset="0"/>
                                      </a:rPr>
                                      <m:t>𝑣</m:t>
                                    </m:r>
                                  </m:e>
                                  <m:sub>
                                    <m:d>
                                      <m:dPr>
                                        <m:ctrlPr>
                                          <a:rPr lang="en-AU" sz="2400" i="1">
                                            <a:latin typeface="Cambria Math" panose="02040503050406030204" pitchFamily="18" charset="0"/>
                                          </a:rPr>
                                        </m:ctrlPr>
                                      </m:dPr>
                                      <m:e>
                                        <m:r>
                                          <a:rPr lang="en-AU" sz="2400">
                                            <a:latin typeface="Cambria Math" panose="02040503050406030204" pitchFamily="18" charset="0"/>
                                          </a:rPr>
                                          <m:t>0,1</m:t>
                                        </m:r>
                                      </m:e>
                                    </m:d>
                                  </m:sub>
                                  <m:sup>
                                    <m:r>
                                      <a:rPr lang="en-AU" sz="2400">
                                        <a:latin typeface="Cambria Math" panose="02040503050406030204" pitchFamily="18" charset="0"/>
                                      </a:rPr>
                                      <m:t>𝑑</m:t>
                                    </m:r>
                                  </m:sup>
                                </m:sSubSup>
                                <m:r>
                                  <a:rPr lang="en-AU" sz="2400">
                                    <a:latin typeface="Cambria Math" panose="02040503050406030204" pitchFamily="18" charset="0"/>
                                  </a:rPr>
                                  <m:t>−</m:t>
                                </m:r>
                                <m:sSubSup>
                                  <m:sSubSupPr>
                                    <m:ctrlPr>
                                      <a:rPr lang="en-AU" sz="2400" i="1">
                                        <a:latin typeface="Cambria Math" panose="02040503050406030204" pitchFamily="18" charset="0"/>
                                      </a:rPr>
                                    </m:ctrlPr>
                                  </m:sSubSupPr>
                                  <m:e>
                                    <m:r>
                                      <a:rPr lang="en-AU" sz="2400">
                                        <a:latin typeface="Cambria Math" panose="02040503050406030204" pitchFamily="18" charset="0"/>
                                      </a:rPr>
                                      <m:t>𝑣</m:t>
                                    </m:r>
                                  </m:e>
                                  <m:sub>
                                    <m:d>
                                      <m:dPr>
                                        <m:ctrlPr>
                                          <a:rPr lang="en-AU" sz="2400" i="1">
                                            <a:latin typeface="Cambria Math" panose="02040503050406030204" pitchFamily="18" charset="0"/>
                                          </a:rPr>
                                        </m:ctrlPr>
                                      </m:dPr>
                                      <m:e>
                                        <m:r>
                                          <a:rPr lang="en-AU" sz="2400">
                                            <a:latin typeface="Cambria Math" panose="02040503050406030204" pitchFamily="18" charset="0"/>
                                          </a:rPr>
                                          <m:t>1,1</m:t>
                                        </m:r>
                                      </m:e>
                                    </m:d>
                                  </m:sub>
                                  <m:sup>
                                    <m:r>
                                      <a:rPr lang="en-AU" sz="2400">
                                        <a:latin typeface="Cambria Math" panose="02040503050406030204" pitchFamily="18" charset="0"/>
                                      </a:rPr>
                                      <m:t>𝑑</m:t>
                                    </m:r>
                                  </m:sup>
                                </m:sSubSup>
                              </m:e>
                            </m:d>
                            <m:r>
                              <a:rPr lang="en-AU" sz="2400">
                                <a:latin typeface="Cambria Math" panose="02040503050406030204" pitchFamily="18" charset="0"/>
                              </a:rPr>
                              <m:t>+</m:t>
                            </m:r>
                            <m:r>
                              <a:rPr lang="en-AU" sz="2400">
                                <a:latin typeface="Cambria Math" panose="02040503050406030204" pitchFamily="18" charset="0"/>
                              </a:rPr>
                              <m:t>𝑒𝑥𝑝</m:t>
                            </m:r>
                            <m:d>
                              <m:dPr>
                                <m:ctrlPr>
                                  <a:rPr lang="en-AU" sz="2400" i="1">
                                    <a:latin typeface="Cambria Math" panose="02040503050406030204" pitchFamily="18" charset="0"/>
                                  </a:rPr>
                                </m:ctrlPr>
                              </m:dPr>
                              <m:e>
                                <m:sSubSup>
                                  <m:sSubSupPr>
                                    <m:ctrlPr>
                                      <a:rPr lang="en-AU" sz="2400" i="1">
                                        <a:latin typeface="Cambria Math" panose="02040503050406030204" pitchFamily="18" charset="0"/>
                                      </a:rPr>
                                    </m:ctrlPr>
                                  </m:sSubSupPr>
                                  <m:e>
                                    <m:r>
                                      <a:rPr lang="en-AU" sz="2400">
                                        <a:latin typeface="Cambria Math" panose="02040503050406030204" pitchFamily="18" charset="0"/>
                                      </a:rPr>
                                      <m:t>𝑣</m:t>
                                    </m:r>
                                  </m:e>
                                  <m:sub>
                                    <m:d>
                                      <m:dPr>
                                        <m:ctrlPr>
                                          <a:rPr lang="en-AU" sz="2400" i="1">
                                            <a:latin typeface="Cambria Math" panose="02040503050406030204" pitchFamily="18" charset="0"/>
                                          </a:rPr>
                                        </m:ctrlPr>
                                      </m:dPr>
                                      <m:e>
                                        <m:r>
                                          <a:rPr lang="en-AU" sz="2400">
                                            <a:latin typeface="Cambria Math" panose="02040503050406030204" pitchFamily="18" charset="0"/>
                                          </a:rPr>
                                          <m:t>1,0</m:t>
                                        </m:r>
                                      </m:e>
                                    </m:d>
                                  </m:sub>
                                  <m:sup>
                                    <m:r>
                                      <a:rPr lang="en-AU" sz="2400">
                                        <a:latin typeface="Cambria Math" panose="02040503050406030204" pitchFamily="18" charset="0"/>
                                      </a:rPr>
                                      <m:t>𝑑</m:t>
                                    </m:r>
                                  </m:sup>
                                </m:sSubSup>
                                <m:r>
                                  <a:rPr lang="en-AU" sz="2400">
                                    <a:latin typeface="Cambria Math" panose="02040503050406030204" pitchFamily="18" charset="0"/>
                                  </a:rPr>
                                  <m:t>−</m:t>
                                </m:r>
                                <m:sSubSup>
                                  <m:sSubSupPr>
                                    <m:ctrlPr>
                                      <a:rPr lang="en-AU" sz="2400" i="1">
                                        <a:latin typeface="Cambria Math" panose="02040503050406030204" pitchFamily="18" charset="0"/>
                                      </a:rPr>
                                    </m:ctrlPr>
                                  </m:sSubSupPr>
                                  <m:e>
                                    <m:r>
                                      <a:rPr lang="en-AU" sz="2400">
                                        <a:latin typeface="Cambria Math" panose="02040503050406030204" pitchFamily="18" charset="0"/>
                                      </a:rPr>
                                      <m:t>𝑣</m:t>
                                    </m:r>
                                  </m:e>
                                  <m:sub>
                                    <m:d>
                                      <m:dPr>
                                        <m:ctrlPr>
                                          <a:rPr lang="en-AU" sz="2400" i="1">
                                            <a:latin typeface="Cambria Math" panose="02040503050406030204" pitchFamily="18" charset="0"/>
                                          </a:rPr>
                                        </m:ctrlPr>
                                      </m:dPr>
                                      <m:e>
                                        <m:r>
                                          <a:rPr lang="en-AU" sz="2400">
                                            <a:latin typeface="Cambria Math" panose="02040503050406030204" pitchFamily="18" charset="0"/>
                                          </a:rPr>
                                          <m:t>1,1</m:t>
                                        </m:r>
                                      </m:e>
                                    </m:d>
                                  </m:sub>
                                  <m:sup>
                                    <m:r>
                                      <a:rPr lang="en-AU" sz="2400">
                                        <a:latin typeface="Cambria Math" panose="02040503050406030204" pitchFamily="18" charset="0"/>
                                      </a:rPr>
                                      <m:t>𝑑</m:t>
                                    </m:r>
                                  </m:sup>
                                </m:sSubSup>
                              </m:e>
                            </m:d>
                          </m:den>
                        </m:f>
                      </m:e>
                    </m:nary>
                  </m:oMath>
                </a14:m>
                <a:r>
                  <a:rPr lang="en-AU" sz="2400" dirty="0"/>
                  <a:t> where </a:t>
                </a:r>
                <a14:m>
                  <m:oMath xmlns:m="http://schemas.openxmlformats.org/officeDocument/2006/math">
                    <m:acc>
                      <m:accPr>
                        <m:chr m:val="̂"/>
                        <m:ctrlPr>
                          <a:rPr lang="en-AU" sz="2400" i="1">
                            <a:latin typeface="Cambria Math" panose="02040503050406030204" pitchFamily="18" charset="0"/>
                          </a:rPr>
                        </m:ctrlPr>
                      </m:accPr>
                      <m:e>
                        <m:r>
                          <a:rPr lang="en-AU" sz="2400">
                            <a:latin typeface="Cambria Math" panose="02040503050406030204" pitchFamily="18" charset="0"/>
                          </a:rPr>
                          <m:t>𝑃𝑟</m:t>
                        </m:r>
                      </m:e>
                    </m:acc>
                  </m:oMath>
                </a14:m>
                <a:r>
                  <a:rPr lang="en-AU" sz="2400" dirty="0"/>
                  <a:t> represents the McFadden kernel smoothed probability simulator. </a:t>
                </a:r>
              </a:p>
              <a:p>
                <a14:m>
                  <m:oMath xmlns:m="http://schemas.openxmlformats.org/officeDocument/2006/math">
                    <m:r>
                      <a:rPr lang="en-AU" sz="2400">
                        <a:latin typeface="Cambria Math" panose="02040503050406030204" pitchFamily="18" charset="0"/>
                      </a:rPr>
                      <m:t>𝐸</m:t>
                    </m:r>
                    <m:d>
                      <m:dPr>
                        <m:begChr m:val="["/>
                        <m:endChr m:val="]"/>
                        <m:ctrlPr>
                          <a:rPr lang="en-AU" sz="2400" i="1">
                            <a:latin typeface="Cambria Math" panose="02040503050406030204" pitchFamily="18" charset="0"/>
                          </a:rPr>
                        </m:ctrlPr>
                      </m:dPr>
                      <m:e>
                        <m:d>
                          <m:dPr>
                            <m:begChr m:val=""/>
                            <m:endChr m:val="|"/>
                            <m:ctrlPr>
                              <a:rPr lang="en-AU" sz="2400" i="1">
                                <a:latin typeface="Cambria Math" panose="02040503050406030204" pitchFamily="18" charset="0"/>
                              </a:rPr>
                            </m:ctrlPr>
                          </m:dPr>
                          <m:e>
                            <m:sSub>
                              <m:sSubPr>
                                <m:ctrlPr>
                                  <a:rPr lang="en-AU" sz="2400" i="1">
                                    <a:latin typeface="Cambria Math" panose="02040503050406030204" pitchFamily="18" charset="0"/>
                                  </a:rPr>
                                </m:ctrlPr>
                              </m:sSubPr>
                              <m:e>
                                <m:r>
                                  <a:rPr lang="en-AU" sz="2400">
                                    <a:latin typeface="Cambria Math" panose="02040503050406030204" pitchFamily="18" charset="0"/>
                                  </a:rPr>
                                  <m:t>𝜒</m:t>
                                </m:r>
                              </m:e>
                              <m:sub>
                                <m:r>
                                  <a:rPr lang="en-AU" sz="2400">
                                    <a:latin typeface="Cambria Math" panose="02040503050406030204" pitchFamily="18" charset="0"/>
                                  </a:rPr>
                                  <m:t>1</m:t>
                                </m:r>
                              </m:sub>
                            </m:sSub>
                            <m:sSub>
                              <m:sSubPr>
                                <m:ctrlPr>
                                  <a:rPr lang="en-AU" sz="2400" i="1">
                                    <a:latin typeface="Cambria Math" panose="02040503050406030204" pitchFamily="18" charset="0"/>
                                  </a:rPr>
                                </m:ctrlPr>
                              </m:sSubPr>
                              <m:e>
                                <m:r>
                                  <a:rPr lang="en-AU" sz="2400">
                                    <a:latin typeface="Cambria Math" panose="02040503050406030204" pitchFamily="18" charset="0"/>
                                  </a:rPr>
                                  <m:t>𝜒</m:t>
                                </m:r>
                              </m:e>
                              <m:sub>
                                <m:r>
                                  <a:rPr lang="en-AU" sz="2400">
                                    <a:latin typeface="Cambria Math" panose="02040503050406030204" pitchFamily="18" charset="0"/>
                                  </a:rPr>
                                  <m:t>2</m:t>
                                </m:r>
                              </m:sub>
                            </m:sSub>
                          </m:e>
                        </m:d>
                        <m:r>
                          <a:rPr lang="en-AU" sz="2400">
                            <a:latin typeface="Cambria Math" panose="02040503050406030204" pitchFamily="18" charset="0"/>
                          </a:rPr>
                          <m:t>𝑒𝑛𝑡𝑟𝑦</m:t>
                        </m:r>
                        <m:r>
                          <a:rPr lang="en-AU" sz="2400">
                            <a:latin typeface="Cambria Math" panose="02040503050406030204" pitchFamily="18" charset="0"/>
                          </a:rPr>
                          <m:t>,</m:t>
                        </m:r>
                        <m:r>
                          <a:rPr lang="en-AU" sz="2400">
                            <a:latin typeface="Cambria Math" panose="02040503050406030204" pitchFamily="18" charset="0"/>
                          </a:rPr>
                          <m:t>𝑠𝑡𝑎𝑦</m:t>
                        </m:r>
                      </m:e>
                    </m:d>
                    <m:r>
                      <a:rPr lang="en-AU" sz="2400">
                        <a:latin typeface="Cambria Math" panose="02040503050406030204" pitchFamily="18" charset="0"/>
                      </a:rPr>
                      <m:t>=</m:t>
                    </m:r>
                    <m:r>
                      <a:rPr lang="en-AU" sz="2400">
                        <a:latin typeface="Cambria Math" panose="02040503050406030204" pitchFamily="18" charset="0"/>
                      </a:rPr>
                      <m:t>𝑃𝑟</m:t>
                    </m:r>
                    <m:d>
                      <m:dPr>
                        <m:ctrlPr>
                          <a:rPr lang="en-AU" sz="2400" i="1">
                            <a:latin typeface="Cambria Math" panose="02040503050406030204" pitchFamily="18" charset="0"/>
                          </a:rPr>
                        </m:ctrlPr>
                      </m:dPr>
                      <m:e>
                        <m:d>
                          <m:dPr>
                            <m:begChr m:val=""/>
                            <m:endChr m:val="|"/>
                            <m:ctrlPr>
                              <a:rPr lang="en-AU" sz="2400" i="1">
                                <a:latin typeface="Cambria Math" panose="02040503050406030204" pitchFamily="18" charset="0"/>
                              </a:rPr>
                            </m:ctrlPr>
                          </m:dPr>
                          <m:e>
                            <m:sSub>
                              <m:sSubPr>
                                <m:ctrlPr>
                                  <a:rPr lang="en-AU" sz="2400" i="1">
                                    <a:latin typeface="Cambria Math" panose="02040503050406030204" pitchFamily="18" charset="0"/>
                                  </a:rPr>
                                </m:ctrlPr>
                              </m:sSubPr>
                              <m:e>
                                <m:r>
                                  <a:rPr lang="en-AU" sz="2400">
                                    <a:latin typeface="Cambria Math" panose="02040503050406030204" pitchFamily="18" charset="0"/>
                                  </a:rPr>
                                  <m:t>𝜒</m:t>
                                </m:r>
                              </m:e>
                              <m:sub>
                                <m:r>
                                  <a:rPr lang="en-AU" sz="2400">
                                    <a:latin typeface="Cambria Math" panose="02040503050406030204" pitchFamily="18" charset="0"/>
                                  </a:rPr>
                                  <m:t>1</m:t>
                                </m:r>
                                <m:r>
                                  <a:rPr lang="en-AU" sz="2400">
                                    <a:latin typeface="Cambria Math" panose="02040503050406030204" pitchFamily="18" charset="0"/>
                                  </a:rPr>
                                  <m:t>𝑖𝑡</m:t>
                                </m:r>
                              </m:sub>
                            </m:sSub>
                            <m:r>
                              <a:rPr lang="en-AU" sz="2400">
                                <a:latin typeface="Cambria Math" panose="02040503050406030204" pitchFamily="18" charset="0"/>
                              </a:rPr>
                              <m:t>=1,</m:t>
                            </m:r>
                            <m:sSub>
                              <m:sSubPr>
                                <m:ctrlPr>
                                  <a:rPr lang="en-AU" sz="2400" i="1">
                                    <a:latin typeface="Cambria Math" panose="02040503050406030204" pitchFamily="18" charset="0"/>
                                  </a:rPr>
                                </m:ctrlPr>
                              </m:sSubPr>
                              <m:e>
                                <m:r>
                                  <a:rPr lang="en-AU" sz="2400">
                                    <a:latin typeface="Cambria Math" panose="02040503050406030204" pitchFamily="18" charset="0"/>
                                  </a:rPr>
                                  <m:t>𝜒</m:t>
                                </m:r>
                              </m:e>
                              <m:sub>
                                <m:r>
                                  <a:rPr lang="en-AU" sz="2400">
                                    <a:latin typeface="Cambria Math" panose="02040503050406030204" pitchFamily="18" charset="0"/>
                                  </a:rPr>
                                  <m:t>2</m:t>
                                </m:r>
                                <m:r>
                                  <a:rPr lang="en-AU" sz="2400">
                                    <a:latin typeface="Cambria Math" panose="02040503050406030204" pitchFamily="18" charset="0"/>
                                  </a:rPr>
                                  <m:t>𝑖𝑡</m:t>
                                </m:r>
                              </m:sub>
                            </m:sSub>
                            <m:r>
                              <a:rPr lang="en-AU" sz="2400">
                                <a:latin typeface="Cambria Math" panose="02040503050406030204" pitchFamily="18" charset="0"/>
                              </a:rPr>
                              <m:t>=1</m:t>
                            </m:r>
                          </m:e>
                        </m:d>
                        <m:r>
                          <a:rPr lang="en-AU" sz="2400">
                            <a:latin typeface="Cambria Math" panose="02040503050406030204" pitchFamily="18" charset="0"/>
                          </a:rPr>
                          <m:t>𝑒𝑛𝑡𝑟𝑦</m:t>
                        </m:r>
                        <m:r>
                          <a:rPr lang="en-AU" sz="2400">
                            <a:latin typeface="Cambria Math" panose="02040503050406030204" pitchFamily="18" charset="0"/>
                          </a:rPr>
                          <m:t>,</m:t>
                        </m:r>
                        <m:r>
                          <a:rPr lang="en-AU" sz="2400">
                            <a:latin typeface="Cambria Math" panose="02040503050406030204" pitchFamily="18" charset="0"/>
                          </a:rPr>
                          <m:t>𝑠𝑡𝑎𝑦</m:t>
                        </m:r>
                      </m:e>
                    </m:d>
                  </m:oMath>
                </a14:m>
                <a:endParaRPr lang="en-AU" sz="2400" dirty="0"/>
              </a:p>
              <a:p>
                <a:pPr>
                  <a:lnSpc>
                    <a:spcPct val="107000"/>
                  </a:lnSpc>
                  <a:spcAft>
                    <a:spcPts val="800"/>
                  </a:spcAft>
                </a:pPr>
                <a:r>
                  <a:rPr lang="en-AU" sz="2400" dirty="0"/>
                  <a:t>A natural estimator is to choose parameters </a:t>
                </a:r>
                <a14:m>
                  <m:oMath xmlns:m="http://schemas.openxmlformats.org/officeDocument/2006/math">
                    <m:r>
                      <a:rPr lang="en-AU" sz="2400">
                        <a:latin typeface="Cambria Math" panose="02040503050406030204" pitchFamily="18" charset="0"/>
                      </a:rPr>
                      <m:t>𝛽</m:t>
                    </m:r>
                  </m:oMath>
                </a14:m>
                <a:r>
                  <a:rPr lang="en-AU" sz="2400" dirty="0"/>
                  <a:t> to minimize the sum of squared errors between </a:t>
                </a:r>
                <a14:m>
                  <m:oMath xmlns:m="http://schemas.openxmlformats.org/officeDocument/2006/math">
                    <m:sSub>
                      <m:sSubPr>
                        <m:ctrlPr>
                          <a:rPr lang="en-AU" sz="2400" i="1">
                            <a:latin typeface="Cambria Math" panose="02040503050406030204" pitchFamily="18" charset="0"/>
                          </a:rPr>
                        </m:ctrlPr>
                      </m:sSubPr>
                      <m:e>
                        <m:r>
                          <a:rPr lang="en-AU" sz="2400">
                            <a:latin typeface="Cambria Math" panose="02040503050406030204" pitchFamily="18" charset="0"/>
                          </a:rPr>
                          <m:t>𝜒</m:t>
                        </m:r>
                      </m:e>
                      <m:sub>
                        <m:r>
                          <a:rPr lang="en-AU" sz="2400">
                            <a:latin typeface="Cambria Math" panose="02040503050406030204" pitchFamily="18" charset="0"/>
                          </a:rPr>
                          <m:t>1</m:t>
                        </m:r>
                      </m:sub>
                    </m:sSub>
                    <m:sSub>
                      <m:sSubPr>
                        <m:ctrlPr>
                          <a:rPr lang="en-AU" sz="2400" i="1">
                            <a:latin typeface="Cambria Math" panose="02040503050406030204" pitchFamily="18" charset="0"/>
                          </a:rPr>
                        </m:ctrlPr>
                      </m:sSubPr>
                      <m:e>
                        <m:r>
                          <a:rPr lang="en-AU" sz="2400">
                            <a:latin typeface="Cambria Math" panose="02040503050406030204" pitchFamily="18" charset="0"/>
                          </a:rPr>
                          <m:t>𝜒</m:t>
                        </m:r>
                      </m:e>
                      <m:sub>
                        <m:r>
                          <a:rPr lang="en-AU" sz="2400">
                            <a:latin typeface="Cambria Math" panose="02040503050406030204" pitchFamily="18" charset="0"/>
                          </a:rPr>
                          <m:t>2</m:t>
                        </m:r>
                      </m:sub>
                    </m:sSub>
                  </m:oMath>
                </a14:m>
                <a:r>
                  <a:rPr lang="en-AU" sz="2400" dirty="0"/>
                  <a:t> and </a:t>
                </a:r>
                <a14:m>
                  <m:oMath xmlns:m="http://schemas.openxmlformats.org/officeDocument/2006/math">
                    <m:acc>
                      <m:accPr>
                        <m:chr m:val="̂"/>
                        <m:ctrlPr>
                          <a:rPr lang="en-AU" sz="2400" i="1">
                            <a:latin typeface="Cambria Math" panose="02040503050406030204" pitchFamily="18" charset="0"/>
                          </a:rPr>
                        </m:ctrlPr>
                      </m:accPr>
                      <m:e>
                        <m:r>
                          <a:rPr lang="en-AU" sz="2400">
                            <a:latin typeface="Cambria Math" panose="02040503050406030204" pitchFamily="18" charset="0"/>
                          </a:rPr>
                          <m:t>𝑃𝑟</m:t>
                        </m:r>
                      </m:e>
                    </m:acc>
                    <m:d>
                      <m:dPr>
                        <m:ctrlPr>
                          <a:rPr lang="en-AU" sz="2400" i="1">
                            <a:latin typeface="Cambria Math" panose="02040503050406030204" pitchFamily="18" charset="0"/>
                          </a:rPr>
                        </m:ctrlPr>
                      </m:dPr>
                      <m:e>
                        <m:d>
                          <m:dPr>
                            <m:begChr m:val=""/>
                            <m:endChr m:val="|"/>
                            <m:ctrlPr>
                              <a:rPr lang="en-AU" sz="2400" i="1">
                                <a:latin typeface="Cambria Math" panose="02040503050406030204" pitchFamily="18" charset="0"/>
                              </a:rPr>
                            </m:ctrlPr>
                          </m:dPr>
                          <m:e>
                            <m:sSub>
                              <m:sSubPr>
                                <m:ctrlPr>
                                  <a:rPr lang="en-AU" sz="2400" i="1">
                                    <a:latin typeface="Cambria Math" panose="02040503050406030204" pitchFamily="18" charset="0"/>
                                  </a:rPr>
                                </m:ctrlPr>
                              </m:sSubPr>
                              <m:e>
                                <m:r>
                                  <a:rPr lang="en-AU" sz="2400">
                                    <a:latin typeface="Cambria Math" panose="02040503050406030204" pitchFamily="18" charset="0"/>
                                  </a:rPr>
                                  <m:t>𝜒</m:t>
                                </m:r>
                              </m:e>
                              <m:sub>
                                <m:r>
                                  <a:rPr lang="en-AU" sz="2400">
                                    <a:latin typeface="Cambria Math" panose="02040503050406030204" pitchFamily="18" charset="0"/>
                                  </a:rPr>
                                  <m:t>1</m:t>
                                </m:r>
                              </m:sub>
                            </m:sSub>
                            <m:r>
                              <a:rPr lang="en-AU" sz="2400">
                                <a:latin typeface="Cambria Math" panose="02040503050406030204" pitchFamily="18" charset="0"/>
                              </a:rPr>
                              <m:t>=1,</m:t>
                            </m:r>
                            <m:sSub>
                              <m:sSubPr>
                                <m:ctrlPr>
                                  <a:rPr lang="en-AU" sz="2400" i="1">
                                    <a:latin typeface="Cambria Math" panose="02040503050406030204" pitchFamily="18" charset="0"/>
                                  </a:rPr>
                                </m:ctrlPr>
                              </m:sSubPr>
                              <m:e>
                                <m:r>
                                  <a:rPr lang="en-AU" sz="2400">
                                    <a:latin typeface="Cambria Math" panose="02040503050406030204" pitchFamily="18" charset="0"/>
                                  </a:rPr>
                                  <m:t>𝜒</m:t>
                                </m:r>
                              </m:e>
                              <m:sub>
                                <m:r>
                                  <a:rPr lang="en-AU" sz="2400">
                                    <a:latin typeface="Cambria Math" panose="02040503050406030204" pitchFamily="18" charset="0"/>
                                  </a:rPr>
                                  <m:t>2</m:t>
                                </m:r>
                              </m:sub>
                            </m:sSub>
                            <m:r>
                              <a:rPr lang="en-AU" sz="2400">
                                <a:latin typeface="Cambria Math" panose="02040503050406030204" pitchFamily="18" charset="0"/>
                              </a:rPr>
                              <m:t>=1</m:t>
                            </m:r>
                          </m:e>
                        </m:d>
                        <m:r>
                          <a:rPr lang="en-AU" sz="2400">
                            <a:latin typeface="Cambria Math" panose="02040503050406030204" pitchFamily="18" charset="0"/>
                          </a:rPr>
                          <m:t>𝑒𝑛𝑡𝑟𝑦</m:t>
                        </m:r>
                        <m:r>
                          <a:rPr lang="en-AU" sz="2400">
                            <a:latin typeface="Cambria Math" panose="02040503050406030204" pitchFamily="18" charset="0"/>
                          </a:rPr>
                          <m:t>,</m:t>
                        </m:r>
                        <m:r>
                          <a:rPr lang="en-AU" sz="2400">
                            <a:latin typeface="Cambria Math" panose="02040503050406030204" pitchFamily="18" charset="0"/>
                          </a:rPr>
                          <m:t>𝑠𝑡𝑎𝑦</m:t>
                        </m:r>
                      </m:e>
                    </m:d>
                  </m:oMath>
                </a14:m>
                <a:r>
                  <a:rPr lang="en-AU" sz="2400" dirty="0"/>
                  <a:t>. That is: </a:t>
                </a:r>
              </a:p>
              <a:p>
                <a:pPr lvl="1"/>
                <a14:m>
                  <m:oMath xmlns:m="http://schemas.openxmlformats.org/officeDocument/2006/math">
                    <m:acc>
                      <m:accPr>
                        <m:chr m:val="̂"/>
                        <m:ctrlPr>
                          <a:rPr lang="en-AU" sz="2000" i="1">
                            <a:latin typeface="Cambria Math" panose="02040503050406030204" pitchFamily="18" charset="0"/>
                          </a:rPr>
                        </m:ctrlPr>
                      </m:accPr>
                      <m:e>
                        <m:r>
                          <a:rPr lang="en-AU" sz="2000">
                            <a:latin typeface="Cambria Math" panose="02040503050406030204" pitchFamily="18" charset="0"/>
                          </a:rPr>
                          <m:t>𝛽</m:t>
                        </m:r>
                      </m:e>
                    </m:acc>
                    <m:r>
                      <a:rPr lang="en-AU" sz="2000">
                        <a:latin typeface="Cambria Math" panose="02040503050406030204" pitchFamily="18" charset="0"/>
                      </a:rPr>
                      <m:t>=</m:t>
                    </m:r>
                    <m:r>
                      <a:rPr lang="en-AU" sz="2000">
                        <a:latin typeface="Cambria Math" panose="02040503050406030204" pitchFamily="18" charset="0"/>
                      </a:rPr>
                      <m:t>𝑎𝑟𝑔𝑚𝑖𝑛</m:t>
                    </m:r>
                    <m:r>
                      <a:rPr lang="en-AU" sz="2000">
                        <a:latin typeface="Cambria Math" panose="02040503050406030204" pitchFamily="18" charset="0"/>
                      </a:rPr>
                      <m:t> </m:t>
                    </m:r>
                    <m:r>
                      <a:rPr lang="en-AU" sz="2000">
                        <a:latin typeface="Cambria Math" panose="02040503050406030204" pitchFamily="18" charset="0"/>
                      </a:rPr>
                      <m:t>𝑄</m:t>
                    </m:r>
                    <m:r>
                      <a:rPr lang="en-AU" sz="2000">
                        <a:latin typeface="Cambria Math" panose="02040503050406030204" pitchFamily="18" charset="0"/>
                      </a:rPr>
                      <m:t>≡</m:t>
                    </m:r>
                    <m:f>
                      <m:fPr>
                        <m:ctrlPr>
                          <a:rPr lang="en-AU" sz="2000" i="1">
                            <a:latin typeface="Cambria Math" panose="02040503050406030204" pitchFamily="18" charset="0"/>
                          </a:rPr>
                        </m:ctrlPr>
                      </m:fPr>
                      <m:num>
                        <m:r>
                          <a:rPr lang="en-AU" sz="2000">
                            <a:latin typeface="Cambria Math" panose="02040503050406030204" pitchFamily="18" charset="0"/>
                          </a:rPr>
                          <m:t>1</m:t>
                        </m:r>
                      </m:num>
                      <m:den>
                        <m:r>
                          <a:rPr lang="en-AU" sz="2000">
                            <a:latin typeface="Cambria Math" panose="02040503050406030204" pitchFamily="18" charset="0"/>
                          </a:rPr>
                          <m:t>2</m:t>
                        </m:r>
                        <m:r>
                          <a:rPr lang="en-AU" sz="2000">
                            <a:latin typeface="Cambria Math" panose="02040503050406030204" pitchFamily="18" charset="0"/>
                          </a:rPr>
                          <m:t>𝑛</m:t>
                        </m:r>
                      </m:den>
                    </m:f>
                    <m:nary>
                      <m:naryPr>
                        <m:chr m:val="∑"/>
                        <m:limLoc m:val="subSup"/>
                        <m:supHide m:val="on"/>
                        <m:ctrlPr>
                          <a:rPr lang="en-AU" sz="2000" i="1">
                            <a:latin typeface="Cambria Math" panose="02040503050406030204" pitchFamily="18" charset="0"/>
                          </a:rPr>
                        </m:ctrlPr>
                      </m:naryPr>
                      <m:sub>
                        <m:r>
                          <a:rPr lang="en-AU" sz="2000">
                            <a:latin typeface="Cambria Math" panose="02040503050406030204" pitchFamily="18" charset="0"/>
                          </a:rPr>
                          <m:t>𝑖</m:t>
                        </m:r>
                        <m:r>
                          <a:rPr lang="en-AU" sz="2000">
                            <a:latin typeface="Cambria Math" panose="02040503050406030204" pitchFamily="18" charset="0"/>
                          </a:rPr>
                          <m:t>,</m:t>
                        </m:r>
                        <m:r>
                          <a:rPr lang="en-AU" sz="2000">
                            <a:latin typeface="Cambria Math" panose="02040503050406030204" pitchFamily="18" charset="0"/>
                          </a:rPr>
                          <m:t>𝑡</m:t>
                        </m:r>
                      </m:sub>
                      <m:sup/>
                      <m:e>
                        <m:sSup>
                          <m:sSupPr>
                            <m:ctrlPr>
                              <a:rPr lang="en-AU" sz="2000" i="1">
                                <a:latin typeface="Cambria Math" panose="02040503050406030204" pitchFamily="18" charset="0"/>
                              </a:rPr>
                            </m:ctrlPr>
                          </m:sSupPr>
                          <m:e>
                            <m:d>
                              <m:dPr>
                                <m:begChr m:val="["/>
                                <m:endChr m:val="]"/>
                                <m:ctrlPr>
                                  <a:rPr lang="en-AU" sz="2000" i="1">
                                    <a:latin typeface="Cambria Math" panose="02040503050406030204" pitchFamily="18" charset="0"/>
                                  </a:rPr>
                                </m:ctrlPr>
                              </m:dPr>
                              <m:e>
                                <m:sSub>
                                  <m:sSubPr>
                                    <m:ctrlPr>
                                      <a:rPr lang="en-AU" sz="2000" i="1">
                                        <a:latin typeface="Cambria Math" panose="02040503050406030204" pitchFamily="18" charset="0"/>
                                      </a:rPr>
                                    </m:ctrlPr>
                                  </m:sSubPr>
                                  <m:e>
                                    <m:r>
                                      <a:rPr lang="en-AU" sz="2000">
                                        <a:latin typeface="Cambria Math" panose="02040503050406030204" pitchFamily="18" charset="0"/>
                                      </a:rPr>
                                      <m:t>𝜒</m:t>
                                    </m:r>
                                  </m:e>
                                  <m:sub>
                                    <m:r>
                                      <a:rPr lang="en-AU" sz="2000">
                                        <a:latin typeface="Cambria Math" panose="02040503050406030204" pitchFamily="18" charset="0"/>
                                      </a:rPr>
                                      <m:t>1</m:t>
                                    </m:r>
                                    <m:r>
                                      <a:rPr lang="en-AU" sz="2000">
                                        <a:latin typeface="Cambria Math" panose="02040503050406030204" pitchFamily="18" charset="0"/>
                                      </a:rPr>
                                      <m:t>𝑖𝑡</m:t>
                                    </m:r>
                                  </m:sub>
                                </m:sSub>
                                <m:sSub>
                                  <m:sSubPr>
                                    <m:ctrlPr>
                                      <a:rPr lang="en-AU" sz="2000" i="1">
                                        <a:latin typeface="Cambria Math" panose="02040503050406030204" pitchFamily="18" charset="0"/>
                                      </a:rPr>
                                    </m:ctrlPr>
                                  </m:sSubPr>
                                  <m:e>
                                    <m:r>
                                      <a:rPr lang="en-AU" sz="2000">
                                        <a:latin typeface="Cambria Math" panose="02040503050406030204" pitchFamily="18" charset="0"/>
                                      </a:rPr>
                                      <m:t>𝜒</m:t>
                                    </m:r>
                                  </m:e>
                                  <m:sub>
                                    <m:r>
                                      <a:rPr lang="en-AU" sz="2000">
                                        <a:latin typeface="Cambria Math" panose="02040503050406030204" pitchFamily="18" charset="0"/>
                                      </a:rPr>
                                      <m:t>2</m:t>
                                    </m:r>
                                    <m:r>
                                      <a:rPr lang="en-AU" sz="2000">
                                        <a:latin typeface="Cambria Math" panose="02040503050406030204" pitchFamily="18" charset="0"/>
                                      </a:rPr>
                                      <m:t>𝑖𝑡</m:t>
                                    </m:r>
                                  </m:sub>
                                </m:sSub>
                                <m:r>
                                  <a:rPr lang="en-AU" sz="2000">
                                    <a:latin typeface="Cambria Math" panose="02040503050406030204" pitchFamily="18" charset="0"/>
                                  </a:rPr>
                                  <m:t>−</m:t>
                                </m:r>
                                <m:acc>
                                  <m:accPr>
                                    <m:chr m:val="̂"/>
                                    <m:ctrlPr>
                                      <a:rPr lang="en-AU" sz="2000" i="1">
                                        <a:latin typeface="Cambria Math" panose="02040503050406030204" pitchFamily="18" charset="0"/>
                                      </a:rPr>
                                    </m:ctrlPr>
                                  </m:accPr>
                                  <m:e>
                                    <m:r>
                                      <a:rPr lang="en-AU" sz="2000">
                                        <a:latin typeface="Cambria Math" panose="02040503050406030204" pitchFamily="18" charset="0"/>
                                      </a:rPr>
                                      <m:t>𝑃𝑟</m:t>
                                    </m:r>
                                  </m:e>
                                </m:acc>
                                <m:d>
                                  <m:dPr>
                                    <m:ctrlPr>
                                      <a:rPr lang="en-AU" sz="2000" i="1">
                                        <a:latin typeface="Cambria Math" panose="02040503050406030204" pitchFamily="18" charset="0"/>
                                      </a:rPr>
                                    </m:ctrlPr>
                                  </m:dPr>
                                  <m:e>
                                    <m:d>
                                      <m:dPr>
                                        <m:begChr m:val=""/>
                                        <m:endChr m:val="|"/>
                                        <m:ctrlPr>
                                          <a:rPr lang="en-AU" sz="2000" i="1">
                                            <a:latin typeface="Cambria Math" panose="02040503050406030204" pitchFamily="18" charset="0"/>
                                          </a:rPr>
                                        </m:ctrlPr>
                                      </m:dPr>
                                      <m:e>
                                        <m:sSub>
                                          <m:sSubPr>
                                            <m:ctrlPr>
                                              <a:rPr lang="en-AU" sz="2000" i="1">
                                                <a:latin typeface="Cambria Math" panose="02040503050406030204" pitchFamily="18" charset="0"/>
                                              </a:rPr>
                                            </m:ctrlPr>
                                          </m:sSubPr>
                                          <m:e>
                                            <m:r>
                                              <a:rPr lang="en-AU" sz="2000">
                                                <a:latin typeface="Cambria Math" panose="02040503050406030204" pitchFamily="18" charset="0"/>
                                              </a:rPr>
                                              <m:t>𝜒</m:t>
                                            </m:r>
                                          </m:e>
                                          <m:sub>
                                            <m:r>
                                              <a:rPr lang="en-AU" sz="2000">
                                                <a:latin typeface="Cambria Math" panose="02040503050406030204" pitchFamily="18" charset="0"/>
                                              </a:rPr>
                                              <m:t>1</m:t>
                                            </m:r>
                                            <m:r>
                                              <a:rPr lang="en-AU" sz="2000">
                                                <a:latin typeface="Cambria Math" panose="02040503050406030204" pitchFamily="18" charset="0"/>
                                              </a:rPr>
                                              <m:t>𝑖𝑡</m:t>
                                            </m:r>
                                          </m:sub>
                                        </m:sSub>
                                        <m:r>
                                          <a:rPr lang="en-AU" sz="2000">
                                            <a:latin typeface="Cambria Math" panose="02040503050406030204" pitchFamily="18" charset="0"/>
                                          </a:rPr>
                                          <m:t>=1,</m:t>
                                        </m:r>
                                        <m:sSub>
                                          <m:sSubPr>
                                            <m:ctrlPr>
                                              <a:rPr lang="en-AU" sz="2000" i="1">
                                                <a:latin typeface="Cambria Math" panose="02040503050406030204" pitchFamily="18" charset="0"/>
                                              </a:rPr>
                                            </m:ctrlPr>
                                          </m:sSubPr>
                                          <m:e>
                                            <m:r>
                                              <a:rPr lang="en-AU" sz="2000">
                                                <a:latin typeface="Cambria Math" panose="02040503050406030204" pitchFamily="18" charset="0"/>
                                              </a:rPr>
                                              <m:t>𝜒</m:t>
                                            </m:r>
                                          </m:e>
                                          <m:sub>
                                            <m:r>
                                              <a:rPr lang="en-AU" sz="2000">
                                                <a:latin typeface="Cambria Math" panose="02040503050406030204" pitchFamily="18" charset="0"/>
                                              </a:rPr>
                                              <m:t>2</m:t>
                                            </m:r>
                                            <m:r>
                                              <a:rPr lang="en-AU" sz="2000">
                                                <a:latin typeface="Cambria Math" panose="02040503050406030204" pitchFamily="18" charset="0"/>
                                              </a:rPr>
                                              <m:t>𝑖𝑡</m:t>
                                            </m:r>
                                          </m:sub>
                                        </m:sSub>
                                        <m:r>
                                          <a:rPr lang="en-AU" sz="2000">
                                            <a:latin typeface="Cambria Math" panose="02040503050406030204" pitchFamily="18" charset="0"/>
                                          </a:rPr>
                                          <m:t>=1</m:t>
                                        </m:r>
                                      </m:e>
                                    </m:d>
                                    <m:r>
                                      <a:rPr lang="en-AU" sz="2000">
                                        <a:latin typeface="Cambria Math" panose="02040503050406030204" pitchFamily="18" charset="0"/>
                                      </a:rPr>
                                      <m:t>𝑒𝑛𝑡𝑟𝑦</m:t>
                                    </m:r>
                                    <m:r>
                                      <a:rPr lang="en-AU" sz="2000">
                                        <a:latin typeface="Cambria Math" panose="02040503050406030204" pitchFamily="18" charset="0"/>
                                      </a:rPr>
                                      <m:t>,</m:t>
                                    </m:r>
                                    <m:r>
                                      <a:rPr lang="en-AU" sz="2000">
                                        <a:latin typeface="Cambria Math" panose="02040503050406030204" pitchFamily="18" charset="0"/>
                                      </a:rPr>
                                      <m:t>𝑠𝑡𝑎𝑦</m:t>
                                    </m:r>
                                  </m:e>
                                </m:d>
                              </m:e>
                            </m:d>
                          </m:e>
                          <m:sup>
                            <m:r>
                              <a:rPr lang="en-AU" sz="2000">
                                <a:latin typeface="Cambria Math" panose="02040503050406030204" pitchFamily="18" charset="0"/>
                              </a:rPr>
                              <m:t>2</m:t>
                            </m:r>
                          </m:sup>
                        </m:sSup>
                      </m:e>
                    </m:nary>
                  </m:oMath>
                </a14:m>
                <a:endParaRPr lang="en-AU" sz="2000" dirty="0"/>
              </a:p>
            </p:txBody>
          </p:sp>
        </mc:Choice>
        <mc:Fallback xmlns="">
          <p:sp>
            <p:nvSpPr>
              <p:cNvPr id="3" name="Content Placeholder 2">
                <a:extLst>
                  <a:ext uri="{FF2B5EF4-FFF2-40B4-BE49-F238E27FC236}">
                    <a16:creationId xmlns:a16="http://schemas.microsoft.com/office/drawing/2014/main" id="{3CCE22D4-88C9-660A-40FE-FE68B0C346D6}"/>
                  </a:ext>
                </a:extLst>
              </p:cNvPr>
              <p:cNvSpPr>
                <a:spLocks noGrp="1" noRot="1" noChangeAspect="1" noMove="1" noResize="1" noEditPoints="1" noAdjustHandles="1" noChangeArrowheads="1" noChangeShapeType="1" noTextEdit="1"/>
              </p:cNvSpPr>
              <p:nvPr>
                <p:ph idx="1"/>
              </p:nvPr>
            </p:nvSpPr>
            <p:spPr>
              <a:blipFill>
                <a:blip r:embed="rId2"/>
                <a:stretch>
                  <a:fillRect l="-812" t="-1961" b="-1541"/>
                </a:stretch>
              </a:blipFill>
            </p:spPr>
            <p:txBody>
              <a:bodyPr/>
              <a:lstStyle/>
              <a:p>
                <a:r>
                  <a:rPr lang="en-AU">
                    <a:noFill/>
                  </a:rPr>
                  <a:t> </a:t>
                </a:r>
              </a:p>
            </p:txBody>
          </p:sp>
        </mc:Fallback>
      </mc:AlternateContent>
    </p:spTree>
    <p:extLst>
      <p:ext uri="{BB962C8B-B14F-4D97-AF65-F5344CB8AC3E}">
        <p14:creationId xmlns:p14="http://schemas.microsoft.com/office/powerpoint/2010/main" val="39838885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3EDF0-88CF-F24D-3436-FCEA58546C98}"/>
              </a:ext>
            </a:extLst>
          </p:cNvPr>
          <p:cNvSpPr>
            <a:spLocks noGrp="1"/>
          </p:cNvSpPr>
          <p:nvPr>
            <p:ph type="title"/>
          </p:nvPr>
        </p:nvSpPr>
        <p:spPr/>
        <p:txBody>
          <a:bodyPr/>
          <a:lstStyle/>
          <a:p>
            <a:r>
              <a:rPr lang="en-AU" dirty="0"/>
              <a:t>Data and Variables</a:t>
            </a:r>
          </a:p>
        </p:txBody>
      </p:sp>
      <p:sp>
        <p:nvSpPr>
          <p:cNvPr id="3" name="Content Placeholder 2">
            <a:extLst>
              <a:ext uri="{FF2B5EF4-FFF2-40B4-BE49-F238E27FC236}">
                <a16:creationId xmlns:a16="http://schemas.microsoft.com/office/drawing/2014/main" id="{4C9EA341-2BE2-6082-C233-6E10893AFDA7}"/>
              </a:ext>
            </a:extLst>
          </p:cNvPr>
          <p:cNvSpPr>
            <a:spLocks noGrp="1"/>
          </p:cNvSpPr>
          <p:nvPr>
            <p:ph idx="1"/>
          </p:nvPr>
        </p:nvSpPr>
        <p:spPr/>
        <p:txBody>
          <a:bodyPr/>
          <a:lstStyle/>
          <a:p>
            <a:r>
              <a:rPr lang="en-AU" sz="2400" dirty="0"/>
              <a:t>The data are a set of air-conditioner manufacturing firms in China, sourced from the National Bureau of Statistics (NBS), China. </a:t>
            </a:r>
          </a:p>
          <a:p>
            <a:r>
              <a:rPr lang="en-AU" sz="2400" dirty="0"/>
              <a:t>It covers 184 firms in 2000, 232 firms in 2001, 254 firms in 2002, 237 firms in 2003, 201 firms in 2005, 191 firms in 2006, and 206 firms in 2007, where years 2000 and 2001 are pre-WTO accession periods. </a:t>
            </a:r>
          </a:p>
          <a:p>
            <a:endParaRPr lang="en-AU" sz="2400" dirty="0"/>
          </a:p>
        </p:txBody>
      </p:sp>
    </p:spTree>
    <p:extLst>
      <p:ext uri="{BB962C8B-B14F-4D97-AF65-F5344CB8AC3E}">
        <p14:creationId xmlns:p14="http://schemas.microsoft.com/office/powerpoint/2010/main" val="11159174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76EAA-04A5-B70F-A068-B0B7295AB4D1}"/>
              </a:ext>
            </a:extLst>
          </p:cNvPr>
          <p:cNvSpPr>
            <a:spLocks noGrp="1"/>
          </p:cNvSpPr>
          <p:nvPr>
            <p:ph type="title"/>
          </p:nvPr>
        </p:nvSpPr>
        <p:spPr/>
        <p:txBody>
          <a:bodyPr/>
          <a:lstStyle/>
          <a:p>
            <a:r>
              <a:rPr lang="en-AU" dirty="0"/>
              <a:t>Data and Variables</a:t>
            </a: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77CFEE56-9BCC-065F-9FBE-5F7CBF838119}"/>
                  </a:ext>
                </a:extLst>
              </p:cNvPr>
              <p:cNvGraphicFramePr>
                <a:graphicFrameLocks noGrp="1"/>
              </p:cNvGraphicFramePr>
              <p:nvPr>
                <p:ph idx="1"/>
                <p:extLst>
                  <p:ext uri="{D42A27DB-BD31-4B8C-83A1-F6EECF244321}">
                    <p14:modId xmlns:p14="http://schemas.microsoft.com/office/powerpoint/2010/main" val="951117995"/>
                  </p:ext>
                </p:extLst>
              </p:nvPr>
            </p:nvGraphicFramePr>
            <p:xfrm>
              <a:off x="2354618" y="1435905"/>
              <a:ext cx="5296247" cy="5277655"/>
            </p:xfrm>
            <a:graphic>
              <a:graphicData uri="http://schemas.openxmlformats.org/drawingml/2006/table">
                <a:tbl>
                  <a:tblPr firstRow="1" firstCol="1" bandRow="1">
                    <a:tableStyleId>{5C22544A-7EE6-4342-B048-85BDC9FD1C3A}</a:tableStyleId>
                  </a:tblPr>
                  <a:tblGrid>
                    <a:gridCol w="512745">
                      <a:extLst>
                        <a:ext uri="{9D8B030D-6E8A-4147-A177-3AD203B41FA5}">
                          <a16:colId xmlns:a16="http://schemas.microsoft.com/office/drawing/2014/main" val="156651532"/>
                        </a:ext>
                      </a:extLst>
                    </a:gridCol>
                    <a:gridCol w="686080">
                      <a:extLst>
                        <a:ext uri="{9D8B030D-6E8A-4147-A177-3AD203B41FA5}">
                          <a16:colId xmlns:a16="http://schemas.microsoft.com/office/drawing/2014/main" val="264863466"/>
                        </a:ext>
                      </a:extLst>
                    </a:gridCol>
                    <a:gridCol w="1012784">
                      <a:extLst>
                        <a:ext uri="{9D8B030D-6E8A-4147-A177-3AD203B41FA5}">
                          <a16:colId xmlns:a16="http://schemas.microsoft.com/office/drawing/2014/main" val="724171566"/>
                        </a:ext>
                      </a:extLst>
                    </a:gridCol>
                    <a:gridCol w="1012784">
                      <a:extLst>
                        <a:ext uri="{9D8B030D-6E8A-4147-A177-3AD203B41FA5}">
                          <a16:colId xmlns:a16="http://schemas.microsoft.com/office/drawing/2014/main" val="3083312255"/>
                        </a:ext>
                      </a:extLst>
                    </a:gridCol>
                    <a:gridCol w="1020953">
                      <a:extLst>
                        <a:ext uri="{9D8B030D-6E8A-4147-A177-3AD203B41FA5}">
                          <a16:colId xmlns:a16="http://schemas.microsoft.com/office/drawing/2014/main" val="372699220"/>
                        </a:ext>
                      </a:extLst>
                    </a:gridCol>
                    <a:gridCol w="1050901">
                      <a:extLst>
                        <a:ext uri="{9D8B030D-6E8A-4147-A177-3AD203B41FA5}">
                          <a16:colId xmlns:a16="http://schemas.microsoft.com/office/drawing/2014/main" val="2982670572"/>
                        </a:ext>
                      </a:extLst>
                    </a:gridCol>
                  </a:tblGrid>
                  <a:tr h="190141">
                    <a:tc gridSpan="6">
                      <a:txBody>
                        <a:bodyPr/>
                        <a:lstStyle/>
                        <a:p>
                          <a:pPr algn="ctr">
                            <a:lnSpc>
                              <a:spcPct val="107000"/>
                            </a:lnSpc>
                            <a:spcAft>
                              <a:spcPts val="800"/>
                            </a:spcAft>
                          </a:pPr>
                          <a:r>
                            <a:rPr lang="en-AU" sz="1600" kern="100" dirty="0">
                              <a:effectLst/>
                            </a:rPr>
                            <a:t>Table 1. Summary Statistics</a:t>
                          </a:r>
                          <a:endParaRPr lang="en-AU" sz="16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979295317"/>
                      </a:ext>
                    </a:extLst>
                  </a:tr>
                  <a:tr h="589332">
                    <a:tc>
                      <a:txBody>
                        <a:bodyPr/>
                        <a:lstStyle/>
                        <a:p>
                          <a:pPr>
                            <a:lnSpc>
                              <a:spcPct val="107000"/>
                            </a:lnSpc>
                            <a:spcAft>
                              <a:spcPts val="800"/>
                            </a:spcAft>
                          </a:pPr>
                          <a:r>
                            <a:rPr lang="en-AU" sz="1600" kern="100">
                              <a:effectLst/>
                            </a:rPr>
                            <a:t>Variable</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nSpc>
                              <a:spcPct val="107000"/>
                            </a:lnSpc>
                            <a:spcAft>
                              <a:spcPts val="800"/>
                            </a:spcAft>
                          </a:pPr>
                          <a:r>
                            <a:rPr lang="en-AU" sz="1600" kern="100">
                              <a:effectLst/>
                            </a:rPr>
                            <a:t>Obs</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nSpc>
                              <a:spcPct val="107000"/>
                            </a:lnSpc>
                            <a:spcAft>
                              <a:spcPts val="800"/>
                            </a:spcAft>
                          </a:pPr>
                          <a:r>
                            <a:rPr lang="en-AU" sz="1600" kern="100" dirty="0">
                              <a:effectLst/>
                            </a:rPr>
                            <a:t>Mean</a:t>
                          </a:r>
                          <a:endParaRPr lang="en-AU" sz="16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nSpc>
                              <a:spcPct val="107000"/>
                            </a:lnSpc>
                            <a:spcAft>
                              <a:spcPts val="800"/>
                            </a:spcAft>
                          </a:pPr>
                          <a:r>
                            <a:rPr lang="en-AU" sz="1600" kern="100">
                              <a:effectLst/>
                            </a:rPr>
                            <a:t>Std. dev.</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nSpc>
                              <a:spcPct val="107000"/>
                            </a:lnSpc>
                            <a:spcAft>
                              <a:spcPts val="800"/>
                            </a:spcAft>
                          </a:pPr>
                          <a:r>
                            <a:rPr lang="en-AU" sz="1600" kern="100">
                              <a:effectLst/>
                            </a:rPr>
                            <a:t>Min</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nSpc>
                              <a:spcPct val="107000"/>
                            </a:lnSpc>
                            <a:spcAft>
                              <a:spcPts val="800"/>
                            </a:spcAft>
                          </a:pPr>
                          <a:r>
                            <a:rPr lang="en-AU" sz="1600" kern="100">
                              <a:effectLst/>
                            </a:rPr>
                            <a:t>Max</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extLst>
                      <a:ext uri="{0D108BD9-81ED-4DB2-BD59-A6C34878D82A}">
                        <a16:rowId xmlns:a16="http://schemas.microsoft.com/office/drawing/2014/main" val="552762011"/>
                      </a:ext>
                    </a:extLst>
                  </a:tr>
                  <a:tr h="389737">
                    <a:tc>
                      <a:txBody>
                        <a:bodyPr/>
                        <a:lstStyle/>
                        <a:p>
                          <a:pPr algn="ctr">
                            <a:lnSpc>
                              <a:spcPct val="107000"/>
                            </a:lnSpc>
                            <a:spcAft>
                              <a:spcPts val="800"/>
                            </a:spcAft>
                          </a:pPr>
                          <a:r>
                            <a:rPr lang="en-AU" sz="1600" kern="100">
                              <a:effectLst/>
                            </a:rPr>
                            <a:t>R</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1,505</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423421.6</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dirty="0">
                              <a:effectLst/>
                            </a:rPr>
                            <a:t>2127498</a:t>
                          </a:r>
                          <a:endParaRPr lang="en-AU" sz="16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2.198614</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3.33E+07</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extLst>
                      <a:ext uri="{0D108BD9-81ED-4DB2-BD59-A6C34878D82A}">
                        <a16:rowId xmlns:a16="http://schemas.microsoft.com/office/drawing/2014/main" val="3083370"/>
                      </a:ext>
                    </a:extLst>
                  </a:tr>
                  <a:tr h="389737">
                    <a:tc>
                      <a:txBody>
                        <a:bodyPr/>
                        <a:lstStyle/>
                        <a:p>
                          <a:pPr algn="ctr">
                            <a:lnSpc>
                              <a:spcPct val="107000"/>
                            </a:lnSpc>
                            <a:spcAft>
                              <a:spcPts val="800"/>
                            </a:spcAft>
                          </a:pPr>
                          <a:r>
                            <a:rPr lang="en-AU" sz="1600" kern="100">
                              <a:effectLst/>
                            </a:rPr>
                            <a:t>EX</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1,505</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160880.6</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dirty="0">
                              <a:effectLst/>
                            </a:rPr>
                            <a:t>1032184</a:t>
                          </a:r>
                          <a:endParaRPr lang="en-AU" sz="16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0</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2.21E+07</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extLst>
                      <a:ext uri="{0D108BD9-81ED-4DB2-BD59-A6C34878D82A}">
                        <a16:rowId xmlns:a16="http://schemas.microsoft.com/office/drawing/2014/main" val="2126102291"/>
                      </a:ext>
                    </a:extLst>
                  </a:tr>
                  <a:tr h="190141">
                    <a:tc>
                      <a:txBody>
                        <a:bodyPr/>
                        <a:lstStyle/>
                        <a:p>
                          <a:pPr algn="ctr">
                            <a:lnSpc>
                              <a:spcPct val="107000"/>
                            </a:lnSpc>
                            <a:spcAft>
                              <a:spcPts val="800"/>
                            </a:spcAft>
                          </a:pPr>
                          <a:r>
                            <a:rPr lang="en-AU" sz="1600" kern="100">
                              <a:effectLst/>
                            </a:rPr>
                            <a:t>TW</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1,505</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14575.22</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dirty="0">
                              <a:effectLst/>
                            </a:rPr>
                            <a:t>78529.26</a:t>
                          </a:r>
                          <a:endParaRPr lang="en-AU" sz="16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6.595843</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2306854</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extLst>
                      <a:ext uri="{0D108BD9-81ED-4DB2-BD59-A6C34878D82A}">
                        <a16:rowId xmlns:a16="http://schemas.microsoft.com/office/drawing/2014/main" val="3235049774"/>
                      </a:ext>
                    </a:extLst>
                  </a:tr>
                  <a:tr h="389737">
                    <a:tc>
                      <a:txBody>
                        <a:bodyPr/>
                        <a:lstStyle/>
                        <a:p>
                          <a:pPr algn="ctr">
                            <a:lnSpc>
                              <a:spcPct val="107000"/>
                            </a:lnSpc>
                            <a:spcAft>
                              <a:spcPts val="800"/>
                            </a:spcAft>
                          </a:pPr>
                          <a:r>
                            <a:rPr lang="en-AU" sz="1600" kern="100">
                              <a:effectLst/>
                            </a:rPr>
                            <a:t>M</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1,505</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464875.1</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dirty="0">
                              <a:effectLst/>
                            </a:rPr>
                            <a:t>2312630</a:t>
                          </a:r>
                          <a:endParaRPr lang="en-AU" sz="16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23</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4.01E+07</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extLst>
                      <a:ext uri="{0D108BD9-81ED-4DB2-BD59-A6C34878D82A}">
                        <a16:rowId xmlns:a16="http://schemas.microsoft.com/office/drawing/2014/main" val="667021519"/>
                      </a:ext>
                    </a:extLst>
                  </a:tr>
                  <a:tr h="190141">
                    <a:tc>
                      <a:txBody>
                        <a:bodyPr/>
                        <a:lstStyle/>
                        <a:p>
                          <a:pPr algn="ctr">
                            <a:lnSpc>
                              <a:spcPct val="107000"/>
                            </a:lnSpc>
                            <a:spcAft>
                              <a:spcPts val="800"/>
                            </a:spcAft>
                          </a:pPr>
                          <a:r>
                            <a:rPr lang="en-AU" sz="1600" kern="100">
                              <a:effectLst/>
                            </a:rPr>
                            <a:t>TL</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1,505</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0.612936</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2.195058</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dirty="0">
                              <a:effectLst/>
                            </a:rPr>
                            <a:t>0.008</a:t>
                          </a:r>
                          <a:endParaRPr lang="en-AU" sz="16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41</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extLst>
                      <a:ext uri="{0D108BD9-81ED-4DB2-BD59-A6C34878D82A}">
                        <a16:rowId xmlns:a16="http://schemas.microsoft.com/office/drawing/2014/main" val="3236060428"/>
                      </a:ext>
                    </a:extLst>
                  </a:tr>
                  <a:tr h="389737">
                    <a:tc>
                      <a:txBody>
                        <a:bodyPr/>
                        <a:lstStyle/>
                        <a:p>
                          <a:pPr algn="ctr">
                            <a:lnSpc>
                              <a:spcPct val="107000"/>
                            </a:lnSpc>
                            <a:spcAft>
                              <a:spcPts val="800"/>
                            </a:spcAft>
                          </a:pPr>
                          <a:r>
                            <a:rPr lang="en-AU" sz="1600" kern="100">
                              <a:effectLst/>
                            </a:rPr>
                            <a:t>VNP</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1,505</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251432.1</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2093122</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dirty="0">
                              <a:effectLst/>
                            </a:rPr>
                            <a:t>0</a:t>
                          </a:r>
                          <a:endParaRPr lang="en-AU" sz="16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4.17E+07</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extLst>
                      <a:ext uri="{0D108BD9-81ED-4DB2-BD59-A6C34878D82A}">
                        <a16:rowId xmlns:a16="http://schemas.microsoft.com/office/drawing/2014/main" val="192953696"/>
                      </a:ext>
                    </a:extLst>
                  </a:tr>
                  <a:tr h="190141">
                    <a:tc>
                      <a:txBody>
                        <a:bodyPr/>
                        <a:lstStyle/>
                        <a:p>
                          <a:pPr algn="ctr">
                            <a:lnSpc>
                              <a:spcPct val="107000"/>
                            </a:lnSpc>
                            <a:spcAft>
                              <a:spcPts val="800"/>
                            </a:spcAft>
                          </a:pPr>
                          <a:r>
                            <a:rPr lang="en-AU" sz="1600" kern="100">
                              <a:effectLst/>
                            </a:rPr>
                            <a:t>kl</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1,505</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114810.3</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238748.2</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dirty="0">
                              <a:effectLst/>
                            </a:rPr>
                            <a:t>0</a:t>
                          </a:r>
                          <a:endParaRPr lang="en-AU" sz="16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3781611</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extLst>
                      <a:ext uri="{0D108BD9-81ED-4DB2-BD59-A6C34878D82A}">
                        <a16:rowId xmlns:a16="http://schemas.microsoft.com/office/drawing/2014/main" val="956130287"/>
                      </a:ext>
                    </a:extLst>
                  </a:tr>
                  <a:tr h="381604">
                    <a:tc>
                      <a:txBody>
                        <a:bodyPr/>
                        <a:lstStyle/>
                        <a:p>
                          <a:pPr algn="ctr">
                            <a:lnSpc>
                              <a:spcPct val="107000"/>
                            </a:lnSpc>
                            <a:spcAft>
                              <a:spcPts val="800"/>
                            </a:spcAft>
                          </a:pPr>
                          <a:r>
                            <a:rPr lang="en-AU" sz="1600" kern="100">
                              <a:effectLst/>
                            </a:rPr>
                            <a:t>wm</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1,505</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461799.2</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595295.2</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4600.29</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dirty="0">
                              <a:effectLst/>
                            </a:rPr>
                            <a:t>7517665</a:t>
                          </a:r>
                          <a:endParaRPr lang="en-AU" sz="16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extLst>
                      <a:ext uri="{0D108BD9-81ED-4DB2-BD59-A6C34878D82A}">
                        <a16:rowId xmlns:a16="http://schemas.microsoft.com/office/drawing/2014/main" val="1229955671"/>
                      </a:ext>
                    </a:extLst>
                  </a:tr>
                  <a:tr h="305352">
                    <a:tc>
                      <a:txBody>
                        <a:bodyPr/>
                        <a:lstStyle/>
                        <a:p>
                          <a:pPr algn="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AU" sz="1600" i="1" kern="100">
                                        <a:effectLst/>
                                        <a:latin typeface="Cambria Math" panose="02040503050406030204" pitchFamily="18" charset="0"/>
                                      </a:rPr>
                                    </m:ctrlPr>
                                  </m:sSubPr>
                                  <m:e>
                                    <m:r>
                                      <a:rPr lang="en-AU" sz="1600" kern="100">
                                        <a:effectLst/>
                                        <a:latin typeface="Cambria Math" panose="02040503050406030204" pitchFamily="18" charset="0"/>
                                      </a:rPr>
                                      <m:t>𝜒</m:t>
                                    </m:r>
                                  </m:e>
                                  <m:sub>
                                    <m:r>
                                      <a:rPr lang="en-AU" sz="1600" kern="100">
                                        <a:effectLst/>
                                        <a:latin typeface="Cambria Math" panose="02040503050406030204" pitchFamily="18" charset="0"/>
                                      </a:rPr>
                                      <m:t>1</m:t>
                                    </m:r>
                                  </m:sub>
                                </m:sSub>
                              </m:oMath>
                            </m:oMathPara>
                          </a14:m>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1,505</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0.18804</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 </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nSpc>
                              <a:spcPct val="107000"/>
                            </a:lnSpc>
                            <a:spcAft>
                              <a:spcPts val="800"/>
                            </a:spcAft>
                          </a:pPr>
                          <a:r>
                            <a:rPr lang="en-AU" sz="1600" kern="100">
                              <a:effectLst/>
                            </a:rPr>
                            <a:t> </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nSpc>
                              <a:spcPct val="107000"/>
                            </a:lnSpc>
                            <a:spcAft>
                              <a:spcPts val="800"/>
                            </a:spcAft>
                          </a:pPr>
                          <a:r>
                            <a:rPr lang="en-AU" sz="1600" kern="100" dirty="0">
                              <a:effectLst/>
                            </a:rPr>
                            <a:t> </a:t>
                          </a:r>
                          <a:endParaRPr lang="en-AU" sz="16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extLst>
                      <a:ext uri="{0D108BD9-81ED-4DB2-BD59-A6C34878D82A}">
                        <a16:rowId xmlns:a16="http://schemas.microsoft.com/office/drawing/2014/main" val="548027423"/>
                      </a:ext>
                    </a:extLst>
                  </a:tr>
                  <a:tr h="305352">
                    <a:tc>
                      <a:txBody>
                        <a:bodyPr/>
                        <a:lstStyle/>
                        <a:p>
                          <a:pPr algn="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AU" sz="1600" i="1" kern="100">
                                        <a:effectLst/>
                                        <a:latin typeface="Cambria Math" panose="02040503050406030204" pitchFamily="18" charset="0"/>
                                      </a:rPr>
                                    </m:ctrlPr>
                                  </m:sSubPr>
                                  <m:e>
                                    <m:r>
                                      <a:rPr lang="en-AU" sz="1600" kern="100">
                                        <a:effectLst/>
                                        <a:latin typeface="Cambria Math" panose="02040503050406030204" pitchFamily="18" charset="0"/>
                                      </a:rPr>
                                      <m:t>𝜒</m:t>
                                    </m:r>
                                  </m:e>
                                  <m:sub>
                                    <m:r>
                                      <a:rPr lang="en-AU" sz="1600" kern="100">
                                        <a:effectLst/>
                                        <a:latin typeface="Cambria Math" panose="02040503050406030204" pitchFamily="18" charset="0"/>
                                      </a:rPr>
                                      <m:t>2</m:t>
                                    </m:r>
                                  </m:sub>
                                </m:sSub>
                              </m:oMath>
                            </m:oMathPara>
                          </a14:m>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1,505</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0.352824</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nSpc>
                              <a:spcPct val="107000"/>
                            </a:lnSpc>
                            <a:spcAft>
                              <a:spcPts val="800"/>
                            </a:spcAft>
                          </a:pPr>
                          <a:r>
                            <a:rPr lang="en-AU" sz="1600" kern="100">
                              <a:effectLst/>
                            </a:rPr>
                            <a:t> </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nSpc>
                              <a:spcPct val="107000"/>
                            </a:lnSpc>
                            <a:spcAft>
                              <a:spcPts val="800"/>
                            </a:spcAft>
                          </a:pPr>
                          <a:r>
                            <a:rPr lang="en-AU" sz="1600" kern="100">
                              <a:effectLst/>
                            </a:rPr>
                            <a:t> </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nSpc>
                              <a:spcPct val="107000"/>
                            </a:lnSpc>
                            <a:spcAft>
                              <a:spcPts val="800"/>
                            </a:spcAft>
                          </a:pPr>
                          <a:r>
                            <a:rPr lang="en-AU" sz="1600" kern="100" dirty="0">
                              <a:effectLst/>
                            </a:rPr>
                            <a:t> </a:t>
                          </a:r>
                          <a:endParaRPr lang="en-AU" sz="16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extLst>
                      <a:ext uri="{0D108BD9-81ED-4DB2-BD59-A6C34878D82A}">
                        <a16:rowId xmlns:a16="http://schemas.microsoft.com/office/drawing/2014/main" val="727099623"/>
                      </a:ext>
                    </a:extLst>
                  </a:tr>
                  <a:tr h="1023235">
                    <a:tc gridSpan="6">
                      <a:txBody>
                        <a:bodyPr/>
                        <a:lstStyle/>
                        <a:p>
                          <a:pPr>
                            <a:lnSpc>
                              <a:spcPct val="107000"/>
                            </a:lnSpc>
                            <a:spcAft>
                              <a:spcPts val="800"/>
                            </a:spcAft>
                          </a:pPr>
                          <a:r>
                            <a:rPr lang="en-AU" sz="900" kern="100" dirty="0">
                              <a:effectLst/>
                            </a:rPr>
                            <a:t>Note: R: domestic sales revenue; EX: export revenue; TW: total wage; M: intermediate inputs; TL: the number of workers; VNP: value of new products; kl: fixed assets annual net average per worker; </a:t>
                          </a:r>
                          <a:r>
                            <a:rPr lang="en-AU" sz="900" kern="100" dirty="0" err="1">
                              <a:effectLst/>
                            </a:rPr>
                            <a:t>wm</a:t>
                          </a:r>
                          <a:r>
                            <a:rPr lang="en-AU" sz="900" kern="100" dirty="0">
                              <a:effectLst/>
                            </a:rPr>
                            <a:t>: TVC per worker; </a:t>
                          </a:r>
                          <a14:m>
                            <m:oMath xmlns:m="http://schemas.openxmlformats.org/officeDocument/2006/math">
                              <m:sSub>
                                <m:sSubPr>
                                  <m:ctrlPr>
                                    <a:rPr lang="en-AU" sz="900" i="1" kern="100">
                                      <a:effectLst/>
                                      <a:latin typeface="Cambria Math" panose="02040503050406030204" pitchFamily="18" charset="0"/>
                                    </a:rPr>
                                  </m:ctrlPr>
                                </m:sSubPr>
                                <m:e>
                                  <m:r>
                                    <a:rPr lang="en-AU" sz="900" kern="100">
                                      <a:effectLst/>
                                      <a:latin typeface="Cambria Math" panose="02040503050406030204" pitchFamily="18" charset="0"/>
                                    </a:rPr>
                                    <m:t>𝜒</m:t>
                                  </m:r>
                                </m:e>
                                <m:sub>
                                  <m:r>
                                    <a:rPr lang="en-AU" sz="900" kern="100">
                                      <a:effectLst/>
                                      <a:latin typeface="Cambria Math" panose="02040503050406030204" pitchFamily="18" charset="0"/>
                                    </a:rPr>
                                    <m:t>1</m:t>
                                  </m:r>
                                </m:sub>
                              </m:sSub>
                            </m:oMath>
                          </a14:m>
                          <a:r>
                            <a:rPr lang="en-AU" sz="900" kern="100" dirty="0">
                              <a:effectLst/>
                            </a:rPr>
                            <a:t>: whether a firm innovates; and </a:t>
                          </a:r>
                          <a14:m>
                            <m:oMath xmlns:m="http://schemas.openxmlformats.org/officeDocument/2006/math">
                              <m:sSub>
                                <m:sSubPr>
                                  <m:ctrlPr>
                                    <a:rPr lang="en-AU" sz="900" i="1" kern="100">
                                      <a:effectLst/>
                                      <a:latin typeface="Cambria Math" panose="02040503050406030204" pitchFamily="18" charset="0"/>
                                    </a:rPr>
                                  </m:ctrlPr>
                                </m:sSubPr>
                                <m:e>
                                  <m:r>
                                    <a:rPr lang="en-AU" sz="900" kern="100">
                                      <a:effectLst/>
                                      <a:latin typeface="Cambria Math" panose="02040503050406030204" pitchFamily="18" charset="0"/>
                                    </a:rPr>
                                    <m:t>𝜒</m:t>
                                  </m:r>
                                </m:e>
                                <m:sub>
                                  <m:r>
                                    <a:rPr lang="en-AU" sz="900" kern="100">
                                      <a:effectLst/>
                                      <a:latin typeface="Cambria Math" panose="02040503050406030204" pitchFamily="18" charset="0"/>
                                    </a:rPr>
                                    <m:t>2</m:t>
                                  </m:r>
                                </m:sub>
                              </m:sSub>
                            </m:oMath>
                          </a14:m>
                          <a:r>
                            <a:rPr lang="en-AU" sz="900" kern="100" dirty="0">
                              <a:effectLst/>
                            </a:rPr>
                            <a:t>: whether a firm exports.</a:t>
                          </a:r>
                          <a:r>
                            <a:rPr lang="en-AU" sz="1100" kern="100" dirty="0">
                              <a:effectLst/>
                            </a:rPr>
                            <a:t> </a:t>
                          </a:r>
                          <a:br>
                            <a:rPr lang="en-AU" sz="900" kern="100" dirty="0">
                              <a:effectLst/>
                            </a:rPr>
                          </a:br>
                          <a:r>
                            <a:rPr lang="en-AU" sz="900" kern="100" dirty="0">
                              <a:effectLst/>
                            </a:rPr>
                            <a:t>Source: NBS, China, 2000-2007.</a:t>
                          </a:r>
                          <a:endParaRPr lang="en-AU" sz="10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2913698648"/>
                      </a:ext>
                    </a:extLst>
                  </a:tr>
                </a:tbl>
              </a:graphicData>
            </a:graphic>
          </p:graphicFrame>
        </mc:Choice>
        <mc:Fallback xmlns="">
          <p:graphicFrame>
            <p:nvGraphicFramePr>
              <p:cNvPr id="4" name="Content Placeholder 3">
                <a:extLst>
                  <a:ext uri="{FF2B5EF4-FFF2-40B4-BE49-F238E27FC236}">
                    <a16:creationId xmlns:a16="http://schemas.microsoft.com/office/drawing/2014/main" id="{77CFEE56-9BCC-065F-9FBE-5F7CBF838119}"/>
                  </a:ext>
                </a:extLst>
              </p:cNvPr>
              <p:cNvGraphicFramePr>
                <a:graphicFrameLocks noGrp="1"/>
              </p:cNvGraphicFramePr>
              <p:nvPr>
                <p:ph idx="1"/>
                <p:extLst>
                  <p:ext uri="{D42A27DB-BD31-4B8C-83A1-F6EECF244321}">
                    <p14:modId xmlns:p14="http://schemas.microsoft.com/office/powerpoint/2010/main" val="951117995"/>
                  </p:ext>
                </p:extLst>
              </p:nvPr>
            </p:nvGraphicFramePr>
            <p:xfrm>
              <a:off x="2354618" y="1435905"/>
              <a:ext cx="5296247" cy="5277655"/>
            </p:xfrm>
            <a:graphic>
              <a:graphicData uri="http://schemas.openxmlformats.org/drawingml/2006/table">
                <a:tbl>
                  <a:tblPr firstRow="1" firstCol="1" bandRow="1">
                    <a:tableStyleId>{5C22544A-7EE6-4342-B048-85BDC9FD1C3A}</a:tableStyleId>
                  </a:tblPr>
                  <a:tblGrid>
                    <a:gridCol w="512745">
                      <a:extLst>
                        <a:ext uri="{9D8B030D-6E8A-4147-A177-3AD203B41FA5}">
                          <a16:colId xmlns:a16="http://schemas.microsoft.com/office/drawing/2014/main" val="156651532"/>
                        </a:ext>
                      </a:extLst>
                    </a:gridCol>
                    <a:gridCol w="686080">
                      <a:extLst>
                        <a:ext uri="{9D8B030D-6E8A-4147-A177-3AD203B41FA5}">
                          <a16:colId xmlns:a16="http://schemas.microsoft.com/office/drawing/2014/main" val="264863466"/>
                        </a:ext>
                      </a:extLst>
                    </a:gridCol>
                    <a:gridCol w="1012784">
                      <a:extLst>
                        <a:ext uri="{9D8B030D-6E8A-4147-A177-3AD203B41FA5}">
                          <a16:colId xmlns:a16="http://schemas.microsoft.com/office/drawing/2014/main" val="724171566"/>
                        </a:ext>
                      </a:extLst>
                    </a:gridCol>
                    <a:gridCol w="1012784">
                      <a:extLst>
                        <a:ext uri="{9D8B030D-6E8A-4147-A177-3AD203B41FA5}">
                          <a16:colId xmlns:a16="http://schemas.microsoft.com/office/drawing/2014/main" val="3083312255"/>
                        </a:ext>
                      </a:extLst>
                    </a:gridCol>
                    <a:gridCol w="1020953">
                      <a:extLst>
                        <a:ext uri="{9D8B030D-6E8A-4147-A177-3AD203B41FA5}">
                          <a16:colId xmlns:a16="http://schemas.microsoft.com/office/drawing/2014/main" val="372699220"/>
                        </a:ext>
                      </a:extLst>
                    </a:gridCol>
                    <a:gridCol w="1050901">
                      <a:extLst>
                        <a:ext uri="{9D8B030D-6E8A-4147-A177-3AD203B41FA5}">
                          <a16:colId xmlns:a16="http://schemas.microsoft.com/office/drawing/2014/main" val="2982670572"/>
                        </a:ext>
                      </a:extLst>
                    </a:gridCol>
                  </a:tblGrid>
                  <a:tr h="249873">
                    <a:tc gridSpan="6">
                      <a:txBody>
                        <a:bodyPr/>
                        <a:lstStyle/>
                        <a:p>
                          <a:pPr algn="ctr">
                            <a:lnSpc>
                              <a:spcPct val="107000"/>
                            </a:lnSpc>
                            <a:spcAft>
                              <a:spcPts val="800"/>
                            </a:spcAft>
                          </a:pPr>
                          <a:r>
                            <a:rPr lang="en-AU" sz="1600" kern="100" dirty="0">
                              <a:effectLst/>
                            </a:rPr>
                            <a:t>Table 1. Summary Statistics</a:t>
                          </a:r>
                          <a:endParaRPr lang="en-AU" sz="16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979295317"/>
                      </a:ext>
                    </a:extLst>
                  </a:tr>
                  <a:tr h="589332">
                    <a:tc>
                      <a:txBody>
                        <a:bodyPr/>
                        <a:lstStyle/>
                        <a:p>
                          <a:pPr>
                            <a:lnSpc>
                              <a:spcPct val="107000"/>
                            </a:lnSpc>
                            <a:spcAft>
                              <a:spcPts val="800"/>
                            </a:spcAft>
                          </a:pPr>
                          <a:r>
                            <a:rPr lang="en-AU" sz="1600" kern="100">
                              <a:effectLst/>
                            </a:rPr>
                            <a:t>Variable</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nSpc>
                              <a:spcPct val="107000"/>
                            </a:lnSpc>
                            <a:spcAft>
                              <a:spcPts val="800"/>
                            </a:spcAft>
                          </a:pPr>
                          <a:r>
                            <a:rPr lang="en-AU" sz="1600" kern="100">
                              <a:effectLst/>
                            </a:rPr>
                            <a:t>Obs</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nSpc>
                              <a:spcPct val="107000"/>
                            </a:lnSpc>
                            <a:spcAft>
                              <a:spcPts val="800"/>
                            </a:spcAft>
                          </a:pPr>
                          <a:r>
                            <a:rPr lang="en-AU" sz="1600" kern="100" dirty="0">
                              <a:effectLst/>
                            </a:rPr>
                            <a:t>Mean</a:t>
                          </a:r>
                          <a:endParaRPr lang="en-AU" sz="16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nSpc>
                              <a:spcPct val="107000"/>
                            </a:lnSpc>
                            <a:spcAft>
                              <a:spcPts val="800"/>
                            </a:spcAft>
                          </a:pPr>
                          <a:r>
                            <a:rPr lang="en-AU" sz="1600" kern="100">
                              <a:effectLst/>
                            </a:rPr>
                            <a:t>Std. dev.</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nSpc>
                              <a:spcPct val="107000"/>
                            </a:lnSpc>
                            <a:spcAft>
                              <a:spcPts val="800"/>
                            </a:spcAft>
                          </a:pPr>
                          <a:r>
                            <a:rPr lang="en-AU" sz="1600" kern="100">
                              <a:effectLst/>
                            </a:rPr>
                            <a:t>Min</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nSpc>
                              <a:spcPct val="107000"/>
                            </a:lnSpc>
                            <a:spcAft>
                              <a:spcPts val="800"/>
                            </a:spcAft>
                          </a:pPr>
                          <a:r>
                            <a:rPr lang="en-AU" sz="1600" kern="100">
                              <a:effectLst/>
                            </a:rPr>
                            <a:t>Max</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extLst>
                      <a:ext uri="{0D108BD9-81ED-4DB2-BD59-A6C34878D82A}">
                        <a16:rowId xmlns:a16="http://schemas.microsoft.com/office/drawing/2014/main" val="552762011"/>
                      </a:ext>
                    </a:extLst>
                  </a:tr>
                  <a:tr h="389737">
                    <a:tc>
                      <a:txBody>
                        <a:bodyPr/>
                        <a:lstStyle/>
                        <a:p>
                          <a:pPr algn="ctr">
                            <a:lnSpc>
                              <a:spcPct val="107000"/>
                            </a:lnSpc>
                            <a:spcAft>
                              <a:spcPts val="800"/>
                            </a:spcAft>
                          </a:pPr>
                          <a:r>
                            <a:rPr lang="en-AU" sz="1600" kern="100">
                              <a:effectLst/>
                            </a:rPr>
                            <a:t>R</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1,505</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423421.6</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dirty="0">
                              <a:effectLst/>
                            </a:rPr>
                            <a:t>2127498</a:t>
                          </a:r>
                          <a:endParaRPr lang="en-AU" sz="16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2.198614</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3.33E+07</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extLst>
                      <a:ext uri="{0D108BD9-81ED-4DB2-BD59-A6C34878D82A}">
                        <a16:rowId xmlns:a16="http://schemas.microsoft.com/office/drawing/2014/main" val="3083370"/>
                      </a:ext>
                    </a:extLst>
                  </a:tr>
                  <a:tr h="389737">
                    <a:tc>
                      <a:txBody>
                        <a:bodyPr/>
                        <a:lstStyle/>
                        <a:p>
                          <a:pPr algn="ctr">
                            <a:lnSpc>
                              <a:spcPct val="107000"/>
                            </a:lnSpc>
                            <a:spcAft>
                              <a:spcPts val="800"/>
                            </a:spcAft>
                          </a:pPr>
                          <a:r>
                            <a:rPr lang="en-AU" sz="1600" kern="100">
                              <a:effectLst/>
                            </a:rPr>
                            <a:t>EX</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1,505</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160880.6</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dirty="0">
                              <a:effectLst/>
                            </a:rPr>
                            <a:t>1032184</a:t>
                          </a:r>
                          <a:endParaRPr lang="en-AU" sz="16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0</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2.21E+07</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extLst>
                      <a:ext uri="{0D108BD9-81ED-4DB2-BD59-A6C34878D82A}">
                        <a16:rowId xmlns:a16="http://schemas.microsoft.com/office/drawing/2014/main" val="2126102291"/>
                      </a:ext>
                    </a:extLst>
                  </a:tr>
                  <a:tr h="249873">
                    <a:tc>
                      <a:txBody>
                        <a:bodyPr/>
                        <a:lstStyle/>
                        <a:p>
                          <a:pPr algn="ctr">
                            <a:lnSpc>
                              <a:spcPct val="107000"/>
                            </a:lnSpc>
                            <a:spcAft>
                              <a:spcPts val="800"/>
                            </a:spcAft>
                          </a:pPr>
                          <a:r>
                            <a:rPr lang="en-AU" sz="1600" kern="100">
                              <a:effectLst/>
                            </a:rPr>
                            <a:t>TW</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1,505</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14575.22</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dirty="0">
                              <a:effectLst/>
                            </a:rPr>
                            <a:t>78529.26</a:t>
                          </a:r>
                          <a:endParaRPr lang="en-AU" sz="16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6.595843</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2306854</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extLst>
                      <a:ext uri="{0D108BD9-81ED-4DB2-BD59-A6C34878D82A}">
                        <a16:rowId xmlns:a16="http://schemas.microsoft.com/office/drawing/2014/main" val="3235049774"/>
                      </a:ext>
                    </a:extLst>
                  </a:tr>
                  <a:tr h="389737">
                    <a:tc>
                      <a:txBody>
                        <a:bodyPr/>
                        <a:lstStyle/>
                        <a:p>
                          <a:pPr algn="ctr">
                            <a:lnSpc>
                              <a:spcPct val="107000"/>
                            </a:lnSpc>
                            <a:spcAft>
                              <a:spcPts val="800"/>
                            </a:spcAft>
                          </a:pPr>
                          <a:r>
                            <a:rPr lang="en-AU" sz="1600" kern="100">
                              <a:effectLst/>
                            </a:rPr>
                            <a:t>M</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1,505</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464875.1</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dirty="0">
                              <a:effectLst/>
                            </a:rPr>
                            <a:t>2312630</a:t>
                          </a:r>
                          <a:endParaRPr lang="en-AU" sz="16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23</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4.01E+07</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extLst>
                      <a:ext uri="{0D108BD9-81ED-4DB2-BD59-A6C34878D82A}">
                        <a16:rowId xmlns:a16="http://schemas.microsoft.com/office/drawing/2014/main" val="667021519"/>
                      </a:ext>
                    </a:extLst>
                  </a:tr>
                  <a:tr h="249873">
                    <a:tc>
                      <a:txBody>
                        <a:bodyPr/>
                        <a:lstStyle/>
                        <a:p>
                          <a:pPr algn="ctr">
                            <a:lnSpc>
                              <a:spcPct val="107000"/>
                            </a:lnSpc>
                            <a:spcAft>
                              <a:spcPts val="800"/>
                            </a:spcAft>
                          </a:pPr>
                          <a:r>
                            <a:rPr lang="en-AU" sz="1600" kern="100">
                              <a:effectLst/>
                            </a:rPr>
                            <a:t>TL</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1,505</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0.612936</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2.195058</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dirty="0">
                              <a:effectLst/>
                            </a:rPr>
                            <a:t>0.008</a:t>
                          </a:r>
                          <a:endParaRPr lang="en-AU" sz="16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41</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extLst>
                      <a:ext uri="{0D108BD9-81ED-4DB2-BD59-A6C34878D82A}">
                        <a16:rowId xmlns:a16="http://schemas.microsoft.com/office/drawing/2014/main" val="3236060428"/>
                      </a:ext>
                    </a:extLst>
                  </a:tr>
                  <a:tr h="389737">
                    <a:tc>
                      <a:txBody>
                        <a:bodyPr/>
                        <a:lstStyle/>
                        <a:p>
                          <a:pPr algn="ctr">
                            <a:lnSpc>
                              <a:spcPct val="107000"/>
                            </a:lnSpc>
                            <a:spcAft>
                              <a:spcPts val="800"/>
                            </a:spcAft>
                          </a:pPr>
                          <a:r>
                            <a:rPr lang="en-AU" sz="1600" kern="100">
                              <a:effectLst/>
                            </a:rPr>
                            <a:t>VNP</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1,505</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251432.1</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2093122</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dirty="0">
                              <a:effectLst/>
                            </a:rPr>
                            <a:t>0</a:t>
                          </a:r>
                          <a:endParaRPr lang="en-AU" sz="16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4.17E+07</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extLst>
                      <a:ext uri="{0D108BD9-81ED-4DB2-BD59-A6C34878D82A}">
                        <a16:rowId xmlns:a16="http://schemas.microsoft.com/office/drawing/2014/main" val="192953696"/>
                      </a:ext>
                    </a:extLst>
                  </a:tr>
                  <a:tr h="249873">
                    <a:tc>
                      <a:txBody>
                        <a:bodyPr/>
                        <a:lstStyle/>
                        <a:p>
                          <a:pPr algn="ctr">
                            <a:lnSpc>
                              <a:spcPct val="107000"/>
                            </a:lnSpc>
                            <a:spcAft>
                              <a:spcPts val="800"/>
                            </a:spcAft>
                          </a:pPr>
                          <a:r>
                            <a:rPr lang="en-AU" sz="1600" kern="100">
                              <a:effectLst/>
                            </a:rPr>
                            <a:t>kl</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1,505</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114810.3</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238748.2</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dirty="0">
                              <a:effectLst/>
                            </a:rPr>
                            <a:t>0</a:t>
                          </a:r>
                          <a:endParaRPr lang="en-AU" sz="16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3781611</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extLst>
                      <a:ext uri="{0D108BD9-81ED-4DB2-BD59-A6C34878D82A}">
                        <a16:rowId xmlns:a16="http://schemas.microsoft.com/office/drawing/2014/main" val="956130287"/>
                      </a:ext>
                    </a:extLst>
                  </a:tr>
                  <a:tr h="381604">
                    <a:tc>
                      <a:txBody>
                        <a:bodyPr/>
                        <a:lstStyle/>
                        <a:p>
                          <a:pPr algn="ctr">
                            <a:lnSpc>
                              <a:spcPct val="107000"/>
                            </a:lnSpc>
                            <a:spcAft>
                              <a:spcPts val="800"/>
                            </a:spcAft>
                          </a:pPr>
                          <a:r>
                            <a:rPr lang="en-AU" sz="1600" kern="100">
                              <a:effectLst/>
                            </a:rPr>
                            <a:t>wm</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1,505</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461799.2</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595295.2</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4600.29</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dirty="0">
                              <a:effectLst/>
                            </a:rPr>
                            <a:t>7517665</a:t>
                          </a:r>
                          <a:endParaRPr lang="en-AU" sz="16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extLst>
                      <a:ext uri="{0D108BD9-81ED-4DB2-BD59-A6C34878D82A}">
                        <a16:rowId xmlns:a16="http://schemas.microsoft.com/office/drawing/2014/main" val="1229955671"/>
                      </a:ext>
                    </a:extLst>
                  </a:tr>
                  <a:tr h="362522">
                    <a:tc>
                      <a:txBody>
                        <a:bodyPr/>
                        <a:lstStyle/>
                        <a:p>
                          <a:endParaRPr lang="en-US"/>
                        </a:p>
                      </a:txBody>
                      <a:tcPr marL="64362" marR="64362" marT="0" marB="0" anchor="b">
                        <a:blipFill>
                          <a:blip r:embed="rId2"/>
                          <a:stretch>
                            <a:fillRect l="-1190" t="-998305" r="-940476" b="-406780"/>
                          </a:stretch>
                        </a:blipFill>
                      </a:tcPr>
                    </a:tc>
                    <a:tc>
                      <a:txBody>
                        <a:bodyPr/>
                        <a:lstStyle/>
                        <a:p>
                          <a:pPr algn="r">
                            <a:lnSpc>
                              <a:spcPct val="107000"/>
                            </a:lnSpc>
                            <a:spcAft>
                              <a:spcPts val="800"/>
                            </a:spcAft>
                          </a:pPr>
                          <a:r>
                            <a:rPr lang="en-AU" sz="1600" kern="100">
                              <a:effectLst/>
                            </a:rPr>
                            <a:t>1,505</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0.18804</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 </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nSpc>
                              <a:spcPct val="107000"/>
                            </a:lnSpc>
                            <a:spcAft>
                              <a:spcPts val="800"/>
                            </a:spcAft>
                          </a:pPr>
                          <a:r>
                            <a:rPr lang="en-AU" sz="1600" kern="100">
                              <a:effectLst/>
                            </a:rPr>
                            <a:t> </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nSpc>
                              <a:spcPct val="107000"/>
                            </a:lnSpc>
                            <a:spcAft>
                              <a:spcPts val="800"/>
                            </a:spcAft>
                          </a:pPr>
                          <a:r>
                            <a:rPr lang="en-AU" sz="1600" kern="100" dirty="0">
                              <a:effectLst/>
                            </a:rPr>
                            <a:t> </a:t>
                          </a:r>
                          <a:endParaRPr lang="en-AU" sz="16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extLst>
                      <a:ext uri="{0D108BD9-81ED-4DB2-BD59-A6C34878D82A}">
                        <a16:rowId xmlns:a16="http://schemas.microsoft.com/office/drawing/2014/main" val="548027423"/>
                      </a:ext>
                    </a:extLst>
                  </a:tr>
                  <a:tr h="362522">
                    <a:tc>
                      <a:txBody>
                        <a:bodyPr/>
                        <a:lstStyle/>
                        <a:p>
                          <a:endParaRPr lang="en-US"/>
                        </a:p>
                      </a:txBody>
                      <a:tcPr marL="64362" marR="64362" marT="0" marB="0" anchor="b">
                        <a:blipFill>
                          <a:blip r:embed="rId2"/>
                          <a:stretch>
                            <a:fillRect l="-1190" t="-1080000" r="-940476" b="-300000"/>
                          </a:stretch>
                        </a:blipFill>
                      </a:tcPr>
                    </a:tc>
                    <a:tc>
                      <a:txBody>
                        <a:bodyPr/>
                        <a:lstStyle/>
                        <a:p>
                          <a:pPr algn="r">
                            <a:lnSpc>
                              <a:spcPct val="107000"/>
                            </a:lnSpc>
                            <a:spcAft>
                              <a:spcPts val="800"/>
                            </a:spcAft>
                          </a:pPr>
                          <a:r>
                            <a:rPr lang="en-AU" sz="1600" kern="100">
                              <a:effectLst/>
                            </a:rPr>
                            <a:t>1,505</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gn="r">
                            <a:lnSpc>
                              <a:spcPct val="107000"/>
                            </a:lnSpc>
                            <a:spcAft>
                              <a:spcPts val="800"/>
                            </a:spcAft>
                          </a:pPr>
                          <a:r>
                            <a:rPr lang="en-AU" sz="1600" kern="100">
                              <a:effectLst/>
                            </a:rPr>
                            <a:t>0.352824</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nSpc>
                              <a:spcPct val="107000"/>
                            </a:lnSpc>
                            <a:spcAft>
                              <a:spcPts val="800"/>
                            </a:spcAft>
                          </a:pPr>
                          <a:r>
                            <a:rPr lang="en-AU" sz="1600" kern="100">
                              <a:effectLst/>
                            </a:rPr>
                            <a:t> </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nSpc>
                              <a:spcPct val="107000"/>
                            </a:lnSpc>
                            <a:spcAft>
                              <a:spcPts val="800"/>
                            </a:spcAft>
                          </a:pPr>
                          <a:r>
                            <a:rPr lang="en-AU" sz="1600" kern="100">
                              <a:effectLst/>
                            </a:rPr>
                            <a:t> </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tc>
                      <a:txBody>
                        <a:bodyPr/>
                        <a:lstStyle/>
                        <a:p>
                          <a:pPr>
                            <a:lnSpc>
                              <a:spcPct val="107000"/>
                            </a:lnSpc>
                            <a:spcAft>
                              <a:spcPts val="800"/>
                            </a:spcAft>
                          </a:pPr>
                          <a:r>
                            <a:rPr lang="en-AU" sz="1600" kern="100" dirty="0">
                              <a:effectLst/>
                            </a:rPr>
                            <a:t> </a:t>
                          </a:r>
                          <a:endParaRPr lang="en-AU" sz="16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4362" marR="64362" marT="0" marB="0" anchor="b"/>
                    </a:tc>
                    <a:extLst>
                      <a:ext uri="{0D108BD9-81ED-4DB2-BD59-A6C34878D82A}">
                        <a16:rowId xmlns:a16="http://schemas.microsoft.com/office/drawing/2014/main" val="727099623"/>
                      </a:ext>
                    </a:extLst>
                  </a:tr>
                  <a:tr h="1023235">
                    <a:tc gridSpan="6">
                      <a:txBody>
                        <a:bodyPr/>
                        <a:lstStyle/>
                        <a:p>
                          <a:endParaRPr lang="en-US"/>
                        </a:p>
                      </a:txBody>
                      <a:tcPr marL="64362" marR="64362" marT="0" marB="0" anchor="b">
                        <a:blipFill>
                          <a:blip r:embed="rId2"/>
                          <a:stretch>
                            <a:fillRect l="-115" t="-421429" r="-460" b="-7143"/>
                          </a:stretch>
                        </a:blipFill>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2913698648"/>
                      </a:ext>
                    </a:extLst>
                  </a:tr>
                </a:tbl>
              </a:graphicData>
            </a:graphic>
          </p:graphicFrame>
        </mc:Fallback>
      </mc:AlternateContent>
    </p:spTree>
    <p:extLst>
      <p:ext uri="{BB962C8B-B14F-4D97-AF65-F5344CB8AC3E}">
        <p14:creationId xmlns:p14="http://schemas.microsoft.com/office/powerpoint/2010/main" val="31677655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63EA0-F123-228C-C69C-98361C6CA31F}"/>
              </a:ext>
            </a:extLst>
          </p:cNvPr>
          <p:cNvSpPr>
            <a:spLocks noGrp="1"/>
          </p:cNvSpPr>
          <p:nvPr>
            <p:ph type="title"/>
          </p:nvPr>
        </p:nvSpPr>
        <p:spPr/>
        <p:txBody>
          <a:bodyPr/>
          <a:lstStyle/>
          <a:p>
            <a:r>
              <a:rPr lang="en-AU" dirty="0"/>
              <a:t>Data and Variables</a:t>
            </a: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1FCF298C-89AF-596B-740D-1883A46BB98A}"/>
                  </a:ext>
                </a:extLst>
              </p:cNvPr>
              <p:cNvGraphicFramePr>
                <a:graphicFrameLocks noGrp="1"/>
              </p:cNvGraphicFramePr>
              <p:nvPr>
                <p:ph idx="1"/>
                <p:extLst>
                  <p:ext uri="{D42A27DB-BD31-4B8C-83A1-F6EECF244321}">
                    <p14:modId xmlns:p14="http://schemas.microsoft.com/office/powerpoint/2010/main" val="1055176292"/>
                  </p:ext>
                </p:extLst>
              </p:nvPr>
            </p:nvGraphicFramePr>
            <p:xfrm>
              <a:off x="2525383" y="2101876"/>
              <a:ext cx="6896412" cy="3426970"/>
            </p:xfrm>
            <a:graphic>
              <a:graphicData uri="http://schemas.openxmlformats.org/drawingml/2006/table">
                <a:tbl>
                  <a:tblPr firstRow="1" firstCol="1" bandRow="1">
                    <a:tableStyleId>{5C22544A-7EE6-4342-B048-85BDC9FD1C3A}</a:tableStyleId>
                  </a:tblPr>
                  <a:tblGrid>
                    <a:gridCol w="1350784">
                      <a:extLst>
                        <a:ext uri="{9D8B030D-6E8A-4147-A177-3AD203B41FA5}">
                          <a16:colId xmlns:a16="http://schemas.microsoft.com/office/drawing/2014/main" val="1800583737"/>
                        </a:ext>
                      </a:extLst>
                    </a:gridCol>
                    <a:gridCol w="1386407">
                      <a:extLst>
                        <a:ext uri="{9D8B030D-6E8A-4147-A177-3AD203B41FA5}">
                          <a16:colId xmlns:a16="http://schemas.microsoft.com/office/drawing/2014/main" val="3812216751"/>
                        </a:ext>
                      </a:extLst>
                    </a:gridCol>
                    <a:gridCol w="1386407">
                      <a:extLst>
                        <a:ext uri="{9D8B030D-6E8A-4147-A177-3AD203B41FA5}">
                          <a16:colId xmlns:a16="http://schemas.microsoft.com/office/drawing/2014/main" val="508118241"/>
                        </a:ext>
                      </a:extLst>
                    </a:gridCol>
                    <a:gridCol w="1386407">
                      <a:extLst>
                        <a:ext uri="{9D8B030D-6E8A-4147-A177-3AD203B41FA5}">
                          <a16:colId xmlns:a16="http://schemas.microsoft.com/office/drawing/2014/main" val="1338298691"/>
                        </a:ext>
                      </a:extLst>
                    </a:gridCol>
                    <a:gridCol w="1386407">
                      <a:extLst>
                        <a:ext uri="{9D8B030D-6E8A-4147-A177-3AD203B41FA5}">
                          <a16:colId xmlns:a16="http://schemas.microsoft.com/office/drawing/2014/main" val="1814921034"/>
                        </a:ext>
                      </a:extLst>
                    </a:gridCol>
                  </a:tblGrid>
                  <a:tr h="184150">
                    <a:tc gridSpan="5">
                      <a:txBody>
                        <a:bodyPr/>
                        <a:lstStyle/>
                        <a:p>
                          <a:pPr algn="ctr">
                            <a:lnSpc>
                              <a:spcPct val="107000"/>
                            </a:lnSpc>
                            <a:spcAft>
                              <a:spcPts val="800"/>
                            </a:spcAft>
                          </a:pPr>
                          <a:r>
                            <a:rPr lang="en-AU" sz="2400" kern="100">
                              <a:effectLst/>
                            </a:rPr>
                            <a:t>Table 2. Probabilities of Innovation and Export, conditional on Previous Period's Experience</a:t>
                          </a:r>
                          <a:endParaRPr lang="en-AU" sz="24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45555212"/>
                      </a:ext>
                    </a:extLst>
                  </a:tr>
                  <a:tr h="184150">
                    <a:tc>
                      <a:txBody>
                        <a:bodyPr/>
                        <a:lstStyle/>
                        <a:p>
                          <a:pPr algn="ctr">
                            <a:lnSpc>
                              <a:spcPct val="107000"/>
                            </a:lnSpc>
                            <a:spcAft>
                              <a:spcPts val="800"/>
                            </a:spcAft>
                          </a:pPr>
                          <a:r>
                            <a:rPr lang="en-AU" sz="2400" kern="100">
                              <a:effectLst/>
                            </a:rPr>
                            <a:t> </a:t>
                          </a:r>
                          <a:endParaRPr lang="en-AU" sz="24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gridSpan="2">
                      <a:txBody>
                        <a:bodyPr/>
                        <a:lstStyle/>
                        <a:p>
                          <a:pPr algn="ctr">
                            <a:lnSpc>
                              <a:spcPct val="107000"/>
                            </a:lnSpc>
                            <a:spcAft>
                              <a:spcPts val="800"/>
                            </a:spcAft>
                          </a:pPr>
                          <a:r>
                            <a:rPr lang="en-AU" sz="2400" kern="100">
                              <a:effectLst/>
                            </a:rPr>
                            <a:t>[1]</a:t>
                          </a:r>
                          <a:endParaRPr lang="en-AU" sz="24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hMerge="1">
                      <a:txBody>
                        <a:bodyPr/>
                        <a:lstStyle/>
                        <a:p>
                          <a:endParaRPr lang="en-AU"/>
                        </a:p>
                      </a:txBody>
                      <a:tcPr/>
                    </a:tc>
                    <a:tc gridSpan="2">
                      <a:txBody>
                        <a:bodyPr/>
                        <a:lstStyle/>
                        <a:p>
                          <a:pPr algn="ctr">
                            <a:lnSpc>
                              <a:spcPct val="107000"/>
                            </a:lnSpc>
                            <a:spcAft>
                              <a:spcPts val="800"/>
                            </a:spcAft>
                          </a:pPr>
                          <a:r>
                            <a:rPr lang="en-AU" sz="2400" kern="100">
                              <a:effectLst/>
                            </a:rPr>
                            <a:t>[2]</a:t>
                          </a:r>
                          <a:endParaRPr lang="en-AU" sz="24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hMerge="1">
                      <a:txBody>
                        <a:bodyPr/>
                        <a:lstStyle/>
                        <a:p>
                          <a:endParaRPr lang="en-AU"/>
                        </a:p>
                      </a:txBody>
                      <a:tcPr/>
                    </a:tc>
                    <a:extLst>
                      <a:ext uri="{0D108BD9-81ED-4DB2-BD59-A6C34878D82A}">
                        <a16:rowId xmlns:a16="http://schemas.microsoft.com/office/drawing/2014/main" val="2952288361"/>
                      </a:ext>
                    </a:extLst>
                  </a:tr>
                  <a:tr h="184150">
                    <a:tc>
                      <a:txBody>
                        <a:bodyPr/>
                        <a:lstStyle/>
                        <a:p>
                          <a:pPr>
                            <a:lnSpc>
                              <a:spcPct val="107000"/>
                            </a:lnSpc>
                            <a:spcAft>
                              <a:spcPts val="800"/>
                            </a:spcAft>
                          </a:pPr>
                          <a:r>
                            <a:rPr lang="en-AU" sz="2400" kern="100">
                              <a:effectLst/>
                            </a:rPr>
                            <a:t> </a:t>
                          </a:r>
                          <a:endParaRPr lang="en-AU" sz="24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AU" sz="2400" i="1" kern="100">
                                        <a:effectLst/>
                                        <a:latin typeface="Cambria Math" panose="02040503050406030204" pitchFamily="18" charset="0"/>
                                      </a:rPr>
                                    </m:ctrlPr>
                                  </m:sSubPr>
                                  <m:e>
                                    <m:r>
                                      <a:rPr lang="en-AU" sz="2400" kern="100">
                                        <a:effectLst/>
                                        <a:latin typeface="Cambria Math" panose="02040503050406030204" pitchFamily="18" charset="0"/>
                                      </a:rPr>
                                      <m:t>𝜒</m:t>
                                    </m:r>
                                  </m:e>
                                  <m:sub>
                                    <m:r>
                                      <a:rPr lang="en-AU" sz="2400" kern="100">
                                        <a:effectLst/>
                                        <a:latin typeface="Cambria Math" panose="02040503050406030204" pitchFamily="18" charset="0"/>
                                      </a:rPr>
                                      <m:t>1</m:t>
                                    </m:r>
                                  </m:sub>
                                </m:sSub>
                                <m:r>
                                  <a:rPr lang="en-AU" sz="2400" kern="100">
                                    <a:effectLst/>
                                    <a:latin typeface="Cambria Math" panose="02040503050406030204" pitchFamily="18" charset="0"/>
                                  </a:rPr>
                                  <m:t>=0</m:t>
                                </m:r>
                              </m:oMath>
                            </m:oMathPara>
                          </a14:m>
                          <a:endParaRPr lang="en-AU" sz="24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AU" sz="2400" i="1" kern="100">
                                        <a:effectLst/>
                                        <a:latin typeface="Cambria Math" panose="02040503050406030204" pitchFamily="18" charset="0"/>
                                      </a:rPr>
                                    </m:ctrlPr>
                                  </m:sSubPr>
                                  <m:e>
                                    <m:r>
                                      <a:rPr lang="en-AU" sz="2400" kern="100">
                                        <a:effectLst/>
                                        <a:latin typeface="Cambria Math" panose="02040503050406030204" pitchFamily="18" charset="0"/>
                                      </a:rPr>
                                      <m:t>𝜒</m:t>
                                    </m:r>
                                  </m:e>
                                  <m:sub>
                                    <m:r>
                                      <a:rPr lang="en-AU" sz="2400" kern="100">
                                        <a:effectLst/>
                                        <a:latin typeface="Cambria Math" panose="02040503050406030204" pitchFamily="18" charset="0"/>
                                      </a:rPr>
                                      <m:t>1</m:t>
                                    </m:r>
                                  </m:sub>
                                </m:sSub>
                                <m:r>
                                  <a:rPr lang="en-AU" sz="2400" kern="100">
                                    <a:effectLst/>
                                    <a:latin typeface="Cambria Math" panose="02040503050406030204" pitchFamily="18" charset="0"/>
                                  </a:rPr>
                                  <m:t>=1</m:t>
                                </m:r>
                              </m:oMath>
                            </m:oMathPara>
                          </a14:m>
                          <a:endParaRPr lang="en-AU" sz="24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AU" sz="2400" i="1" kern="100">
                                        <a:effectLst/>
                                        <a:latin typeface="Cambria Math" panose="02040503050406030204" pitchFamily="18" charset="0"/>
                                      </a:rPr>
                                    </m:ctrlPr>
                                  </m:sSubPr>
                                  <m:e>
                                    <m:r>
                                      <a:rPr lang="en-AU" sz="2400" kern="100">
                                        <a:effectLst/>
                                        <a:latin typeface="Cambria Math" panose="02040503050406030204" pitchFamily="18" charset="0"/>
                                      </a:rPr>
                                      <m:t>𝜒</m:t>
                                    </m:r>
                                  </m:e>
                                  <m:sub>
                                    <m:r>
                                      <a:rPr lang="en-AU" sz="2400" kern="100">
                                        <a:effectLst/>
                                        <a:latin typeface="Cambria Math" panose="02040503050406030204" pitchFamily="18" charset="0"/>
                                      </a:rPr>
                                      <m:t>2</m:t>
                                    </m:r>
                                  </m:sub>
                                </m:sSub>
                                <m:r>
                                  <a:rPr lang="en-AU" sz="2400" kern="100">
                                    <a:effectLst/>
                                    <a:latin typeface="Cambria Math" panose="02040503050406030204" pitchFamily="18" charset="0"/>
                                  </a:rPr>
                                  <m:t>=0</m:t>
                                </m:r>
                              </m:oMath>
                            </m:oMathPara>
                          </a14:m>
                          <a:endParaRPr lang="en-AU" sz="24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AU" sz="2400" i="1" kern="100">
                                        <a:effectLst/>
                                        <a:latin typeface="Cambria Math" panose="02040503050406030204" pitchFamily="18" charset="0"/>
                                      </a:rPr>
                                    </m:ctrlPr>
                                  </m:sSubPr>
                                  <m:e>
                                    <m:r>
                                      <a:rPr lang="en-AU" sz="2400" kern="100">
                                        <a:effectLst/>
                                        <a:latin typeface="Cambria Math" panose="02040503050406030204" pitchFamily="18" charset="0"/>
                                      </a:rPr>
                                      <m:t>𝜒</m:t>
                                    </m:r>
                                  </m:e>
                                  <m:sub>
                                    <m:r>
                                      <a:rPr lang="en-AU" sz="2400" kern="100">
                                        <a:effectLst/>
                                        <a:latin typeface="Cambria Math" panose="02040503050406030204" pitchFamily="18" charset="0"/>
                                      </a:rPr>
                                      <m:t>2</m:t>
                                    </m:r>
                                  </m:sub>
                                </m:sSub>
                                <m:r>
                                  <a:rPr lang="en-AU" sz="2400" kern="100">
                                    <a:effectLst/>
                                    <a:latin typeface="Cambria Math" panose="02040503050406030204" pitchFamily="18" charset="0"/>
                                  </a:rPr>
                                  <m:t>=1</m:t>
                                </m:r>
                              </m:oMath>
                            </m:oMathPara>
                          </a14:m>
                          <a:endParaRPr lang="en-AU" sz="24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3555535744"/>
                      </a:ext>
                    </a:extLst>
                  </a:tr>
                  <a:tr h="184150">
                    <a:tc>
                      <a:txBody>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AU" sz="2400" i="1" kern="100">
                                        <a:effectLst/>
                                        <a:latin typeface="Cambria Math" panose="02040503050406030204" pitchFamily="18" charset="0"/>
                                      </a:rPr>
                                    </m:ctrlPr>
                                  </m:sSubPr>
                                  <m:e>
                                    <m:r>
                                      <a:rPr lang="en-AU" sz="2400" kern="100">
                                        <a:effectLst/>
                                        <a:latin typeface="Cambria Math" panose="02040503050406030204" pitchFamily="18" charset="0"/>
                                      </a:rPr>
                                      <m:t>𝜒</m:t>
                                    </m:r>
                                  </m:e>
                                  <m:sub>
                                    <m:r>
                                      <a:rPr lang="en-AU" sz="2400" kern="100">
                                        <a:effectLst/>
                                        <a:latin typeface="Cambria Math" panose="02040503050406030204" pitchFamily="18" charset="0"/>
                                      </a:rPr>
                                      <m:t>−1</m:t>
                                    </m:r>
                                  </m:sub>
                                </m:sSub>
                                <m:r>
                                  <a:rPr lang="en-AU" sz="2400" kern="100">
                                    <a:effectLst/>
                                    <a:latin typeface="Cambria Math" panose="02040503050406030204" pitchFamily="18" charset="0"/>
                                  </a:rPr>
                                  <m:t>=0</m:t>
                                </m:r>
                              </m:oMath>
                            </m:oMathPara>
                          </a14:m>
                          <a:endParaRPr lang="en-AU" sz="24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400" kern="100">
                              <a:effectLst/>
                            </a:rPr>
                            <a:t>0.887976</a:t>
                          </a:r>
                          <a:endParaRPr lang="en-AU" sz="24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400" kern="100">
                              <a:effectLst/>
                            </a:rPr>
                            <a:t>0.112024</a:t>
                          </a:r>
                          <a:endParaRPr lang="en-AU" sz="24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400" kern="100">
                              <a:effectLst/>
                            </a:rPr>
                            <a:t>0.780833</a:t>
                          </a:r>
                          <a:endParaRPr lang="en-AU" sz="24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400" kern="100">
                              <a:effectLst/>
                            </a:rPr>
                            <a:t>0.219167</a:t>
                          </a:r>
                          <a:endParaRPr lang="en-AU" sz="24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775252164"/>
                      </a:ext>
                    </a:extLst>
                  </a:tr>
                  <a:tr h="184150">
                    <a:tc>
                      <a:txBody>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AU" sz="2400" i="1" kern="100">
                                        <a:effectLst/>
                                        <a:latin typeface="Cambria Math" panose="02040503050406030204" pitchFamily="18" charset="0"/>
                                      </a:rPr>
                                    </m:ctrlPr>
                                  </m:sSubPr>
                                  <m:e>
                                    <m:r>
                                      <a:rPr lang="en-AU" sz="2400" kern="100">
                                        <a:effectLst/>
                                        <a:latin typeface="Cambria Math" panose="02040503050406030204" pitchFamily="18" charset="0"/>
                                      </a:rPr>
                                      <m:t>𝜒</m:t>
                                    </m:r>
                                  </m:e>
                                  <m:sub>
                                    <m:r>
                                      <a:rPr lang="en-AU" sz="2400" kern="100">
                                        <a:effectLst/>
                                        <a:latin typeface="Cambria Math" panose="02040503050406030204" pitchFamily="18" charset="0"/>
                                      </a:rPr>
                                      <m:t>−1</m:t>
                                    </m:r>
                                  </m:sub>
                                </m:sSub>
                                <m:r>
                                  <a:rPr lang="en-AU" sz="2400" kern="100">
                                    <a:effectLst/>
                                    <a:latin typeface="Cambria Math" panose="02040503050406030204" pitchFamily="18" charset="0"/>
                                  </a:rPr>
                                  <m:t>=1</m:t>
                                </m:r>
                              </m:oMath>
                            </m:oMathPara>
                          </a14:m>
                          <a:endParaRPr lang="en-AU" sz="24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400" kern="100">
                              <a:effectLst/>
                            </a:rPr>
                            <a:t>0.198795</a:t>
                          </a:r>
                          <a:endParaRPr lang="en-AU" sz="24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400" kern="100">
                              <a:effectLst/>
                            </a:rPr>
                            <a:t>0.801205</a:t>
                          </a:r>
                          <a:endParaRPr lang="en-AU" sz="24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400" kern="100">
                              <a:effectLst/>
                            </a:rPr>
                            <a:t>0.121311</a:t>
                          </a:r>
                          <a:endParaRPr lang="en-AU" sz="24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400" kern="100">
                              <a:effectLst/>
                            </a:rPr>
                            <a:t>0.878689</a:t>
                          </a:r>
                          <a:endParaRPr lang="en-AU" sz="24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380214836"/>
                      </a:ext>
                    </a:extLst>
                  </a:tr>
                  <a:tr h="184150">
                    <a:tc gridSpan="5">
                      <a:txBody>
                        <a:bodyPr/>
                        <a:lstStyle/>
                        <a:p>
                          <a:pPr>
                            <a:lnSpc>
                              <a:spcPct val="107000"/>
                            </a:lnSpc>
                            <a:spcAft>
                              <a:spcPts val="800"/>
                            </a:spcAft>
                          </a:pPr>
                          <a:r>
                            <a:rPr lang="en-AU" sz="2400" kern="100" dirty="0">
                              <a:effectLst/>
                            </a:rPr>
                            <a:t>Note: For [1], the rows correspond to </a:t>
                          </a:r>
                          <a14:m>
                            <m:oMath xmlns:m="http://schemas.openxmlformats.org/officeDocument/2006/math">
                              <m:sSub>
                                <m:sSubPr>
                                  <m:ctrlPr>
                                    <a:rPr lang="en-AU" sz="2400" i="1" kern="100">
                                      <a:effectLst/>
                                      <a:latin typeface="Cambria Math" panose="02040503050406030204" pitchFamily="18" charset="0"/>
                                    </a:rPr>
                                  </m:ctrlPr>
                                </m:sSubPr>
                                <m:e>
                                  <m:r>
                                    <a:rPr lang="en-AU" sz="2400" kern="100">
                                      <a:effectLst/>
                                      <a:latin typeface="Cambria Math" panose="02040503050406030204" pitchFamily="18" charset="0"/>
                                    </a:rPr>
                                    <m:t>𝜒</m:t>
                                  </m:r>
                                </m:e>
                                <m:sub>
                                  <m:r>
                                    <a:rPr lang="en-AU" sz="2400" kern="100">
                                      <a:effectLst/>
                                      <a:latin typeface="Cambria Math" panose="02040503050406030204" pitchFamily="18" charset="0"/>
                                    </a:rPr>
                                    <m:t>−1</m:t>
                                  </m:r>
                                </m:sub>
                              </m:sSub>
                              <m:r>
                                <a:rPr lang="en-AU" sz="2400" kern="100">
                                  <a:effectLst/>
                                  <a:latin typeface="Cambria Math" panose="02040503050406030204" pitchFamily="18" charset="0"/>
                                </a:rPr>
                                <m:t>=</m:t>
                              </m:r>
                              <m:sSub>
                                <m:sSubPr>
                                  <m:ctrlPr>
                                    <a:rPr lang="en-AU" sz="2400" i="1" kern="100">
                                      <a:effectLst/>
                                      <a:latin typeface="Cambria Math" panose="02040503050406030204" pitchFamily="18" charset="0"/>
                                    </a:rPr>
                                  </m:ctrlPr>
                                </m:sSubPr>
                                <m:e>
                                  <m:r>
                                    <a:rPr lang="en-AU" sz="2400" kern="100">
                                      <a:effectLst/>
                                      <a:latin typeface="Cambria Math" panose="02040503050406030204" pitchFamily="18" charset="0"/>
                                    </a:rPr>
                                    <m:t>𝜒</m:t>
                                  </m:r>
                                </m:e>
                                <m:sub>
                                  <m:r>
                                    <a:rPr lang="en-AU" sz="2400" kern="100">
                                      <a:effectLst/>
                                      <a:latin typeface="Cambria Math" panose="02040503050406030204" pitchFamily="18" charset="0"/>
                                    </a:rPr>
                                    <m:t>1,−1</m:t>
                                  </m:r>
                                </m:sub>
                              </m:sSub>
                            </m:oMath>
                          </a14:m>
                          <a:r>
                            <a:rPr lang="en-AU" sz="2400" kern="100" dirty="0">
                              <a:effectLst/>
                            </a:rPr>
                            <a:t>; For [2], the rows correspond to </a:t>
                          </a:r>
                          <a14:m>
                            <m:oMath xmlns:m="http://schemas.openxmlformats.org/officeDocument/2006/math">
                              <m:sSub>
                                <m:sSubPr>
                                  <m:ctrlPr>
                                    <a:rPr lang="en-AU" sz="2400" i="1" kern="100">
                                      <a:effectLst/>
                                      <a:latin typeface="Cambria Math" panose="02040503050406030204" pitchFamily="18" charset="0"/>
                                    </a:rPr>
                                  </m:ctrlPr>
                                </m:sSubPr>
                                <m:e>
                                  <m:r>
                                    <a:rPr lang="en-AU" sz="2400" kern="100">
                                      <a:effectLst/>
                                      <a:latin typeface="Cambria Math" panose="02040503050406030204" pitchFamily="18" charset="0"/>
                                    </a:rPr>
                                    <m:t>𝜒</m:t>
                                  </m:r>
                                </m:e>
                                <m:sub>
                                  <m:r>
                                    <a:rPr lang="en-AU" sz="2400" kern="100">
                                      <a:effectLst/>
                                      <a:latin typeface="Cambria Math" panose="02040503050406030204" pitchFamily="18" charset="0"/>
                                    </a:rPr>
                                    <m:t>−1</m:t>
                                  </m:r>
                                </m:sub>
                              </m:sSub>
                              <m:r>
                                <a:rPr lang="en-AU" sz="2400" kern="100">
                                  <a:effectLst/>
                                  <a:latin typeface="Cambria Math" panose="02040503050406030204" pitchFamily="18" charset="0"/>
                                </a:rPr>
                                <m:t>=</m:t>
                              </m:r>
                              <m:sSub>
                                <m:sSubPr>
                                  <m:ctrlPr>
                                    <a:rPr lang="en-AU" sz="2400" i="1" kern="100">
                                      <a:effectLst/>
                                      <a:latin typeface="Cambria Math" panose="02040503050406030204" pitchFamily="18" charset="0"/>
                                    </a:rPr>
                                  </m:ctrlPr>
                                </m:sSubPr>
                                <m:e>
                                  <m:r>
                                    <a:rPr lang="en-AU" sz="2400" kern="100">
                                      <a:effectLst/>
                                      <a:latin typeface="Cambria Math" panose="02040503050406030204" pitchFamily="18" charset="0"/>
                                    </a:rPr>
                                    <m:t>𝜒</m:t>
                                  </m:r>
                                </m:e>
                                <m:sub>
                                  <m:r>
                                    <a:rPr lang="en-AU" sz="2400" kern="100">
                                      <a:effectLst/>
                                      <a:latin typeface="Cambria Math" panose="02040503050406030204" pitchFamily="18" charset="0"/>
                                    </a:rPr>
                                    <m:t>2,−1</m:t>
                                  </m:r>
                                </m:sub>
                              </m:sSub>
                            </m:oMath>
                          </a14:m>
                          <a:r>
                            <a:rPr lang="en-AU" sz="2400" kern="100" dirty="0">
                              <a:effectLst/>
                            </a:rPr>
                            <a:t>.</a:t>
                          </a:r>
                          <a:endParaRPr lang="en-AU" sz="24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242656079"/>
                      </a:ext>
                    </a:extLst>
                  </a:tr>
                </a:tbl>
              </a:graphicData>
            </a:graphic>
          </p:graphicFrame>
        </mc:Choice>
        <mc:Fallback xmlns="">
          <p:graphicFrame>
            <p:nvGraphicFramePr>
              <p:cNvPr id="4" name="Content Placeholder 3">
                <a:extLst>
                  <a:ext uri="{FF2B5EF4-FFF2-40B4-BE49-F238E27FC236}">
                    <a16:creationId xmlns:a16="http://schemas.microsoft.com/office/drawing/2014/main" id="{1FCF298C-89AF-596B-740D-1883A46BB98A}"/>
                  </a:ext>
                </a:extLst>
              </p:cNvPr>
              <p:cNvGraphicFramePr>
                <a:graphicFrameLocks noGrp="1"/>
              </p:cNvGraphicFramePr>
              <p:nvPr>
                <p:ph idx="1"/>
                <p:extLst>
                  <p:ext uri="{D42A27DB-BD31-4B8C-83A1-F6EECF244321}">
                    <p14:modId xmlns:p14="http://schemas.microsoft.com/office/powerpoint/2010/main" val="1055176292"/>
                  </p:ext>
                </p:extLst>
              </p:nvPr>
            </p:nvGraphicFramePr>
            <p:xfrm>
              <a:off x="2525383" y="2101876"/>
              <a:ext cx="6896412" cy="3426970"/>
            </p:xfrm>
            <a:graphic>
              <a:graphicData uri="http://schemas.openxmlformats.org/drawingml/2006/table">
                <a:tbl>
                  <a:tblPr firstRow="1" firstCol="1" bandRow="1">
                    <a:tableStyleId>{5C22544A-7EE6-4342-B048-85BDC9FD1C3A}</a:tableStyleId>
                  </a:tblPr>
                  <a:tblGrid>
                    <a:gridCol w="1350784">
                      <a:extLst>
                        <a:ext uri="{9D8B030D-6E8A-4147-A177-3AD203B41FA5}">
                          <a16:colId xmlns:a16="http://schemas.microsoft.com/office/drawing/2014/main" val="1800583737"/>
                        </a:ext>
                      </a:extLst>
                    </a:gridCol>
                    <a:gridCol w="1386407">
                      <a:extLst>
                        <a:ext uri="{9D8B030D-6E8A-4147-A177-3AD203B41FA5}">
                          <a16:colId xmlns:a16="http://schemas.microsoft.com/office/drawing/2014/main" val="3812216751"/>
                        </a:ext>
                      </a:extLst>
                    </a:gridCol>
                    <a:gridCol w="1386407">
                      <a:extLst>
                        <a:ext uri="{9D8B030D-6E8A-4147-A177-3AD203B41FA5}">
                          <a16:colId xmlns:a16="http://schemas.microsoft.com/office/drawing/2014/main" val="508118241"/>
                        </a:ext>
                      </a:extLst>
                    </a:gridCol>
                    <a:gridCol w="1386407">
                      <a:extLst>
                        <a:ext uri="{9D8B030D-6E8A-4147-A177-3AD203B41FA5}">
                          <a16:colId xmlns:a16="http://schemas.microsoft.com/office/drawing/2014/main" val="1338298691"/>
                        </a:ext>
                      </a:extLst>
                    </a:gridCol>
                    <a:gridCol w="1386407">
                      <a:extLst>
                        <a:ext uri="{9D8B030D-6E8A-4147-A177-3AD203B41FA5}">
                          <a16:colId xmlns:a16="http://schemas.microsoft.com/office/drawing/2014/main" val="1814921034"/>
                        </a:ext>
                      </a:extLst>
                    </a:gridCol>
                  </a:tblGrid>
                  <a:tr h="766128">
                    <a:tc gridSpan="5">
                      <a:txBody>
                        <a:bodyPr/>
                        <a:lstStyle/>
                        <a:p>
                          <a:pPr algn="ctr">
                            <a:lnSpc>
                              <a:spcPct val="107000"/>
                            </a:lnSpc>
                            <a:spcAft>
                              <a:spcPts val="800"/>
                            </a:spcAft>
                          </a:pPr>
                          <a:r>
                            <a:rPr lang="en-AU" sz="2400" kern="100">
                              <a:effectLst/>
                            </a:rPr>
                            <a:t>Table 2. Probabilities of Innovation and Export, conditional on Previous Period's Experience</a:t>
                          </a:r>
                          <a:endParaRPr lang="en-AU" sz="24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45555212"/>
                      </a:ext>
                    </a:extLst>
                  </a:tr>
                  <a:tr h="374777">
                    <a:tc>
                      <a:txBody>
                        <a:bodyPr/>
                        <a:lstStyle/>
                        <a:p>
                          <a:pPr algn="ctr">
                            <a:lnSpc>
                              <a:spcPct val="107000"/>
                            </a:lnSpc>
                            <a:spcAft>
                              <a:spcPts val="800"/>
                            </a:spcAft>
                          </a:pPr>
                          <a:r>
                            <a:rPr lang="en-AU" sz="2400" kern="100">
                              <a:effectLst/>
                            </a:rPr>
                            <a:t> </a:t>
                          </a:r>
                          <a:endParaRPr lang="en-AU" sz="24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gridSpan="2">
                      <a:txBody>
                        <a:bodyPr/>
                        <a:lstStyle/>
                        <a:p>
                          <a:pPr algn="ctr">
                            <a:lnSpc>
                              <a:spcPct val="107000"/>
                            </a:lnSpc>
                            <a:spcAft>
                              <a:spcPts val="800"/>
                            </a:spcAft>
                          </a:pPr>
                          <a:r>
                            <a:rPr lang="en-AU" sz="2400" kern="100">
                              <a:effectLst/>
                            </a:rPr>
                            <a:t>[1]</a:t>
                          </a:r>
                          <a:endParaRPr lang="en-AU" sz="24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hMerge="1">
                      <a:txBody>
                        <a:bodyPr/>
                        <a:lstStyle/>
                        <a:p>
                          <a:endParaRPr lang="en-AU"/>
                        </a:p>
                      </a:txBody>
                      <a:tcPr/>
                    </a:tc>
                    <a:tc gridSpan="2">
                      <a:txBody>
                        <a:bodyPr/>
                        <a:lstStyle/>
                        <a:p>
                          <a:pPr algn="ctr">
                            <a:lnSpc>
                              <a:spcPct val="107000"/>
                            </a:lnSpc>
                            <a:spcAft>
                              <a:spcPts val="800"/>
                            </a:spcAft>
                          </a:pPr>
                          <a:r>
                            <a:rPr lang="en-AU" sz="2400" kern="100">
                              <a:effectLst/>
                            </a:rPr>
                            <a:t>[2]</a:t>
                          </a:r>
                          <a:endParaRPr lang="en-AU" sz="24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hMerge="1">
                      <a:txBody>
                        <a:bodyPr/>
                        <a:lstStyle/>
                        <a:p>
                          <a:endParaRPr lang="en-AU"/>
                        </a:p>
                      </a:txBody>
                      <a:tcPr/>
                    </a:tc>
                    <a:extLst>
                      <a:ext uri="{0D108BD9-81ED-4DB2-BD59-A6C34878D82A}">
                        <a16:rowId xmlns:a16="http://schemas.microsoft.com/office/drawing/2014/main" val="2952288361"/>
                      </a:ext>
                    </a:extLst>
                  </a:tr>
                  <a:tr h="492951">
                    <a:tc>
                      <a:txBody>
                        <a:bodyPr/>
                        <a:lstStyle/>
                        <a:p>
                          <a:pPr>
                            <a:lnSpc>
                              <a:spcPct val="107000"/>
                            </a:lnSpc>
                            <a:spcAft>
                              <a:spcPts val="800"/>
                            </a:spcAft>
                          </a:pPr>
                          <a:r>
                            <a:rPr lang="en-AU" sz="2400" kern="100">
                              <a:effectLst/>
                            </a:rPr>
                            <a:t> </a:t>
                          </a:r>
                          <a:endParaRPr lang="en-AU" sz="24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endParaRPr lang="en-US"/>
                        </a:p>
                      </a:txBody>
                      <a:tcPr marL="68580" marR="68580" marT="0" marB="0" anchor="b">
                        <a:blipFill>
                          <a:blip r:embed="rId2"/>
                          <a:stretch>
                            <a:fillRect l="-98238" t="-248148" r="-302643" b="-398765"/>
                          </a:stretch>
                        </a:blipFill>
                      </a:tcPr>
                    </a:tc>
                    <a:tc>
                      <a:txBody>
                        <a:bodyPr/>
                        <a:lstStyle/>
                        <a:p>
                          <a:endParaRPr lang="en-US"/>
                        </a:p>
                      </a:txBody>
                      <a:tcPr marL="68580" marR="68580" marT="0" marB="0" anchor="b">
                        <a:blipFill>
                          <a:blip r:embed="rId2"/>
                          <a:stretch>
                            <a:fillRect l="-197368" t="-248148" r="-201316" b="-398765"/>
                          </a:stretch>
                        </a:blipFill>
                      </a:tcPr>
                    </a:tc>
                    <a:tc>
                      <a:txBody>
                        <a:bodyPr/>
                        <a:lstStyle/>
                        <a:p>
                          <a:endParaRPr lang="en-US"/>
                        </a:p>
                      </a:txBody>
                      <a:tcPr marL="68580" marR="68580" marT="0" marB="0" anchor="b">
                        <a:blipFill>
                          <a:blip r:embed="rId2"/>
                          <a:stretch>
                            <a:fillRect l="-298678" t="-248148" r="-102203" b="-398765"/>
                          </a:stretch>
                        </a:blipFill>
                      </a:tcPr>
                    </a:tc>
                    <a:tc>
                      <a:txBody>
                        <a:bodyPr/>
                        <a:lstStyle/>
                        <a:p>
                          <a:endParaRPr lang="en-US"/>
                        </a:p>
                      </a:txBody>
                      <a:tcPr marL="68580" marR="68580" marT="0" marB="0" anchor="b">
                        <a:blipFill>
                          <a:blip r:embed="rId2"/>
                          <a:stretch>
                            <a:fillRect l="-396930" t="-248148" r="-1754" b="-398765"/>
                          </a:stretch>
                        </a:blipFill>
                      </a:tcPr>
                    </a:tc>
                    <a:extLst>
                      <a:ext uri="{0D108BD9-81ED-4DB2-BD59-A6C34878D82A}">
                        <a16:rowId xmlns:a16="http://schemas.microsoft.com/office/drawing/2014/main" val="3555535744"/>
                      </a:ext>
                    </a:extLst>
                  </a:tr>
                  <a:tr h="492951">
                    <a:tc>
                      <a:txBody>
                        <a:bodyPr/>
                        <a:lstStyle/>
                        <a:p>
                          <a:endParaRPr lang="en-US"/>
                        </a:p>
                      </a:txBody>
                      <a:tcPr marL="68580" marR="68580" marT="0" marB="0" anchor="b">
                        <a:blipFill>
                          <a:blip r:embed="rId2"/>
                          <a:stretch>
                            <a:fillRect l="-450" t="-348148" r="-411712" b="-298765"/>
                          </a:stretch>
                        </a:blipFill>
                      </a:tcPr>
                    </a:tc>
                    <a:tc>
                      <a:txBody>
                        <a:bodyPr/>
                        <a:lstStyle/>
                        <a:p>
                          <a:pPr algn="r">
                            <a:lnSpc>
                              <a:spcPct val="107000"/>
                            </a:lnSpc>
                            <a:spcAft>
                              <a:spcPts val="800"/>
                            </a:spcAft>
                          </a:pPr>
                          <a:r>
                            <a:rPr lang="en-AU" sz="2400" kern="100">
                              <a:effectLst/>
                            </a:rPr>
                            <a:t>0.887976</a:t>
                          </a:r>
                          <a:endParaRPr lang="en-AU" sz="24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400" kern="100">
                              <a:effectLst/>
                            </a:rPr>
                            <a:t>0.112024</a:t>
                          </a:r>
                          <a:endParaRPr lang="en-AU" sz="24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400" kern="100">
                              <a:effectLst/>
                            </a:rPr>
                            <a:t>0.780833</a:t>
                          </a:r>
                          <a:endParaRPr lang="en-AU" sz="24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400" kern="100">
                              <a:effectLst/>
                            </a:rPr>
                            <a:t>0.219167</a:t>
                          </a:r>
                          <a:endParaRPr lang="en-AU" sz="24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775252164"/>
                      </a:ext>
                    </a:extLst>
                  </a:tr>
                  <a:tr h="492951">
                    <a:tc>
                      <a:txBody>
                        <a:bodyPr/>
                        <a:lstStyle/>
                        <a:p>
                          <a:endParaRPr lang="en-US"/>
                        </a:p>
                      </a:txBody>
                      <a:tcPr marL="68580" marR="68580" marT="0" marB="0" anchor="b">
                        <a:blipFill>
                          <a:blip r:embed="rId2"/>
                          <a:stretch>
                            <a:fillRect l="-450" t="-448148" r="-411712" b="-198765"/>
                          </a:stretch>
                        </a:blipFill>
                      </a:tcPr>
                    </a:tc>
                    <a:tc>
                      <a:txBody>
                        <a:bodyPr/>
                        <a:lstStyle/>
                        <a:p>
                          <a:pPr algn="r">
                            <a:lnSpc>
                              <a:spcPct val="107000"/>
                            </a:lnSpc>
                            <a:spcAft>
                              <a:spcPts val="800"/>
                            </a:spcAft>
                          </a:pPr>
                          <a:r>
                            <a:rPr lang="en-AU" sz="2400" kern="100">
                              <a:effectLst/>
                            </a:rPr>
                            <a:t>0.198795</a:t>
                          </a:r>
                          <a:endParaRPr lang="en-AU" sz="24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400" kern="100">
                              <a:effectLst/>
                            </a:rPr>
                            <a:t>0.801205</a:t>
                          </a:r>
                          <a:endParaRPr lang="en-AU" sz="24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400" kern="100">
                              <a:effectLst/>
                            </a:rPr>
                            <a:t>0.121311</a:t>
                          </a:r>
                          <a:endParaRPr lang="en-AU" sz="24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400" kern="100">
                              <a:effectLst/>
                            </a:rPr>
                            <a:t>0.878689</a:t>
                          </a:r>
                          <a:endParaRPr lang="en-AU" sz="24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380214836"/>
                      </a:ext>
                    </a:extLst>
                  </a:tr>
                  <a:tr h="807212">
                    <a:tc gridSpan="5">
                      <a:txBody>
                        <a:bodyPr/>
                        <a:lstStyle/>
                        <a:p>
                          <a:endParaRPr lang="en-US"/>
                        </a:p>
                      </a:txBody>
                      <a:tcPr marL="68580" marR="68580" marT="0" marB="0" anchor="b">
                        <a:blipFill>
                          <a:blip r:embed="rId2"/>
                          <a:stretch>
                            <a:fillRect l="-88" t="-333835" r="-353" b="-21053"/>
                          </a:stretch>
                        </a:blipFill>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242656079"/>
                      </a:ext>
                    </a:extLst>
                  </a:tr>
                </a:tbl>
              </a:graphicData>
            </a:graphic>
          </p:graphicFrame>
        </mc:Fallback>
      </mc:AlternateContent>
    </p:spTree>
    <p:extLst>
      <p:ext uri="{BB962C8B-B14F-4D97-AF65-F5344CB8AC3E}">
        <p14:creationId xmlns:p14="http://schemas.microsoft.com/office/powerpoint/2010/main" val="18286964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6B6DA-2FF0-0E0C-FC48-A6E01B09F991}"/>
              </a:ext>
            </a:extLst>
          </p:cNvPr>
          <p:cNvSpPr>
            <a:spLocks noGrp="1"/>
          </p:cNvSpPr>
          <p:nvPr>
            <p:ph type="title"/>
          </p:nvPr>
        </p:nvSpPr>
        <p:spPr/>
        <p:txBody>
          <a:bodyPr/>
          <a:lstStyle/>
          <a:p>
            <a:r>
              <a:rPr lang="en-AU" dirty="0"/>
              <a:t>Data and Variables</a:t>
            </a: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07431C84-18D3-D64C-0596-697C2A7725F7}"/>
                  </a:ext>
                </a:extLst>
              </p:cNvPr>
              <p:cNvGraphicFramePr>
                <a:graphicFrameLocks noGrp="1"/>
              </p:cNvGraphicFramePr>
              <p:nvPr>
                <p:ph idx="1"/>
                <p:extLst>
                  <p:ext uri="{D42A27DB-BD31-4B8C-83A1-F6EECF244321}">
                    <p14:modId xmlns:p14="http://schemas.microsoft.com/office/powerpoint/2010/main" val="3290271229"/>
                  </p:ext>
                </p:extLst>
              </p:nvPr>
            </p:nvGraphicFramePr>
            <p:xfrm>
              <a:off x="1926993" y="1731611"/>
              <a:ext cx="7217009" cy="2233930"/>
            </p:xfrm>
            <a:graphic>
              <a:graphicData uri="http://schemas.openxmlformats.org/drawingml/2006/table">
                <a:tbl>
                  <a:tblPr firstRow="1" firstCol="1" bandRow="1">
                    <a:tableStyleId>{5C22544A-7EE6-4342-B048-85BDC9FD1C3A}</a:tableStyleId>
                  </a:tblPr>
                  <a:tblGrid>
                    <a:gridCol w="1036335">
                      <a:extLst>
                        <a:ext uri="{9D8B030D-6E8A-4147-A177-3AD203B41FA5}">
                          <a16:colId xmlns:a16="http://schemas.microsoft.com/office/drawing/2014/main" val="984746901"/>
                        </a:ext>
                      </a:extLst>
                    </a:gridCol>
                    <a:gridCol w="1227053">
                      <a:extLst>
                        <a:ext uri="{9D8B030D-6E8A-4147-A177-3AD203B41FA5}">
                          <a16:colId xmlns:a16="http://schemas.microsoft.com/office/drawing/2014/main" val="1726195631"/>
                        </a:ext>
                      </a:extLst>
                    </a:gridCol>
                    <a:gridCol w="1227053">
                      <a:extLst>
                        <a:ext uri="{9D8B030D-6E8A-4147-A177-3AD203B41FA5}">
                          <a16:colId xmlns:a16="http://schemas.microsoft.com/office/drawing/2014/main" val="2520324096"/>
                        </a:ext>
                      </a:extLst>
                    </a:gridCol>
                    <a:gridCol w="278509">
                      <a:extLst>
                        <a:ext uri="{9D8B030D-6E8A-4147-A177-3AD203B41FA5}">
                          <a16:colId xmlns:a16="http://schemas.microsoft.com/office/drawing/2014/main" val="2343643172"/>
                        </a:ext>
                      </a:extLst>
                    </a:gridCol>
                    <a:gridCol w="1094862">
                      <a:extLst>
                        <a:ext uri="{9D8B030D-6E8A-4147-A177-3AD203B41FA5}">
                          <a16:colId xmlns:a16="http://schemas.microsoft.com/office/drawing/2014/main" val="3610225570"/>
                        </a:ext>
                      </a:extLst>
                    </a:gridCol>
                    <a:gridCol w="1126144">
                      <a:extLst>
                        <a:ext uri="{9D8B030D-6E8A-4147-A177-3AD203B41FA5}">
                          <a16:colId xmlns:a16="http://schemas.microsoft.com/office/drawing/2014/main" val="2289854738"/>
                        </a:ext>
                      </a:extLst>
                    </a:gridCol>
                    <a:gridCol w="1227053">
                      <a:extLst>
                        <a:ext uri="{9D8B030D-6E8A-4147-A177-3AD203B41FA5}">
                          <a16:colId xmlns:a16="http://schemas.microsoft.com/office/drawing/2014/main" val="1049321257"/>
                        </a:ext>
                      </a:extLst>
                    </a:gridCol>
                  </a:tblGrid>
                  <a:tr h="184150">
                    <a:tc gridSpan="7">
                      <a:txBody>
                        <a:bodyPr/>
                        <a:lstStyle/>
                        <a:p>
                          <a:pPr algn="ctr">
                            <a:lnSpc>
                              <a:spcPct val="107000"/>
                            </a:lnSpc>
                            <a:spcAft>
                              <a:spcPts val="800"/>
                            </a:spcAft>
                          </a:pPr>
                          <a:r>
                            <a:rPr lang="en-AU" sz="2000" kern="100" dirty="0">
                              <a:effectLst/>
                            </a:rPr>
                            <a:t>	 Table 3. Probabilities of Innovation/Export, conditional on Contemporaneous Export/Innovation</a:t>
                          </a:r>
                          <a:endParaRPr lang="en-AU" sz="20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431485910"/>
                      </a:ext>
                    </a:extLst>
                  </a:tr>
                  <a:tr h="184150">
                    <a:tc>
                      <a:txBody>
                        <a:bodyPr/>
                        <a:lstStyle/>
                        <a:p>
                          <a:pPr algn="ctr">
                            <a:lnSpc>
                              <a:spcPct val="107000"/>
                            </a:lnSpc>
                            <a:spcAft>
                              <a:spcPts val="800"/>
                            </a:spcAft>
                          </a:pPr>
                          <a:r>
                            <a:rPr lang="en-AU" sz="2000" kern="100">
                              <a:effectLst/>
                            </a:rPr>
                            <a:t> </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gridSpan="2">
                      <a:txBody>
                        <a:bodyPr/>
                        <a:lstStyle/>
                        <a:p>
                          <a:pPr algn="ctr">
                            <a:lnSpc>
                              <a:spcPct val="107000"/>
                            </a:lnSpc>
                            <a:spcAft>
                              <a:spcPts val="800"/>
                            </a:spcAft>
                          </a:pPr>
                          <a:r>
                            <a:rPr lang="en-AU" sz="2000" kern="100">
                              <a:effectLst/>
                            </a:rPr>
                            <a:t>[1] </a:t>
                          </a:r>
                          <a14:m>
                            <m:oMath xmlns:m="http://schemas.openxmlformats.org/officeDocument/2006/math">
                              <m:r>
                                <a:rPr lang="en-AU" sz="2000" kern="100">
                                  <a:effectLst/>
                                  <a:latin typeface="Cambria Math" panose="02040503050406030204" pitchFamily="18" charset="0"/>
                                </a:rPr>
                                <m:t>𝑃𝑟</m:t>
                              </m:r>
                              <m:r>
                                <a:rPr lang="en-AU" sz="2000" kern="100">
                                  <a:effectLst/>
                                  <a:latin typeface="Cambria Math" panose="02040503050406030204" pitchFamily="18" charset="0"/>
                                </a:rPr>
                                <m:t>(</m:t>
                              </m:r>
                              <m:sSub>
                                <m:sSubPr>
                                  <m:ctrlPr>
                                    <a:rPr lang="en-AU" sz="2000" i="1" kern="100">
                                      <a:effectLst/>
                                      <a:latin typeface="Cambria Math" panose="02040503050406030204" pitchFamily="18" charset="0"/>
                                    </a:rPr>
                                  </m:ctrlPr>
                                </m:sSubPr>
                                <m:e>
                                  <m:r>
                                    <a:rPr lang="en-AU" sz="2000" kern="100">
                                      <a:effectLst/>
                                      <a:latin typeface="Cambria Math" panose="02040503050406030204" pitchFamily="18" charset="0"/>
                                    </a:rPr>
                                    <m:t>𝜒</m:t>
                                  </m:r>
                                </m:e>
                                <m:sub>
                                  <m:r>
                                    <a:rPr lang="en-AU" sz="2000" kern="100">
                                      <a:effectLst/>
                                      <a:latin typeface="Cambria Math" panose="02040503050406030204" pitchFamily="18" charset="0"/>
                                    </a:rPr>
                                    <m:t>1</m:t>
                                  </m:r>
                                </m:sub>
                              </m:sSub>
                              <m:r>
                                <a:rPr lang="en-AU" sz="2000" kern="100">
                                  <a:effectLst/>
                                  <a:latin typeface="Cambria Math" panose="02040503050406030204" pitchFamily="18" charset="0"/>
                                </a:rPr>
                                <m:t>|</m:t>
                              </m:r>
                              <m:sSub>
                                <m:sSubPr>
                                  <m:ctrlPr>
                                    <a:rPr lang="en-AU" sz="2000" i="1" kern="100">
                                      <a:effectLst/>
                                      <a:latin typeface="Cambria Math" panose="02040503050406030204" pitchFamily="18" charset="0"/>
                                    </a:rPr>
                                  </m:ctrlPr>
                                </m:sSubPr>
                                <m:e>
                                  <m:r>
                                    <a:rPr lang="en-AU" sz="2000" kern="100">
                                      <a:effectLst/>
                                      <a:latin typeface="Cambria Math" panose="02040503050406030204" pitchFamily="18" charset="0"/>
                                    </a:rPr>
                                    <m:t>𝜒</m:t>
                                  </m:r>
                                </m:e>
                                <m:sub>
                                  <m:r>
                                    <a:rPr lang="en-AU" sz="2000" kern="100">
                                      <a:effectLst/>
                                      <a:latin typeface="Cambria Math" panose="02040503050406030204" pitchFamily="18" charset="0"/>
                                    </a:rPr>
                                    <m:t>2</m:t>
                                  </m:r>
                                </m:sub>
                              </m:sSub>
                              <m:r>
                                <a:rPr lang="en-AU" sz="2000" kern="100">
                                  <a:effectLst/>
                                  <a:latin typeface="Cambria Math" panose="02040503050406030204" pitchFamily="18" charset="0"/>
                                </a:rPr>
                                <m:t>)</m:t>
                              </m:r>
                            </m:oMath>
                          </a14:m>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hMerge="1">
                      <a:txBody>
                        <a:bodyPr/>
                        <a:lstStyle/>
                        <a:p>
                          <a:endParaRPr lang="en-AU"/>
                        </a:p>
                      </a:txBody>
                      <a:tcPr/>
                    </a:tc>
                    <a:tc>
                      <a:txBody>
                        <a:bodyPr/>
                        <a:lstStyle/>
                        <a:p>
                          <a:endParaRPr lang="en-AU" sz="2000" kern="100">
                            <a:effectLst/>
                            <a:latin typeface="DengXian" panose="02010600030101010101" pitchFamily="2" charset="-122"/>
                            <a:ea typeface="DengXian" panose="02010600030101010101" pitchFamily="2" charset="-122"/>
                          </a:endParaRPr>
                        </a:p>
                      </a:txBody>
                      <a:tcPr marL="68580" marR="68580" marT="0" marB="0" anchor="b"/>
                    </a:tc>
                    <a:tc>
                      <a:txBody>
                        <a:bodyPr/>
                        <a:lstStyle/>
                        <a:p>
                          <a:pPr algn="ctr">
                            <a:lnSpc>
                              <a:spcPct val="107000"/>
                            </a:lnSpc>
                            <a:spcAft>
                              <a:spcPts val="800"/>
                            </a:spcAft>
                          </a:pPr>
                          <a:r>
                            <a:rPr lang="en-AU" sz="2000" kern="100">
                              <a:effectLst/>
                            </a:rPr>
                            <a:t> </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gridSpan="2">
                      <a:txBody>
                        <a:bodyPr/>
                        <a:lstStyle/>
                        <a:p>
                          <a:pPr algn="ctr">
                            <a:lnSpc>
                              <a:spcPct val="107000"/>
                            </a:lnSpc>
                            <a:spcAft>
                              <a:spcPts val="800"/>
                            </a:spcAft>
                          </a:pPr>
                          <a:r>
                            <a:rPr lang="en-AU" sz="2000" kern="100">
                              <a:effectLst/>
                            </a:rPr>
                            <a:t>[2] </a:t>
                          </a:r>
                          <a14:m>
                            <m:oMath xmlns:m="http://schemas.openxmlformats.org/officeDocument/2006/math">
                              <m:r>
                                <a:rPr lang="en-AU" sz="2000" kern="100">
                                  <a:effectLst/>
                                  <a:latin typeface="Cambria Math" panose="02040503050406030204" pitchFamily="18" charset="0"/>
                                </a:rPr>
                                <m:t>𝑃𝑟</m:t>
                              </m:r>
                              <m:r>
                                <a:rPr lang="en-AU" sz="2000" kern="100">
                                  <a:effectLst/>
                                  <a:latin typeface="Cambria Math" panose="02040503050406030204" pitchFamily="18" charset="0"/>
                                </a:rPr>
                                <m:t>(</m:t>
                              </m:r>
                              <m:sSub>
                                <m:sSubPr>
                                  <m:ctrlPr>
                                    <a:rPr lang="en-AU" sz="2000" i="1" kern="100">
                                      <a:effectLst/>
                                      <a:latin typeface="Cambria Math" panose="02040503050406030204" pitchFamily="18" charset="0"/>
                                    </a:rPr>
                                  </m:ctrlPr>
                                </m:sSubPr>
                                <m:e>
                                  <m:r>
                                    <a:rPr lang="en-AU" sz="2000" kern="100">
                                      <a:effectLst/>
                                      <a:latin typeface="Cambria Math" panose="02040503050406030204" pitchFamily="18" charset="0"/>
                                    </a:rPr>
                                    <m:t>𝜒</m:t>
                                  </m:r>
                                </m:e>
                                <m:sub>
                                  <m:r>
                                    <a:rPr lang="en-AU" sz="2000" kern="100">
                                      <a:effectLst/>
                                      <a:latin typeface="Cambria Math" panose="02040503050406030204" pitchFamily="18" charset="0"/>
                                    </a:rPr>
                                    <m:t>2</m:t>
                                  </m:r>
                                </m:sub>
                              </m:sSub>
                              <m:r>
                                <a:rPr lang="en-AU" sz="2000" kern="100">
                                  <a:effectLst/>
                                  <a:latin typeface="Cambria Math" panose="02040503050406030204" pitchFamily="18" charset="0"/>
                                </a:rPr>
                                <m:t>|</m:t>
                              </m:r>
                              <m:sSub>
                                <m:sSubPr>
                                  <m:ctrlPr>
                                    <a:rPr lang="en-AU" sz="2000" i="1" kern="100">
                                      <a:effectLst/>
                                      <a:latin typeface="Cambria Math" panose="02040503050406030204" pitchFamily="18" charset="0"/>
                                    </a:rPr>
                                  </m:ctrlPr>
                                </m:sSubPr>
                                <m:e>
                                  <m:r>
                                    <a:rPr lang="en-AU" sz="2000" kern="100">
                                      <a:effectLst/>
                                      <a:latin typeface="Cambria Math" panose="02040503050406030204" pitchFamily="18" charset="0"/>
                                    </a:rPr>
                                    <m:t>𝜒</m:t>
                                  </m:r>
                                </m:e>
                                <m:sub>
                                  <m:r>
                                    <a:rPr lang="en-AU" sz="2000" kern="100">
                                      <a:effectLst/>
                                      <a:latin typeface="Cambria Math" panose="02040503050406030204" pitchFamily="18" charset="0"/>
                                    </a:rPr>
                                    <m:t>1</m:t>
                                  </m:r>
                                </m:sub>
                              </m:sSub>
                              <m:r>
                                <a:rPr lang="en-AU" sz="2000" kern="100">
                                  <a:effectLst/>
                                  <a:latin typeface="Cambria Math" panose="02040503050406030204" pitchFamily="18" charset="0"/>
                                </a:rPr>
                                <m:t>)</m:t>
                              </m:r>
                            </m:oMath>
                          </a14:m>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hMerge="1">
                      <a:txBody>
                        <a:bodyPr/>
                        <a:lstStyle/>
                        <a:p>
                          <a:endParaRPr lang="en-AU"/>
                        </a:p>
                      </a:txBody>
                      <a:tcPr/>
                    </a:tc>
                    <a:extLst>
                      <a:ext uri="{0D108BD9-81ED-4DB2-BD59-A6C34878D82A}">
                        <a16:rowId xmlns:a16="http://schemas.microsoft.com/office/drawing/2014/main" val="4078728129"/>
                      </a:ext>
                    </a:extLst>
                  </a:tr>
                  <a:tr h="184150">
                    <a:tc>
                      <a:txBody>
                        <a:bodyPr/>
                        <a:lstStyle/>
                        <a:p>
                          <a:pPr>
                            <a:lnSpc>
                              <a:spcPct val="107000"/>
                            </a:lnSpc>
                            <a:spcAft>
                              <a:spcPts val="800"/>
                            </a:spcAft>
                          </a:pPr>
                          <a:r>
                            <a:rPr lang="en-AU" sz="2000" kern="100">
                              <a:effectLst/>
                            </a:rPr>
                            <a:t> </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AU" sz="2000" i="1" kern="100">
                                        <a:effectLst/>
                                        <a:latin typeface="Cambria Math" panose="02040503050406030204" pitchFamily="18" charset="0"/>
                                      </a:rPr>
                                    </m:ctrlPr>
                                  </m:sSubPr>
                                  <m:e>
                                    <m:r>
                                      <a:rPr lang="en-AU" sz="2000" kern="100">
                                        <a:effectLst/>
                                        <a:latin typeface="Cambria Math" panose="02040503050406030204" pitchFamily="18" charset="0"/>
                                      </a:rPr>
                                      <m:t>𝜒</m:t>
                                    </m:r>
                                  </m:e>
                                  <m:sub>
                                    <m:r>
                                      <a:rPr lang="en-AU" sz="2000" kern="100">
                                        <a:effectLst/>
                                        <a:latin typeface="Cambria Math" panose="02040503050406030204" pitchFamily="18" charset="0"/>
                                      </a:rPr>
                                      <m:t>1</m:t>
                                    </m:r>
                                  </m:sub>
                                </m:sSub>
                                <m:r>
                                  <a:rPr lang="en-AU" sz="2000" kern="100">
                                    <a:effectLst/>
                                    <a:latin typeface="Cambria Math" panose="02040503050406030204" pitchFamily="18" charset="0"/>
                                  </a:rPr>
                                  <m:t>=0</m:t>
                                </m:r>
                              </m:oMath>
                            </m:oMathPara>
                          </a14:m>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AU" sz="2000" i="1" kern="100">
                                        <a:effectLst/>
                                        <a:latin typeface="Cambria Math" panose="02040503050406030204" pitchFamily="18" charset="0"/>
                                      </a:rPr>
                                    </m:ctrlPr>
                                  </m:sSubPr>
                                  <m:e>
                                    <m:r>
                                      <a:rPr lang="en-AU" sz="2000" kern="100">
                                        <a:effectLst/>
                                        <a:latin typeface="Cambria Math" panose="02040503050406030204" pitchFamily="18" charset="0"/>
                                      </a:rPr>
                                      <m:t>𝜒</m:t>
                                    </m:r>
                                  </m:e>
                                  <m:sub>
                                    <m:r>
                                      <a:rPr lang="en-AU" sz="2000" kern="100">
                                        <a:effectLst/>
                                        <a:latin typeface="Cambria Math" panose="02040503050406030204" pitchFamily="18" charset="0"/>
                                      </a:rPr>
                                      <m:t>1</m:t>
                                    </m:r>
                                  </m:sub>
                                </m:sSub>
                                <m:r>
                                  <a:rPr lang="en-AU" sz="2000" kern="100">
                                    <a:effectLst/>
                                    <a:latin typeface="Cambria Math" panose="02040503050406030204" pitchFamily="18" charset="0"/>
                                  </a:rPr>
                                  <m:t>=1</m:t>
                                </m:r>
                              </m:oMath>
                            </m:oMathPara>
                          </a14:m>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endParaRPr lang="en-AU" sz="2000" kern="100">
                            <a:effectLst/>
                            <a:latin typeface="DengXian" panose="02010600030101010101" pitchFamily="2" charset="-122"/>
                            <a:ea typeface="DengXian" panose="02010600030101010101" pitchFamily="2" charset="-122"/>
                          </a:endParaRPr>
                        </a:p>
                      </a:txBody>
                      <a:tcPr marL="68580" marR="68580" marT="0" marB="0" anchor="b"/>
                    </a:tc>
                    <a:tc>
                      <a:txBody>
                        <a:bodyPr/>
                        <a:lstStyle/>
                        <a:p>
                          <a:pPr>
                            <a:lnSpc>
                              <a:spcPct val="107000"/>
                            </a:lnSpc>
                            <a:spcAft>
                              <a:spcPts val="800"/>
                            </a:spcAft>
                          </a:pPr>
                          <a:r>
                            <a:rPr lang="en-AU" sz="2000" kern="100">
                              <a:effectLst/>
                            </a:rPr>
                            <a:t> </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AU" sz="2000" i="1" kern="100">
                                        <a:effectLst/>
                                        <a:latin typeface="Cambria Math" panose="02040503050406030204" pitchFamily="18" charset="0"/>
                                      </a:rPr>
                                    </m:ctrlPr>
                                  </m:sSubPr>
                                  <m:e>
                                    <m:r>
                                      <a:rPr lang="en-AU" sz="2000" kern="100">
                                        <a:effectLst/>
                                        <a:latin typeface="Cambria Math" panose="02040503050406030204" pitchFamily="18" charset="0"/>
                                      </a:rPr>
                                      <m:t>𝜒</m:t>
                                    </m:r>
                                  </m:e>
                                  <m:sub>
                                    <m:r>
                                      <a:rPr lang="en-AU" sz="2000" kern="100">
                                        <a:effectLst/>
                                        <a:latin typeface="Cambria Math" panose="02040503050406030204" pitchFamily="18" charset="0"/>
                                      </a:rPr>
                                      <m:t>2</m:t>
                                    </m:r>
                                  </m:sub>
                                </m:sSub>
                                <m:r>
                                  <a:rPr lang="en-AU" sz="2000" kern="100">
                                    <a:effectLst/>
                                    <a:latin typeface="Cambria Math" panose="02040503050406030204" pitchFamily="18" charset="0"/>
                                  </a:rPr>
                                  <m:t>=0</m:t>
                                </m:r>
                              </m:oMath>
                            </m:oMathPara>
                          </a14:m>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AU" sz="2000" i="1" kern="100">
                                        <a:effectLst/>
                                        <a:latin typeface="Cambria Math" panose="02040503050406030204" pitchFamily="18" charset="0"/>
                                      </a:rPr>
                                    </m:ctrlPr>
                                  </m:sSubPr>
                                  <m:e>
                                    <m:r>
                                      <a:rPr lang="en-AU" sz="2000" kern="100">
                                        <a:effectLst/>
                                        <a:latin typeface="Cambria Math" panose="02040503050406030204" pitchFamily="18" charset="0"/>
                                      </a:rPr>
                                      <m:t>𝜒</m:t>
                                    </m:r>
                                  </m:e>
                                  <m:sub>
                                    <m:r>
                                      <a:rPr lang="en-AU" sz="2000" kern="100">
                                        <a:effectLst/>
                                        <a:latin typeface="Cambria Math" panose="02040503050406030204" pitchFamily="18" charset="0"/>
                                      </a:rPr>
                                      <m:t>2</m:t>
                                    </m:r>
                                  </m:sub>
                                </m:sSub>
                                <m:r>
                                  <a:rPr lang="en-AU" sz="2000" kern="100">
                                    <a:effectLst/>
                                    <a:latin typeface="Cambria Math" panose="02040503050406030204" pitchFamily="18" charset="0"/>
                                  </a:rPr>
                                  <m:t>=1</m:t>
                                </m:r>
                              </m:oMath>
                            </m:oMathPara>
                          </a14:m>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1506258703"/>
                      </a:ext>
                    </a:extLst>
                  </a:tr>
                  <a:tr h="184150">
                    <a:tc>
                      <a:txBody>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AU" sz="2000" i="1" kern="100">
                                        <a:effectLst/>
                                        <a:latin typeface="Cambria Math" panose="02040503050406030204" pitchFamily="18" charset="0"/>
                                      </a:rPr>
                                    </m:ctrlPr>
                                  </m:sSubPr>
                                  <m:e>
                                    <m:r>
                                      <a:rPr lang="en-AU" sz="2000" kern="100">
                                        <a:effectLst/>
                                        <a:latin typeface="Cambria Math" panose="02040503050406030204" pitchFamily="18" charset="0"/>
                                      </a:rPr>
                                      <m:t>𝜒</m:t>
                                    </m:r>
                                  </m:e>
                                  <m:sub>
                                    <m:r>
                                      <a:rPr lang="en-AU" sz="2000" kern="100">
                                        <a:effectLst/>
                                        <a:latin typeface="Cambria Math" panose="02040503050406030204" pitchFamily="18" charset="0"/>
                                      </a:rPr>
                                      <m:t>2</m:t>
                                    </m:r>
                                  </m:sub>
                                </m:sSub>
                                <m:r>
                                  <a:rPr lang="en-AU" sz="2000" kern="100">
                                    <a:effectLst/>
                                    <a:latin typeface="Cambria Math" panose="02040503050406030204" pitchFamily="18" charset="0"/>
                                  </a:rPr>
                                  <m:t>=0</m:t>
                                </m:r>
                              </m:oMath>
                            </m:oMathPara>
                          </a14:m>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0.870637</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0.129363</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endParaRPr lang="en-AU" sz="2000" kern="100">
                            <a:effectLst/>
                            <a:latin typeface="DengXian" panose="02010600030101010101" pitchFamily="2" charset="-122"/>
                            <a:ea typeface="DengXian" panose="02010600030101010101" pitchFamily="2" charset="-122"/>
                          </a:endParaRPr>
                        </a:p>
                      </a:txBody>
                      <a:tcPr marL="68580" marR="68580" marT="0" marB="0" anchor="b"/>
                    </a:tc>
                    <a:tc>
                      <a:txBody>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AU" sz="2000" i="1" kern="100">
                                        <a:effectLst/>
                                        <a:latin typeface="Cambria Math" panose="02040503050406030204" pitchFamily="18" charset="0"/>
                                      </a:rPr>
                                    </m:ctrlPr>
                                  </m:sSubPr>
                                  <m:e>
                                    <m:r>
                                      <a:rPr lang="en-AU" sz="2000" kern="100">
                                        <a:effectLst/>
                                        <a:latin typeface="Cambria Math" panose="02040503050406030204" pitchFamily="18" charset="0"/>
                                      </a:rPr>
                                      <m:t>𝜒</m:t>
                                    </m:r>
                                  </m:e>
                                  <m:sub>
                                    <m:r>
                                      <a:rPr lang="en-AU" sz="2000" kern="100">
                                        <a:effectLst/>
                                        <a:latin typeface="Cambria Math" panose="02040503050406030204" pitchFamily="18" charset="0"/>
                                      </a:rPr>
                                      <m:t>1</m:t>
                                    </m:r>
                                  </m:sub>
                                </m:sSub>
                                <m:r>
                                  <a:rPr lang="en-AU" sz="2000" kern="100">
                                    <a:effectLst/>
                                    <a:latin typeface="Cambria Math" panose="02040503050406030204" pitchFamily="18" charset="0"/>
                                  </a:rPr>
                                  <m:t>=0</m:t>
                                </m:r>
                              </m:oMath>
                            </m:oMathPara>
                          </a14:m>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0.693944</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0.306056</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3615820947"/>
                      </a:ext>
                    </a:extLst>
                  </a:tr>
                  <a:tr h="184150">
                    <a:tc>
                      <a:txBody>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AU" sz="2000" i="1" kern="100">
                                        <a:effectLst/>
                                        <a:latin typeface="Cambria Math" panose="02040503050406030204" pitchFamily="18" charset="0"/>
                                      </a:rPr>
                                    </m:ctrlPr>
                                  </m:sSubPr>
                                  <m:e>
                                    <m:r>
                                      <a:rPr lang="en-AU" sz="2000" kern="100">
                                        <a:effectLst/>
                                        <a:latin typeface="Cambria Math" panose="02040503050406030204" pitchFamily="18" charset="0"/>
                                      </a:rPr>
                                      <m:t>𝜒</m:t>
                                    </m:r>
                                  </m:e>
                                  <m:sub>
                                    <m:r>
                                      <a:rPr lang="en-AU" sz="2000" kern="100">
                                        <a:effectLst/>
                                        <a:latin typeface="Cambria Math" panose="02040503050406030204" pitchFamily="18" charset="0"/>
                                      </a:rPr>
                                      <m:t>2</m:t>
                                    </m:r>
                                  </m:sub>
                                </m:sSub>
                                <m:r>
                                  <a:rPr lang="en-AU" sz="2000" kern="100">
                                    <a:effectLst/>
                                    <a:latin typeface="Cambria Math" panose="02040503050406030204" pitchFamily="18" charset="0"/>
                                  </a:rPr>
                                  <m:t>=1</m:t>
                                </m:r>
                              </m:oMath>
                            </m:oMathPara>
                          </a14:m>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0.704331</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0.295669</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nSpc>
                              <a:spcPct val="107000"/>
                            </a:lnSpc>
                            <a:spcAft>
                              <a:spcPts val="800"/>
                            </a:spcAft>
                          </a:pPr>
                          <a:r>
                            <a:rPr lang="en-AU" sz="2000" kern="100">
                              <a:effectLst/>
                            </a:rPr>
                            <a:t> </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AU" sz="2000" i="1" kern="100">
                                        <a:effectLst/>
                                        <a:latin typeface="Cambria Math" panose="02040503050406030204" pitchFamily="18" charset="0"/>
                                      </a:rPr>
                                    </m:ctrlPr>
                                  </m:sSubPr>
                                  <m:e>
                                    <m:r>
                                      <a:rPr lang="en-AU" sz="2000" kern="100">
                                        <a:effectLst/>
                                        <a:latin typeface="Cambria Math" panose="02040503050406030204" pitchFamily="18" charset="0"/>
                                      </a:rPr>
                                      <m:t>𝜒</m:t>
                                    </m:r>
                                  </m:e>
                                  <m:sub>
                                    <m:r>
                                      <a:rPr lang="en-AU" sz="2000" kern="100">
                                        <a:effectLst/>
                                        <a:latin typeface="Cambria Math" panose="02040503050406030204" pitchFamily="18" charset="0"/>
                                      </a:rPr>
                                      <m:t>1</m:t>
                                    </m:r>
                                  </m:sub>
                                </m:sSub>
                                <m:r>
                                  <a:rPr lang="en-AU" sz="2000" kern="100">
                                    <a:effectLst/>
                                    <a:latin typeface="Cambria Math" panose="02040503050406030204" pitchFamily="18" charset="0"/>
                                  </a:rPr>
                                  <m:t>=1</m:t>
                                </m:r>
                              </m:oMath>
                            </m:oMathPara>
                          </a14:m>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0.44523</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dirty="0">
                              <a:effectLst/>
                            </a:rPr>
                            <a:t>0.55477</a:t>
                          </a:r>
                          <a:endParaRPr lang="en-AU" sz="20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4149056705"/>
                      </a:ext>
                    </a:extLst>
                  </a:tr>
                </a:tbl>
              </a:graphicData>
            </a:graphic>
          </p:graphicFrame>
        </mc:Choice>
        <mc:Fallback xmlns="">
          <p:graphicFrame>
            <p:nvGraphicFramePr>
              <p:cNvPr id="4" name="Content Placeholder 3">
                <a:extLst>
                  <a:ext uri="{FF2B5EF4-FFF2-40B4-BE49-F238E27FC236}">
                    <a16:creationId xmlns:a16="http://schemas.microsoft.com/office/drawing/2014/main" id="{07431C84-18D3-D64C-0596-697C2A7725F7}"/>
                  </a:ext>
                </a:extLst>
              </p:cNvPr>
              <p:cNvGraphicFramePr>
                <a:graphicFrameLocks noGrp="1"/>
              </p:cNvGraphicFramePr>
              <p:nvPr>
                <p:ph idx="1"/>
                <p:extLst>
                  <p:ext uri="{D42A27DB-BD31-4B8C-83A1-F6EECF244321}">
                    <p14:modId xmlns:p14="http://schemas.microsoft.com/office/powerpoint/2010/main" val="3290271229"/>
                  </p:ext>
                </p:extLst>
              </p:nvPr>
            </p:nvGraphicFramePr>
            <p:xfrm>
              <a:off x="1926993" y="1731611"/>
              <a:ext cx="7217009" cy="2233930"/>
            </p:xfrm>
            <a:graphic>
              <a:graphicData uri="http://schemas.openxmlformats.org/drawingml/2006/table">
                <a:tbl>
                  <a:tblPr firstRow="1" firstCol="1" bandRow="1">
                    <a:tableStyleId>{5C22544A-7EE6-4342-B048-85BDC9FD1C3A}</a:tableStyleId>
                  </a:tblPr>
                  <a:tblGrid>
                    <a:gridCol w="1036335">
                      <a:extLst>
                        <a:ext uri="{9D8B030D-6E8A-4147-A177-3AD203B41FA5}">
                          <a16:colId xmlns:a16="http://schemas.microsoft.com/office/drawing/2014/main" val="984746901"/>
                        </a:ext>
                      </a:extLst>
                    </a:gridCol>
                    <a:gridCol w="1227053">
                      <a:extLst>
                        <a:ext uri="{9D8B030D-6E8A-4147-A177-3AD203B41FA5}">
                          <a16:colId xmlns:a16="http://schemas.microsoft.com/office/drawing/2014/main" val="1726195631"/>
                        </a:ext>
                      </a:extLst>
                    </a:gridCol>
                    <a:gridCol w="1227053">
                      <a:extLst>
                        <a:ext uri="{9D8B030D-6E8A-4147-A177-3AD203B41FA5}">
                          <a16:colId xmlns:a16="http://schemas.microsoft.com/office/drawing/2014/main" val="2520324096"/>
                        </a:ext>
                      </a:extLst>
                    </a:gridCol>
                    <a:gridCol w="278509">
                      <a:extLst>
                        <a:ext uri="{9D8B030D-6E8A-4147-A177-3AD203B41FA5}">
                          <a16:colId xmlns:a16="http://schemas.microsoft.com/office/drawing/2014/main" val="2343643172"/>
                        </a:ext>
                      </a:extLst>
                    </a:gridCol>
                    <a:gridCol w="1094862">
                      <a:extLst>
                        <a:ext uri="{9D8B030D-6E8A-4147-A177-3AD203B41FA5}">
                          <a16:colId xmlns:a16="http://schemas.microsoft.com/office/drawing/2014/main" val="3610225570"/>
                        </a:ext>
                      </a:extLst>
                    </a:gridCol>
                    <a:gridCol w="1126144">
                      <a:extLst>
                        <a:ext uri="{9D8B030D-6E8A-4147-A177-3AD203B41FA5}">
                          <a16:colId xmlns:a16="http://schemas.microsoft.com/office/drawing/2014/main" val="2289854738"/>
                        </a:ext>
                      </a:extLst>
                    </a:gridCol>
                    <a:gridCol w="1227053">
                      <a:extLst>
                        <a:ext uri="{9D8B030D-6E8A-4147-A177-3AD203B41FA5}">
                          <a16:colId xmlns:a16="http://schemas.microsoft.com/office/drawing/2014/main" val="1049321257"/>
                        </a:ext>
                      </a:extLst>
                    </a:gridCol>
                  </a:tblGrid>
                  <a:tr h="638429">
                    <a:tc gridSpan="7">
                      <a:txBody>
                        <a:bodyPr/>
                        <a:lstStyle/>
                        <a:p>
                          <a:pPr algn="ctr">
                            <a:lnSpc>
                              <a:spcPct val="107000"/>
                            </a:lnSpc>
                            <a:spcAft>
                              <a:spcPts val="800"/>
                            </a:spcAft>
                          </a:pPr>
                          <a:r>
                            <a:rPr lang="en-AU" sz="2000" kern="100" dirty="0">
                              <a:effectLst/>
                            </a:rPr>
                            <a:t>	 Table 3. Probabilities of Innovation/Export, conditional on Contemporaneous Export/Innovation</a:t>
                          </a:r>
                          <a:endParaRPr lang="en-AU" sz="20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431485910"/>
                      </a:ext>
                    </a:extLst>
                  </a:tr>
                  <a:tr h="312293">
                    <a:tc>
                      <a:txBody>
                        <a:bodyPr/>
                        <a:lstStyle/>
                        <a:p>
                          <a:pPr algn="ctr">
                            <a:lnSpc>
                              <a:spcPct val="107000"/>
                            </a:lnSpc>
                            <a:spcAft>
                              <a:spcPts val="800"/>
                            </a:spcAft>
                          </a:pPr>
                          <a:r>
                            <a:rPr lang="en-AU" sz="2000" kern="100">
                              <a:effectLst/>
                            </a:rPr>
                            <a:t> </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gridSpan="2">
                      <a:txBody>
                        <a:bodyPr/>
                        <a:lstStyle/>
                        <a:p>
                          <a:endParaRPr lang="en-US"/>
                        </a:p>
                      </a:txBody>
                      <a:tcPr marL="68580" marR="68580" marT="0" marB="0" anchor="b">
                        <a:blipFill>
                          <a:blip r:embed="rId2"/>
                          <a:stretch>
                            <a:fillRect l="-42432" t="-229412" r="-152854" b="-462745"/>
                          </a:stretch>
                        </a:blipFill>
                      </a:tcPr>
                    </a:tc>
                    <a:tc hMerge="1">
                      <a:txBody>
                        <a:bodyPr/>
                        <a:lstStyle/>
                        <a:p>
                          <a:endParaRPr lang="en-AU"/>
                        </a:p>
                      </a:txBody>
                      <a:tcPr/>
                    </a:tc>
                    <a:tc>
                      <a:txBody>
                        <a:bodyPr/>
                        <a:lstStyle/>
                        <a:p>
                          <a:endParaRPr lang="en-AU" sz="2000" kern="100">
                            <a:effectLst/>
                            <a:latin typeface="DengXian" panose="02010600030101010101" pitchFamily="2" charset="-122"/>
                            <a:ea typeface="DengXian" panose="02010600030101010101" pitchFamily="2" charset="-122"/>
                          </a:endParaRPr>
                        </a:p>
                      </a:txBody>
                      <a:tcPr marL="68580" marR="68580" marT="0" marB="0" anchor="b"/>
                    </a:tc>
                    <a:tc>
                      <a:txBody>
                        <a:bodyPr/>
                        <a:lstStyle/>
                        <a:p>
                          <a:pPr algn="ctr">
                            <a:lnSpc>
                              <a:spcPct val="107000"/>
                            </a:lnSpc>
                            <a:spcAft>
                              <a:spcPts val="800"/>
                            </a:spcAft>
                          </a:pPr>
                          <a:r>
                            <a:rPr lang="en-AU" sz="2000" kern="100">
                              <a:effectLst/>
                            </a:rPr>
                            <a:t> </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gridSpan="2">
                      <a:txBody>
                        <a:bodyPr/>
                        <a:lstStyle/>
                        <a:p>
                          <a:endParaRPr lang="en-US"/>
                        </a:p>
                      </a:txBody>
                      <a:tcPr marL="68580" marR="68580" marT="0" marB="0" anchor="b">
                        <a:blipFill>
                          <a:blip r:embed="rId2"/>
                          <a:stretch>
                            <a:fillRect l="-207254" t="-229412" r="-1036" b="-462745"/>
                          </a:stretch>
                        </a:blipFill>
                      </a:tcPr>
                    </a:tc>
                    <a:tc hMerge="1">
                      <a:txBody>
                        <a:bodyPr/>
                        <a:lstStyle/>
                        <a:p>
                          <a:endParaRPr lang="en-AU"/>
                        </a:p>
                      </a:txBody>
                      <a:tcPr/>
                    </a:tc>
                    <a:extLst>
                      <a:ext uri="{0D108BD9-81ED-4DB2-BD59-A6C34878D82A}">
                        <a16:rowId xmlns:a16="http://schemas.microsoft.com/office/drawing/2014/main" val="4078728129"/>
                      </a:ext>
                    </a:extLst>
                  </a:tr>
                  <a:tr h="427736">
                    <a:tc>
                      <a:txBody>
                        <a:bodyPr/>
                        <a:lstStyle/>
                        <a:p>
                          <a:pPr>
                            <a:lnSpc>
                              <a:spcPct val="107000"/>
                            </a:lnSpc>
                            <a:spcAft>
                              <a:spcPts val="800"/>
                            </a:spcAft>
                          </a:pPr>
                          <a:r>
                            <a:rPr lang="en-AU" sz="2000" kern="100">
                              <a:effectLst/>
                            </a:rPr>
                            <a:t> </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endParaRPr lang="en-US"/>
                        </a:p>
                      </a:txBody>
                      <a:tcPr marL="68580" marR="68580" marT="0" marB="0" anchor="b">
                        <a:blipFill>
                          <a:blip r:embed="rId2"/>
                          <a:stretch>
                            <a:fillRect l="-84653" t="-240000" r="-404455" b="-237143"/>
                          </a:stretch>
                        </a:blipFill>
                      </a:tcPr>
                    </a:tc>
                    <a:tc>
                      <a:txBody>
                        <a:bodyPr/>
                        <a:lstStyle/>
                        <a:p>
                          <a:endParaRPr lang="en-US"/>
                        </a:p>
                      </a:txBody>
                      <a:tcPr marL="68580" marR="68580" marT="0" marB="0" anchor="b">
                        <a:blipFill>
                          <a:blip r:embed="rId2"/>
                          <a:stretch>
                            <a:fillRect l="-185572" t="-240000" r="-306468" b="-237143"/>
                          </a:stretch>
                        </a:blipFill>
                      </a:tcPr>
                    </a:tc>
                    <a:tc>
                      <a:txBody>
                        <a:bodyPr/>
                        <a:lstStyle/>
                        <a:p>
                          <a:endParaRPr lang="en-AU" sz="2000" kern="100">
                            <a:effectLst/>
                            <a:latin typeface="DengXian" panose="02010600030101010101" pitchFamily="2" charset="-122"/>
                            <a:ea typeface="DengXian" panose="02010600030101010101" pitchFamily="2" charset="-122"/>
                          </a:endParaRPr>
                        </a:p>
                      </a:txBody>
                      <a:tcPr marL="68580" marR="68580" marT="0" marB="0" anchor="b"/>
                    </a:tc>
                    <a:tc>
                      <a:txBody>
                        <a:bodyPr/>
                        <a:lstStyle/>
                        <a:p>
                          <a:pPr>
                            <a:lnSpc>
                              <a:spcPct val="107000"/>
                            </a:lnSpc>
                            <a:spcAft>
                              <a:spcPts val="800"/>
                            </a:spcAft>
                          </a:pPr>
                          <a:r>
                            <a:rPr lang="en-AU" sz="2000" kern="100">
                              <a:effectLst/>
                            </a:rPr>
                            <a:t> </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endParaRPr lang="en-US"/>
                        </a:p>
                      </a:txBody>
                      <a:tcPr marL="68580" marR="68580" marT="0" marB="0" anchor="b">
                        <a:blipFill>
                          <a:blip r:embed="rId2"/>
                          <a:stretch>
                            <a:fillRect l="-432432" t="-240000" r="-110811" b="-237143"/>
                          </a:stretch>
                        </a:blipFill>
                      </a:tcPr>
                    </a:tc>
                    <a:tc>
                      <a:txBody>
                        <a:bodyPr/>
                        <a:lstStyle/>
                        <a:p>
                          <a:endParaRPr lang="en-US"/>
                        </a:p>
                      </a:txBody>
                      <a:tcPr marL="68580" marR="68580" marT="0" marB="0" anchor="b">
                        <a:blipFill>
                          <a:blip r:embed="rId2"/>
                          <a:stretch>
                            <a:fillRect l="-490050" t="-240000" r="-1990" b="-237143"/>
                          </a:stretch>
                        </a:blipFill>
                      </a:tcPr>
                    </a:tc>
                    <a:extLst>
                      <a:ext uri="{0D108BD9-81ED-4DB2-BD59-A6C34878D82A}">
                        <a16:rowId xmlns:a16="http://schemas.microsoft.com/office/drawing/2014/main" val="1506258703"/>
                      </a:ext>
                    </a:extLst>
                  </a:tr>
                  <a:tr h="427736">
                    <a:tc>
                      <a:txBody>
                        <a:bodyPr/>
                        <a:lstStyle/>
                        <a:p>
                          <a:endParaRPr lang="en-US"/>
                        </a:p>
                      </a:txBody>
                      <a:tcPr marL="68580" marR="68580" marT="0" marB="0" anchor="b">
                        <a:blipFill>
                          <a:blip r:embed="rId2"/>
                          <a:stretch>
                            <a:fillRect l="-588" t="-335211" r="-599412" b="-133803"/>
                          </a:stretch>
                        </a:blipFill>
                      </a:tcPr>
                    </a:tc>
                    <a:tc>
                      <a:txBody>
                        <a:bodyPr/>
                        <a:lstStyle/>
                        <a:p>
                          <a:pPr algn="r">
                            <a:lnSpc>
                              <a:spcPct val="107000"/>
                            </a:lnSpc>
                            <a:spcAft>
                              <a:spcPts val="800"/>
                            </a:spcAft>
                          </a:pPr>
                          <a:r>
                            <a:rPr lang="en-AU" sz="2000" kern="100">
                              <a:effectLst/>
                            </a:rPr>
                            <a:t>0.870637</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0.129363</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endParaRPr lang="en-AU" sz="2000" kern="100">
                            <a:effectLst/>
                            <a:latin typeface="DengXian" panose="02010600030101010101" pitchFamily="2" charset="-122"/>
                            <a:ea typeface="DengXian" panose="02010600030101010101" pitchFamily="2" charset="-122"/>
                          </a:endParaRPr>
                        </a:p>
                      </a:txBody>
                      <a:tcPr marL="68580" marR="68580" marT="0" marB="0" anchor="b"/>
                    </a:tc>
                    <a:tc>
                      <a:txBody>
                        <a:bodyPr/>
                        <a:lstStyle/>
                        <a:p>
                          <a:endParaRPr lang="en-US"/>
                        </a:p>
                      </a:txBody>
                      <a:tcPr marL="68580" marR="68580" marT="0" marB="0" anchor="b">
                        <a:blipFill>
                          <a:blip r:embed="rId2"/>
                          <a:stretch>
                            <a:fillRect l="-344444" t="-335211" r="-216667" b="-133803"/>
                          </a:stretch>
                        </a:blipFill>
                      </a:tcPr>
                    </a:tc>
                    <a:tc>
                      <a:txBody>
                        <a:bodyPr/>
                        <a:lstStyle/>
                        <a:p>
                          <a:pPr algn="r">
                            <a:lnSpc>
                              <a:spcPct val="107000"/>
                            </a:lnSpc>
                            <a:spcAft>
                              <a:spcPts val="800"/>
                            </a:spcAft>
                          </a:pPr>
                          <a:r>
                            <a:rPr lang="en-AU" sz="2000" kern="100">
                              <a:effectLst/>
                            </a:rPr>
                            <a:t>0.693944</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0.306056</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3615820947"/>
                      </a:ext>
                    </a:extLst>
                  </a:tr>
                  <a:tr h="427736">
                    <a:tc>
                      <a:txBody>
                        <a:bodyPr/>
                        <a:lstStyle/>
                        <a:p>
                          <a:endParaRPr lang="en-US"/>
                        </a:p>
                      </a:txBody>
                      <a:tcPr marL="68580" marR="68580" marT="0" marB="0" anchor="b">
                        <a:blipFill>
                          <a:blip r:embed="rId2"/>
                          <a:stretch>
                            <a:fillRect l="-588" t="-441429" r="-599412" b="-35714"/>
                          </a:stretch>
                        </a:blipFill>
                      </a:tcPr>
                    </a:tc>
                    <a:tc>
                      <a:txBody>
                        <a:bodyPr/>
                        <a:lstStyle/>
                        <a:p>
                          <a:pPr algn="r">
                            <a:lnSpc>
                              <a:spcPct val="107000"/>
                            </a:lnSpc>
                            <a:spcAft>
                              <a:spcPts val="800"/>
                            </a:spcAft>
                          </a:pPr>
                          <a:r>
                            <a:rPr lang="en-AU" sz="2000" kern="100">
                              <a:effectLst/>
                            </a:rPr>
                            <a:t>0.704331</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0.295669</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nSpc>
                              <a:spcPct val="107000"/>
                            </a:lnSpc>
                            <a:spcAft>
                              <a:spcPts val="800"/>
                            </a:spcAft>
                          </a:pPr>
                          <a:r>
                            <a:rPr lang="en-AU" sz="2000" kern="100">
                              <a:effectLst/>
                            </a:rPr>
                            <a:t> </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endParaRPr lang="en-US"/>
                        </a:p>
                      </a:txBody>
                      <a:tcPr marL="68580" marR="68580" marT="0" marB="0" anchor="b">
                        <a:blipFill>
                          <a:blip r:embed="rId2"/>
                          <a:stretch>
                            <a:fillRect l="-344444" t="-441429" r="-216667" b="-35714"/>
                          </a:stretch>
                        </a:blipFill>
                      </a:tcPr>
                    </a:tc>
                    <a:tc>
                      <a:txBody>
                        <a:bodyPr/>
                        <a:lstStyle/>
                        <a:p>
                          <a:pPr algn="r">
                            <a:lnSpc>
                              <a:spcPct val="107000"/>
                            </a:lnSpc>
                            <a:spcAft>
                              <a:spcPts val="800"/>
                            </a:spcAft>
                          </a:pPr>
                          <a:r>
                            <a:rPr lang="en-AU" sz="2000" kern="100">
                              <a:effectLst/>
                            </a:rPr>
                            <a:t>0.44523</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dirty="0">
                              <a:effectLst/>
                            </a:rPr>
                            <a:t>0.55477</a:t>
                          </a:r>
                          <a:endParaRPr lang="en-AU" sz="20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4149056705"/>
                      </a:ext>
                    </a:extLst>
                  </a:tr>
                </a:tbl>
              </a:graphicData>
            </a:graphic>
          </p:graphicFrame>
        </mc:Fallback>
      </mc:AlternateContent>
    </p:spTree>
    <p:extLst>
      <p:ext uri="{BB962C8B-B14F-4D97-AF65-F5344CB8AC3E}">
        <p14:creationId xmlns:p14="http://schemas.microsoft.com/office/powerpoint/2010/main" val="24656968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D684B-BFE9-73B6-5DAB-7FEDA8680D2F}"/>
              </a:ext>
            </a:extLst>
          </p:cNvPr>
          <p:cNvSpPr>
            <a:spLocks noGrp="1"/>
          </p:cNvSpPr>
          <p:nvPr>
            <p:ph type="title"/>
          </p:nvPr>
        </p:nvSpPr>
        <p:spPr/>
        <p:txBody>
          <a:bodyPr/>
          <a:lstStyle/>
          <a:p>
            <a:r>
              <a:rPr lang="en-AU" dirty="0"/>
              <a:t>Results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59D952-BFA6-78C7-7978-3266D4181444}"/>
                  </a:ext>
                </a:extLst>
              </p:cNvPr>
              <p:cNvSpPr>
                <a:spLocks noGrp="1"/>
              </p:cNvSpPr>
              <p:nvPr>
                <p:ph idx="1"/>
              </p:nvPr>
            </p:nvSpPr>
            <p:spPr/>
            <p:txBody>
              <a:bodyPr/>
              <a:lstStyle/>
              <a:p>
                <a:r>
                  <a:rPr lang="en-AU" dirty="0"/>
                  <a:t>The estimates of the CES preference parameters as </a:t>
                </a:r>
                <a14:m>
                  <m:oMath xmlns:m="http://schemas.openxmlformats.org/officeDocument/2006/math">
                    <m:acc>
                      <m:accPr>
                        <m:chr m:val="̂"/>
                        <m:ctrlPr>
                          <a:rPr lang="en-AU" i="1">
                            <a:latin typeface="Cambria Math" panose="02040503050406030204" pitchFamily="18" charset="0"/>
                          </a:rPr>
                        </m:ctrlPr>
                      </m:accPr>
                      <m:e>
                        <m:r>
                          <a:rPr lang="en-AU">
                            <a:latin typeface="Cambria Math" panose="02040503050406030204" pitchFamily="18" charset="0"/>
                          </a:rPr>
                          <m:t>𝜌</m:t>
                        </m:r>
                      </m:e>
                    </m:acc>
                    <m:r>
                      <a:rPr lang="en-AU">
                        <a:latin typeface="Cambria Math" panose="02040503050406030204" pitchFamily="18" charset="0"/>
                      </a:rPr>
                      <m:t>=0.7516836</m:t>
                    </m:r>
                  </m:oMath>
                </a14:m>
                <a:r>
                  <a:rPr lang="en-AU" dirty="0"/>
                  <a:t> in the domestic market and </a:t>
                </a:r>
                <a14:m>
                  <m:oMath xmlns:m="http://schemas.openxmlformats.org/officeDocument/2006/math">
                    <m:acc>
                      <m:accPr>
                        <m:chr m:val="̂"/>
                        <m:ctrlPr>
                          <a:rPr lang="en-AU" i="1">
                            <a:latin typeface="Cambria Math" panose="02040503050406030204" pitchFamily="18" charset="0"/>
                          </a:rPr>
                        </m:ctrlPr>
                      </m:accPr>
                      <m:e>
                        <m:acc>
                          <m:accPr>
                            <m:chr m:val="̃"/>
                            <m:ctrlPr>
                              <a:rPr lang="en-AU" i="1">
                                <a:latin typeface="Cambria Math" panose="02040503050406030204" pitchFamily="18" charset="0"/>
                              </a:rPr>
                            </m:ctrlPr>
                          </m:accPr>
                          <m:e>
                            <m:r>
                              <a:rPr lang="en-AU">
                                <a:latin typeface="Cambria Math" panose="02040503050406030204" pitchFamily="18" charset="0"/>
                              </a:rPr>
                              <m:t>𝜌</m:t>
                            </m:r>
                          </m:e>
                        </m:acc>
                      </m:e>
                    </m:acc>
                    <m:r>
                      <a:rPr lang="en-AU">
                        <a:latin typeface="Cambria Math" panose="02040503050406030204" pitchFamily="18" charset="0"/>
                      </a:rPr>
                      <m:t>=0.9163455</m:t>
                    </m:r>
                  </m:oMath>
                </a14:m>
                <a:r>
                  <a:rPr lang="en-AU" dirty="0"/>
                  <a:t> </a:t>
                </a:r>
              </a:p>
              <a:p>
                <a:r>
                  <a:rPr lang="en-AU" dirty="0"/>
                  <a:t>Therefore, the elasticity of substitution in the domestic market is 4.03, lower than that in the export market (11.95)</a:t>
                </a:r>
              </a:p>
              <a:p>
                <a:r>
                  <a:rPr lang="en-AU" dirty="0"/>
                  <a:t>In the sample, 24.86% firm-year observations do not appear in the next year</a:t>
                </a:r>
              </a:p>
              <a:p>
                <a:endParaRPr lang="en-AU" dirty="0"/>
              </a:p>
            </p:txBody>
          </p:sp>
        </mc:Choice>
        <mc:Fallback xmlns="">
          <p:sp>
            <p:nvSpPr>
              <p:cNvPr id="3" name="Content Placeholder 2">
                <a:extLst>
                  <a:ext uri="{FF2B5EF4-FFF2-40B4-BE49-F238E27FC236}">
                    <a16:creationId xmlns:a16="http://schemas.microsoft.com/office/drawing/2014/main" id="{CA59D952-BFA6-78C7-7978-3266D4181444}"/>
                  </a:ext>
                </a:extLst>
              </p:cNvPr>
              <p:cNvSpPr>
                <a:spLocks noGrp="1" noRot="1" noChangeAspect="1" noMove="1" noResize="1" noEditPoints="1" noAdjustHandles="1" noChangeArrowheads="1" noChangeShapeType="1" noTextEdit="1"/>
              </p:cNvSpPr>
              <p:nvPr>
                <p:ph idx="1"/>
              </p:nvPr>
            </p:nvSpPr>
            <p:spPr>
              <a:blipFill>
                <a:blip r:embed="rId2"/>
                <a:stretch>
                  <a:fillRect l="-1043" t="-2241" r="-1623"/>
                </a:stretch>
              </a:blipFill>
            </p:spPr>
            <p:txBody>
              <a:bodyPr/>
              <a:lstStyle/>
              <a:p>
                <a:r>
                  <a:rPr lang="en-AU">
                    <a:noFill/>
                  </a:rPr>
                  <a:t> </a:t>
                </a:r>
              </a:p>
            </p:txBody>
          </p:sp>
        </mc:Fallback>
      </mc:AlternateContent>
    </p:spTree>
    <p:extLst>
      <p:ext uri="{BB962C8B-B14F-4D97-AF65-F5344CB8AC3E}">
        <p14:creationId xmlns:p14="http://schemas.microsoft.com/office/powerpoint/2010/main" val="9906208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D4257-AE0A-2B12-362A-8A77E5D3D94A}"/>
              </a:ext>
            </a:extLst>
          </p:cNvPr>
          <p:cNvSpPr>
            <a:spLocks noGrp="1"/>
          </p:cNvSpPr>
          <p:nvPr>
            <p:ph type="title"/>
          </p:nvPr>
        </p:nvSpPr>
        <p:spPr/>
        <p:txBody>
          <a:bodyPr/>
          <a:lstStyle/>
          <a:p>
            <a:r>
              <a:rPr lang="en-AU" dirty="0"/>
              <a:t>Results</a:t>
            </a:r>
          </a:p>
        </p:txBody>
      </p:sp>
      <p:sp>
        <p:nvSpPr>
          <p:cNvPr id="3" name="Content Placeholder 2">
            <a:extLst>
              <a:ext uri="{FF2B5EF4-FFF2-40B4-BE49-F238E27FC236}">
                <a16:creationId xmlns:a16="http://schemas.microsoft.com/office/drawing/2014/main" id="{86DF87BD-1C69-2E68-7CE6-F1660EC92196}"/>
              </a:ext>
            </a:extLst>
          </p:cNvPr>
          <p:cNvSpPr>
            <a:spLocks noGrp="1"/>
          </p:cNvSpPr>
          <p:nvPr>
            <p:ph idx="1"/>
          </p:nvPr>
        </p:nvSpPr>
        <p:spPr/>
        <p:txBody>
          <a:bodyPr/>
          <a:lstStyle/>
          <a:p>
            <a:r>
              <a:rPr lang="en-US" dirty="0"/>
              <a:t>The effect of WTO accession</a:t>
            </a:r>
            <a:endParaRPr lang="en-AU" dirty="0"/>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2C3DC4AB-3F92-D975-71AD-E1E51F941577}"/>
                  </a:ext>
                </a:extLst>
              </p:cNvPr>
              <p:cNvGraphicFramePr>
                <a:graphicFrameLocks noGrp="1"/>
              </p:cNvGraphicFramePr>
              <p:nvPr>
                <p:extLst>
                  <p:ext uri="{D42A27DB-BD31-4B8C-83A1-F6EECF244321}">
                    <p14:modId xmlns:p14="http://schemas.microsoft.com/office/powerpoint/2010/main" val="2324480230"/>
                  </p:ext>
                </p:extLst>
              </p:nvPr>
            </p:nvGraphicFramePr>
            <p:xfrm>
              <a:off x="5973794" y="243456"/>
              <a:ext cx="5600891" cy="6431353"/>
            </p:xfrm>
            <a:graphic>
              <a:graphicData uri="http://schemas.openxmlformats.org/drawingml/2006/table">
                <a:tbl>
                  <a:tblPr firstRow="1" firstCol="1" bandRow="1">
                    <a:tableStyleId>{5C22544A-7EE6-4342-B048-85BDC9FD1C3A}</a:tableStyleId>
                  </a:tblPr>
                  <a:tblGrid>
                    <a:gridCol w="1580059">
                      <a:extLst>
                        <a:ext uri="{9D8B030D-6E8A-4147-A177-3AD203B41FA5}">
                          <a16:colId xmlns:a16="http://schemas.microsoft.com/office/drawing/2014/main" val="804926203"/>
                        </a:ext>
                      </a:extLst>
                    </a:gridCol>
                    <a:gridCol w="1367998">
                      <a:extLst>
                        <a:ext uri="{9D8B030D-6E8A-4147-A177-3AD203B41FA5}">
                          <a16:colId xmlns:a16="http://schemas.microsoft.com/office/drawing/2014/main" val="1983863031"/>
                        </a:ext>
                      </a:extLst>
                    </a:gridCol>
                    <a:gridCol w="1326417">
                      <a:extLst>
                        <a:ext uri="{9D8B030D-6E8A-4147-A177-3AD203B41FA5}">
                          <a16:colId xmlns:a16="http://schemas.microsoft.com/office/drawing/2014/main" val="582461893"/>
                        </a:ext>
                      </a:extLst>
                    </a:gridCol>
                    <a:gridCol w="1326417">
                      <a:extLst>
                        <a:ext uri="{9D8B030D-6E8A-4147-A177-3AD203B41FA5}">
                          <a16:colId xmlns:a16="http://schemas.microsoft.com/office/drawing/2014/main" val="4131726006"/>
                        </a:ext>
                      </a:extLst>
                    </a:gridCol>
                  </a:tblGrid>
                  <a:tr h="313009">
                    <a:tc gridSpan="4">
                      <a:txBody>
                        <a:bodyPr/>
                        <a:lstStyle/>
                        <a:p>
                          <a:pPr algn="ctr">
                            <a:lnSpc>
                              <a:spcPct val="107000"/>
                            </a:lnSpc>
                            <a:spcAft>
                              <a:spcPts val="800"/>
                            </a:spcAft>
                          </a:pPr>
                          <a:r>
                            <a:rPr lang="en-AU" sz="1600" kern="100">
                              <a:effectLst/>
                            </a:rPr>
                            <a:t>Table 4. The Impact of Trade Liberalization on the Iceberg Trade Cost</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4288462950"/>
                      </a:ext>
                    </a:extLst>
                  </a:tr>
                  <a:tr h="152708">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pPr algn="ctr">
                            <a:lnSpc>
                              <a:spcPct val="107000"/>
                            </a:lnSpc>
                            <a:spcAft>
                              <a:spcPts val="800"/>
                            </a:spcAft>
                          </a:pPr>
                          <a:r>
                            <a:rPr lang="en-AU" sz="1600" kern="100">
                              <a:effectLst/>
                            </a:rPr>
                            <a:t>[1]</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a:txBody>
                        <a:bodyPr/>
                        <a:lstStyle/>
                        <a:p>
                          <a:pPr algn="ctr">
                            <a:lnSpc>
                              <a:spcPct val="107000"/>
                            </a:lnSpc>
                            <a:spcAft>
                              <a:spcPts val="800"/>
                            </a:spcAft>
                          </a:pPr>
                          <a:r>
                            <a:rPr lang="en-AU" sz="1600" kern="100">
                              <a:effectLst/>
                            </a:rPr>
                            <a:t>[2]</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a:txBody>
                        <a:bodyPr/>
                        <a:lstStyle/>
                        <a:p>
                          <a:pPr algn="ctr">
                            <a:lnSpc>
                              <a:spcPct val="107000"/>
                            </a:lnSpc>
                            <a:spcAft>
                              <a:spcPts val="800"/>
                            </a:spcAft>
                          </a:pPr>
                          <a:r>
                            <a:rPr lang="en-AU" sz="1600" kern="100">
                              <a:effectLst/>
                            </a:rPr>
                            <a:t>[3]</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extLst>
                      <a:ext uri="{0D108BD9-81ED-4DB2-BD59-A6C34878D82A}">
                        <a16:rowId xmlns:a16="http://schemas.microsoft.com/office/drawing/2014/main" val="1485065084"/>
                      </a:ext>
                    </a:extLst>
                  </a:tr>
                  <a:tr h="243521">
                    <a:tc>
                      <a:txBody>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AU" sz="1600" kern="100">
                                    <a:effectLst/>
                                    <a:latin typeface="Cambria Math" panose="02040503050406030204" pitchFamily="18" charset="0"/>
                                  </a:rPr>
                                  <m:t>1</m:t>
                                </m:r>
                                <m:d>
                                  <m:dPr>
                                    <m:ctrlPr>
                                      <a:rPr lang="en-AU" sz="1600" i="1" kern="100">
                                        <a:effectLst/>
                                        <a:latin typeface="Cambria Math" panose="02040503050406030204" pitchFamily="18" charset="0"/>
                                      </a:rPr>
                                    </m:ctrlPr>
                                  </m:dPr>
                                  <m:e>
                                    <m:r>
                                      <a:rPr lang="en-AU" sz="1600" kern="100">
                                        <a:effectLst/>
                                        <a:latin typeface="Cambria Math" panose="02040503050406030204" pitchFamily="18" charset="0"/>
                                      </a:rPr>
                                      <m:t>𝑡</m:t>
                                    </m:r>
                                    <m:r>
                                      <a:rPr lang="en-AU" sz="1600" kern="100">
                                        <a:effectLst/>
                                        <a:latin typeface="Cambria Math" panose="02040503050406030204" pitchFamily="18" charset="0"/>
                                      </a:rPr>
                                      <m:t>=2001</m:t>
                                    </m:r>
                                  </m:e>
                                </m:d>
                              </m:oMath>
                            </m:oMathPara>
                          </a14:m>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pPr algn="ctr">
                            <a:lnSpc>
                              <a:spcPct val="107000"/>
                            </a:lnSpc>
                            <a:spcAft>
                              <a:spcPts val="800"/>
                            </a:spcAft>
                          </a:pPr>
                          <a:r>
                            <a:rPr lang="en-AU" sz="1600" kern="100">
                              <a:effectLst/>
                            </a:rPr>
                            <a:t>-0.0263</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extLst>
                      <a:ext uri="{0D108BD9-81ED-4DB2-BD59-A6C34878D82A}">
                        <a16:rowId xmlns:a16="http://schemas.microsoft.com/office/drawing/2014/main" val="1245240131"/>
                      </a:ext>
                    </a:extLst>
                  </a:tr>
                  <a:tr h="152708">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pPr algn="ctr">
                            <a:lnSpc>
                              <a:spcPct val="107000"/>
                            </a:lnSpc>
                            <a:spcAft>
                              <a:spcPts val="800"/>
                            </a:spcAft>
                          </a:pPr>
                          <a:r>
                            <a:rPr lang="en-AU" sz="1600" kern="100">
                              <a:effectLst/>
                            </a:rPr>
                            <a:t>(0.0877)</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extLst>
                      <a:ext uri="{0D108BD9-81ED-4DB2-BD59-A6C34878D82A}">
                        <a16:rowId xmlns:a16="http://schemas.microsoft.com/office/drawing/2014/main" val="3127051127"/>
                      </a:ext>
                    </a:extLst>
                  </a:tr>
                  <a:tr h="243521">
                    <a:tc>
                      <a:txBody>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AU" sz="1600" kern="100">
                                    <a:effectLst/>
                                    <a:latin typeface="Cambria Math" panose="02040503050406030204" pitchFamily="18" charset="0"/>
                                  </a:rPr>
                                  <m:t>1</m:t>
                                </m:r>
                                <m:d>
                                  <m:dPr>
                                    <m:ctrlPr>
                                      <a:rPr lang="en-AU" sz="1600" i="1" kern="100">
                                        <a:effectLst/>
                                        <a:latin typeface="Cambria Math" panose="02040503050406030204" pitchFamily="18" charset="0"/>
                                      </a:rPr>
                                    </m:ctrlPr>
                                  </m:dPr>
                                  <m:e>
                                    <m:r>
                                      <a:rPr lang="en-AU" sz="1600" kern="100">
                                        <a:effectLst/>
                                        <a:latin typeface="Cambria Math" panose="02040503050406030204" pitchFamily="18" charset="0"/>
                                      </a:rPr>
                                      <m:t>𝑡</m:t>
                                    </m:r>
                                    <m:r>
                                      <a:rPr lang="en-AU" sz="1600" kern="100">
                                        <a:effectLst/>
                                        <a:latin typeface="Cambria Math" panose="02040503050406030204" pitchFamily="18" charset="0"/>
                                      </a:rPr>
                                      <m:t>=2002</m:t>
                                    </m:r>
                                  </m:e>
                                </m:d>
                              </m:oMath>
                            </m:oMathPara>
                          </a14:m>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pPr algn="ctr">
                            <a:lnSpc>
                              <a:spcPct val="107000"/>
                            </a:lnSpc>
                            <a:spcAft>
                              <a:spcPts val="800"/>
                            </a:spcAft>
                          </a:pPr>
                          <a:r>
                            <a:rPr lang="en-AU" sz="1600" kern="100">
                              <a:effectLst/>
                            </a:rPr>
                            <a:t>-0.0559</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extLst>
                      <a:ext uri="{0D108BD9-81ED-4DB2-BD59-A6C34878D82A}">
                        <a16:rowId xmlns:a16="http://schemas.microsoft.com/office/drawing/2014/main" val="1604189421"/>
                      </a:ext>
                    </a:extLst>
                  </a:tr>
                  <a:tr h="152708">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pPr algn="ctr">
                            <a:lnSpc>
                              <a:spcPct val="107000"/>
                            </a:lnSpc>
                            <a:spcAft>
                              <a:spcPts val="800"/>
                            </a:spcAft>
                          </a:pPr>
                          <a:r>
                            <a:rPr lang="en-AU" sz="1600" kern="100">
                              <a:effectLst/>
                            </a:rPr>
                            <a:t>(0.0907)</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extLst>
                      <a:ext uri="{0D108BD9-81ED-4DB2-BD59-A6C34878D82A}">
                        <a16:rowId xmlns:a16="http://schemas.microsoft.com/office/drawing/2014/main" val="3218151809"/>
                      </a:ext>
                    </a:extLst>
                  </a:tr>
                  <a:tr h="243521">
                    <a:tc>
                      <a:txBody>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AU" sz="1600" kern="100">
                                    <a:effectLst/>
                                    <a:latin typeface="Cambria Math" panose="02040503050406030204" pitchFamily="18" charset="0"/>
                                  </a:rPr>
                                  <m:t>1</m:t>
                                </m:r>
                                <m:d>
                                  <m:dPr>
                                    <m:ctrlPr>
                                      <a:rPr lang="en-AU" sz="1600" i="1" kern="100">
                                        <a:effectLst/>
                                        <a:latin typeface="Cambria Math" panose="02040503050406030204" pitchFamily="18" charset="0"/>
                                      </a:rPr>
                                    </m:ctrlPr>
                                  </m:dPr>
                                  <m:e>
                                    <m:r>
                                      <a:rPr lang="en-AU" sz="1600" kern="100">
                                        <a:effectLst/>
                                        <a:latin typeface="Cambria Math" panose="02040503050406030204" pitchFamily="18" charset="0"/>
                                      </a:rPr>
                                      <m:t>𝑡</m:t>
                                    </m:r>
                                    <m:r>
                                      <a:rPr lang="en-AU" sz="1600" kern="100">
                                        <a:effectLst/>
                                        <a:latin typeface="Cambria Math" panose="02040503050406030204" pitchFamily="18" charset="0"/>
                                      </a:rPr>
                                      <m:t>=2003</m:t>
                                    </m:r>
                                  </m:e>
                                </m:d>
                              </m:oMath>
                            </m:oMathPara>
                          </a14:m>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pPr algn="ctr">
                            <a:lnSpc>
                              <a:spcPct val="107000"/>
                            </a:lnSpc>
                            <a:spcAft>
                              <a:spcPts val="800"/>
                            </a:spcAft>
                          </a:pPr>
                          <a:r>
                            <a:rPr lang="en-AU" sz="1600" kern="100">
                              <a:effectLst/>
                            </a:rPr>
                            <a:t>-0.186*</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extLst>
                      <a:ext uri="{0D108BD9-81ED-4DB2-BD59-A6C34878D82A}">
                        <a16:rowId xmlns:a16="http://schemas.microsoft.com/office/drawing/2014/main" val="805311385"/>
                      </a:ext>
                    </a:extLst>
                  </a:tr>
                  <a:tr h="152708">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pPr algn="ctr">
                            <a:lnSpc>
                              <a:spcPct val="107000"/>
                            </a:lnSpc>
                            <a:spcAft>
                              <a:spcPts val="800"/>
                            </a:spcAft>
                          </a:pPr>
                          <a:r>
                            <a:rPr lang="en-AU" sz="1600" kern="100">
                              <a:effectLst/>
                            </a:rPr>
                            <a:t>(0.110)</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extLst>
                      <a:ext uri="{0D108BD9-81ED-4DB2-BD59-A6C34878D82A}">
                        <a16:rowId xmlns:a16="http://schemas.microsoft.com/office/drawing/2014/main" val="1037503943"/>
                      </a:ext>
                    </a:extLst>
                  </a:tr>
                  <a:tr h="243521">
                    <a:tc>
                      <a:txBody>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AU" sz="1600" kern="100">
                                    <a:effectLst/>
                                    <a:latin typeface="Cambria Math" panose="02040503050406030204" pitchFamily="18" charset="0"/>
                                  </a:rPr>
                                  <m:t>1</m:t>
                                </m:r>
                                <m:d>
                                  <m:dPr>
                                    <m:ctrlPr>
                                      <a:rPr lang="en-AU" sz="1600" i="1" kern="100">
                                        <a:effectLst/>
                                        <a:latin typeface="Cambria Math" panose="02040503050406030204" pitchFamily="18" charset="0"/>
                                      </a:rPr>
                                    </m:ctrlPr>
                                  </m:dPr>
                                  <m:e>
                                    <m:r>
                                      <a:rPr lang="en-AU" sz="1600" kern="100">
                                        <a:effectLst/>
                                        <a:latin typeface="Cambria Math" panose="02040503050406030204" pitchFamily="18" charset="0"/>
                                      </a:rPr>
                                      <m:t>𝑡</m:t>
                                    </m:r>
                                    <m:r>
                                      <a:rPr lang="en-AU" sz="1600" kern="100">
                                        <a:effectLst/>
                                        <a:latin typeface="Cambria Math" panose="02040503050406030204" pitchFamily="18" charset="0"/>
                                      </a:rPr>
                                      <m:t>=2005</m:t>
                                    </m:r>
                                  </m:e>
                                </m:d>
                              </m:oMath>
                            </m:oMathPara>
                          </a14:m>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pPr algn="ctr">
                            <a:lnSpc>
                              <a:spcPct val="107000"/>
                            </a:lnSpc>
                            <a:spcAft>
                              <a:spcPts val="800"/>
                            </a:spcAft>
                          </a:pPr>
                          <a:r>
                            <a:rPr lang="en-AU" sz="1600" kern="100">
                              <a:effectLst/>
                            </a:rPr>
                            <a:t>-0.221**</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extLst>
                      <a:ext uri="{0D108BD9-81ED-4DB2-BD59-A6C34878D82A}">
                        <a16:rowId xmlns:a16="http://schemas.microsoft.com/office/drawing/2014/main" val="2796080472"/>
                      </a:ext>
                    </a:extLst>
                  </a:tr>
                  <a:tr h="152708">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pPr algn="ctr">
                            <a:lnSpc>
                              <a:spcPct val="107000"/>
                            </a:lnSpc>
                            <a:spcAft>
                              <a:spcPts val="800"/>
                            </a:spcAft>
                          </a:pPr>
                          <a:r>
                            <a:rPr lang="en-AU" sz="1600" kern="100">
                              <a:effectLst/>
                            </a:rPr>
                            <a:t>(0.0986)</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extLst>
                      <a:ext uri="{0D108BD9-81ED-4DB2-BD59-A6C34878D82A}">
                        <a16:rowId xmlns:a16="http://schemas.microsoft.com/office/drawing/2014/main" val="4062843624"/>
                      </a:ext>
                    </a:extLst>
                  </a:tr>
                  <a:tr h="243521">
                    <a:tc>
                      <a:txBody>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AU" sz="1600" kern="100">
                                    <a:effectLst/>
                                    <a:latin typeface="Cambria Math" panose="02040503050406030204" pitchFamily="18" charset="0"/>
                                  </a:rPr>
                                  <m:t>1</m:t>
                                </m:r>
                                <m:d>
                                  <m:dPr>
                                    <m:ctrlPr>
                                      <a:rPr lang="en-AU" sz="1600" i="1" kern="100">
                                        <a:effectLst/>
                                        <a:latin typeface="Cambria Math" panose="02040503050406030204" pitchFamily="18" charset="0"/>
                                      </a:rPr>
                                    </m:ctrlPr>
                                  </m:dPr>
                                  <m:e>
                                    <m:r>
                                      <a:rPr lang="en-AU" sz="1600" kern="100">
                                        <a:effectLst/>
                                        <a:latin typeface="Cambria Math" panose="02040503050406030204" pitchFamily="18" charset="0"/>
                                      </a:rPr>
                                      <m:t>𝑡</m:t>
                                    </m:r>
                                    <m:r>
                                      <a:rPr lang="en-AU" sz="1600" kern="100">
                                        <a:effectLst/>
                                        <a:latin typeface="Cambria Math" panose="02040503050406030204" pitchFamily="18" charset="0"/>
                                      </a:rPr>
                                      <m:t>=2006</m:t>
                                    </m:r>
                                  </m:e>
                                </m:d>
                              </m:oMath>
                            </m:oMathPara>
                          </a14:m>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pPr algn="ctr">
                            <a:lnSpc>
                              <a:spcPct val="107000"/>
                            </a:lnSpc>
                            <a:spcAft>
                              <a:spcPts val="800"/>
                            </a:spcAft>
                          </a:pPr>
                          <a:r>
                            <a:rPr lang="en-AU" sz="1600" kern="100">
                              <a:effectLst/>
                            </a:rPr>
                            <a:t>-0.273***</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extLst>
                      <a:ext uri="{0D108BD9-81ED-4DB2-BD59-A6C34878D82A}">
                        <a16:rowId xmlns:a16="http://schemas.microsoft.com/office/drawing/2014/main" val="2168615384"/>
                      </a:ext>
                    </a:extLst>
                  </a:tr>
                  <a:tr h="152708">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pPr algn="ctr">
                            <a:lnSpc>
                              <a:spcPct val="107000"/>
                            </a:lnSpc>
                            <a:spcAft>
                              <a:spcPts val="800"/>
                            </a:spcAft>
                          </a:pPr>
                          <a:r>
                            <a:rPr lang="en-AU" sz="1600" kern="100">
                              <a:effectLst/>
                            </a:rPr>
                            <a:t>(0.100)</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extLst>
                      <a:ext uri="{0D108BD9-81ED-4DB2-BD59-A6C34878D82A}">
                        <a16:rowId xmlns:a16="http://schemas.microsoft.com/office/drawing/2014/main" val="2121258805"/>
                      </a:ext>
                    </a:extLst>
                  </a:tr>
                  <a:tr h="243521">
                    <a:tc>
                      <a:txBody>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AU" sz="1600" kern="100">
                                    <a:effectLst/>
                                    <a:latin typeface="Cambria Math" panose="02040503050406030204" pitchFamily="18" charset="0"/>
                                  </a:rPr>
                                  <m:t>1</m:t>
                                </m:r>
                                <m:d>
                                  <m:dPr>
                                    <m:ctrlPr>
                                      <a:rPr lang="en-AU" sz="1600" i="1" kern="100">
                                        <a:effectLst/>
                                        <a:latin typeface="Cambria Math" panose="02040503050406030204" pitchFamily="18" charset="0"/>
                                      </a:rPr>
                                    </m:ctrlPr>
                                  </m:dPr>
                                  <m:e>
                                    <m:r>
                                      <a:rPr lang="en-AU" sz="1600" kern="100">
                                        <a:effectLst/>
                                        <a:latin typeface="Cambria Math" panose="02040503050406030204" pitchFamily="18" charset="0"/>
                                      </a:rPr>
                                      <m:t>𝑡</m:t>
                                    </m:r>
                                    <m:r>
                                      <a:rPr lang="en-AU" sz="1600" kern="100">
                                        <a:effectLst/>
                                        <a:latin typeface="Cambria Math" panose="02040503050406030204" pitchFamily="18" charset="0"/>
                                      </a:rPr>
                                      <m:t>=2007</m:t>
                                    </m:r>
                                  </m:e>
                                </m:d>
                              </m:oMath>
                            </m:oMathPara>
                          </a14:m>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pPr algn="ctr">
                            <a:lnSpc>
                              <a:spcPct val="107000"/>
                            </a:lnSpc>
                            <a:spcAft>
                              <a:spcPts val="800"/>
                            </a:spcAft>
                          </a:pPr>
                          <a:r>
                            <a:rPr lang="en-AU" sz="1600" kern="100">
                              <a:effectLst/>
                            </a:rPr>
                            <a:t>-0.266***</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extLst>
                      <a:ext uri="{0D108BD9-81ED-4DB2-BD59-A6C34878D82A}">
                        <a16:rowId xmlns:a16="http://schemas.microsoft.com/office/drawing/2014/main" val="2364453202"/>
                      </a:ext>
                    </a:extLst>
                  </a:tr>
                  <a:tr h="152708">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pPr algn="ctr">
                            <a:lnSpc>
                              <a:spcPct val="107000"/>
                            </a:lnSpc>
                            <a:spcAft>
                              <a:spcPts val="800"/>
                            </a:spcAft>
                          </a:pPr>
                          <a:r>
                            <a:rPr lang="en-AU" sz="1600" kern="100">
                              <a:effectLst/>
                            </a:rPr>
                            <a:t>(0.102)</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extLst>
                      <a:ext uri="{0D108BD9-81ED-4DB2-BD59-A6C34878D82A}">
                        <a16:rowId xmlns:a16="http://schemas.microsoft.com/office/drawing/2014/main" val="445521880"/>
                      </a:ext>
                    </a:extLst>
                  </a:tr>
                  <a:tr h="152708">
                    <a:tc>
                      <a:txBody>
                        <a:bodyPr/>
                        <a:lstStyle/>
                        <a:p>
                          <a:pPr>
                            <a:lnSpc>
                              <a:spcPct val="107000"/>
                            </a:lnSpc>
                            <a:spcAft>
                              <a:spcPts val="800"/>
                            </a:spcAft>
                          </a:pPr>
                          <a:r>
                            <a:rPr lang="en-AU" sz="1600" kern="100">
                              <a:effectLst/>
                            </a:rPr>
                            <a:t>constant</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a:txBody>
                        <a:bodyPr/>
                        <a:lstStyle/>
                        <a:p>
                          <a:pPr algn="ctr">
                            <a:lnSpc>
                              <a:spcPct val="107000"/>
                            </a:lnSpc>
                            <a:spcAft>
                              <a:spcPts val="800"/>
                            </a:spcAft>
                          </a:pPr>
                          <a:r>
                            <a:rPr lang="en-AU" sz="1600" kern="100">
                              <a:effectLst/>
                            </a:rPr>
                            <a:t>1.163***</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a:txBody>
                        <a:bodyPr/>
                        <a:lstStyle/>
                        <a:p>
                          <a:pPr algn="ctr">
                            <a:lnSpc>
                              <a:spcPct val="107000"/>
                            </a:lnSpc>
                            <a:spcAft>
                              <a:spcPts val="800"/>
                            </a:spcAft>
                          </a:pPr>
                          <a:r>
                            <a:rPr lang="en-AU" sz="1600" kern="100">
                              <a:effectLst/>
                            </a:rPr>
                            <a:t>1.170***</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a:txBody>
                        <a:bodyPr/>
                        <a:lstStyle/>
                        <a:p>
                          <a:pPr algn="ctr">
                            <a:lnSpc>
                              <a:spcPct val="107000"/>
                            </a:lnSpc>
                            <a:spcAft>
                              <a:spcPts val="800"/>
                            </a:spcAft>
                          </a:pPr>
                          <a:r>
                            <a:rPr lang="en-AU" sz="1600" kern="100">
                              <a:effectLst/>
                            </a:rPr>
                            <a:t>1.212***</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extLst>
                      <a:ext uri="{0D108BD9-81ED-4DB2-BD59-A6C34878D82A}">
                        <a16:rowId xmlns:a16="http://schemas.microsoft.com/office/drawing/2014/main" val="1008215563"/>
                      </a:ext>
                    </a:extLst>
                  </a:tr>
                  <a:tr h="152708">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pPr algn="ctr">
                            <a:lnSpc>
                              <a:spcPct val="107000"/>
                            </a:lnSpc>
                            <a:spcAft>
                              <a:spcPts val="800"/>
                            </a:spcAft>
                          </a:pPr>
                          <a:r>
                            <a:rPr lang="en-AU" sz="1600" kern="100">
                              <a:effectLst/>
                            </a:rPr>
                            <a:t>(0.150)</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a:txBody>
                        <a:bodyPr/>
                        <a:lstStyle/>
                        <a:p>
                          <a:pPr algn="ctr">
                            <a:lnSpc>
                              <a:spcPct val="107000"/>
                            </a:lnSpc>
                            <a:spcAft>
                              <a:spcPts val="800"/>
                            </a:spcAft>
                          </a:pPr>
                          <a:r>
                            <a:rPr lang="en-AU" sz="1600" kern="100">
                              <a:effectLst/>
                            </a:rPr>
                            <a:t>(0.153)</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a:txBody>
                        <a:bodyPr/>
                        <a:lstStyle/>
                        <a:p>
                          <a:pPr algn="ctr">
                            <a:lnSpc>
                              <a:spcPct val="107000"/>
                            </a:lnSpc>
                            <a:spcAft>
                              <a:spcPts val="800"/>
                            </a:spcAft>
                          </a:pPr>
                          <a:r>
                            <a:rPr lang="en-AU" sz="1600" kern="100">
                              <a:effectLst/>
                            </a:rPr>
                            <a:t>(0.155)</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extLst>
                      <a:ext uri="{0D108BD9-81ED-4DB2-BD59-A6C34878D82A}">
                        <a16:rowId xmlns:a16="http://schemas.microsoft.com/office/drawing/2014/main" val="2555135965"/>
                      </a:ext>
                    </a:extLst>
                  </a:tr>
                  <a:tr h="152708">
                    <a:tc>
                      <a:txBody>
                        <a:bodyPr/>
                        <a:lstStyle/>
                        <a:p>
                          <a:pPr>
                            <a:lnSpc>
                              <a:spcPct val="107000"/>
                            </a:lnSpc>
                            <a:spcAft>
                              <a:spcPts val="800"/>
                            </a:spcAft>
                          </a:pPr>
                          <a:r>
                            <a:rPr lang="en-AU" sz="1600" kern="100">
                              <a:effectLst/>
                            </a:rPr>
                            <a:t>dWTO</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a:txBody>
                        <a:bodyPr/>
                        <a:lstStyle/>
                        <a:p>
                          <a:pPr algn="ctr">
                            <a:lnSpc>
                              <a:spcPct val="107000"/>
                            </a:lnSpc>
                            <a:spcAft>
                              <a:spcPts val="800"/>
                            </a:spcAft>
                          </a:pPr>
                          <a:r>
                            <a:rPr lang="en-AU" sz="1600" kern="100">
                              <a:effectLst/>
                            </a:rPr>
                            <a:t>-0.135***</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a:txBody>
                        <a:bodyPr/>
                        <a:lstStyle/>
                        <a:p>
                          <a:pPr algn="ctr">
                            <a:lnSpc>
                              <a:spcPct val="107000"/>
                            </a:lnSpc>
                            <a:spcAft>
                              <a:spcPts val="800"/>
                            </a:spcAft>
                          </a:pPr>
                          <a:r>
                            <a:rPr lang="en-AU" sz="1600" kern="100">
                              <a:effectLst/>
                            </a:rPr>
                            <a:t>-0.184***</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extLst>
                      <a:ext uri="{0D108BD9-81ED-4DB2-BD59-A6C34878D82A}">
                        <a16:rowId xmlns:a16="http://schemas.microsoft.com/office/drawing/2014/main" val="4049148751"/>
                      </a:ext>
                    </a:extLst>
                  </a:tr>
                  <a:tr h="152708">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pPr algn="ctr">
                            <a:lnSpc>
                              <a:spcPct val="107000"/>
                            </a:lnSpc>
                            <a:spcAft>
                              <a:spcPts val="800"/>
                            </a:spcAft>
                          </a:pPr>
                          <a:r>
                            <a:rPr lang="en-AU" sz="1600" kern="100">
                              <a:effectLst/>
                            </a:rPr>
                            <a:t>(0.0496)</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a:txBody>
                        <a:bodyPr/>
                        <a:lstStyle/>
                        <a:p>
                          <a:pPr algn="ctr">
                            <a:lnSpc>
                              <a:spcPct val="107000"/>
                            </a:lnSpc>
                            <a:spcAft>
                              <a:spcPts val="800"/>
                            </a:spcAft>
                          </a:pPr>
                          <a:r>
                            <a:rPr lang="en-AU" sz="1600" kern="100">
                              <a:effectLst/>
                            </a:rPr>
                            <a:t>(0.0499)</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extLst>
                      <a:ext uri="{0D108BD9-81ED-4DB2-BD59-A6C34878D82A}">
                        <a16:rowId xmlns:a16="http://schemas.microsoft.com/office/drawing/2014/main" val="97875097"/>
                      </a:ext>
                    </a:extLst>
                  </a:tr>
                  <a:tr h="152708">
                    <a:tc>
                      <a:txBody>
                        <a:bodyPr/>
                        <a:lstStyle/>
                        <a:p>
                          <a:pPr>
                            <a:lnSpc>
                              <a:spcPct val="107000"/>
                            </a:lnSpc>
                            <a:spcAft>
                              <a:spcPts val="800"/>
                            </a:spcAft>
                          </a:pPr>
                          <a:r>
                            <a:rPr lang="en-AU" sz="1600" kern="100">
                              <a:effectLst/>
                            </a:rPr>
                            <a:t>N</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a:txBody>
                        <a:bodyPr/>
                        <a:lstStyle/>
                        <a:p>
                          <a:pPr algn="ctr">
                            <a:lnSpc>
                              <a:spcPct val="107000"/>
                            </a:lnSpc>
                            <a:spcAft>
                              <a:spcPts val="800"/>
                            </a:spcAft>
                          </a:pPr>
                          <a:r>
                            <a:rPr lang="en-AU" sz="1600" kern="100">
                              <a:effectLst/>
                            </a:rPr>
                            <a:t>374</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a:txBody>
                        <a:bodyPr/>
                        <a:lstStyle/>
                        <a:p>
                          <a:pPr algn="ctr">
                            <a:lnSpc>
                              <a:spcPct val="107000"/>
                            </a:lnSpc>
                            <a:spcAft>
                              <a:spcPts val="800"/>
                            </a:spcAft>
                          </a:pPr>
                          <a:r>
                            <a:rPr lang="en-AU" sz="1600" kern="100">
                              <a:effectLst/>
                            </a:rPr>
                            <a:t>374</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a:txBody>
                        <a:bodyPr/>
                        <a:lstStyle/>
                        <a:p>
                          <a:pPr algn="ctr">
                            <a:lnSpc>
                              <a:spcPct val="107000"/>
                            </a:lnSpc>
                            <a:spcAft>
                              <a:spcPts val="800"/>
                            </a:spcAft>
                          </a:pPr>
                          <a:r>
                            <a:rPr lang="en-AU" sz="1600" kern="100" dirty="0">
                              <a:effectLst/>
                            </a:rPr>
                            <a:t>374</a:t>
                          </a:r>
                          <a:endParaRPr lang="en-AU" sz="16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extLst>
                      <a:ext uri="{0D108BD9-81ED-4DB2-BD59-A6C34878D82A}">
                        <a16:rowId xmlns:a16="http://schemas.microsoft.com/office/drawing/2014/main" val="2663924763"/>
                      </a:ext>
                    </a:extLst>
                  </a:tr>
                  <a:tr h="744710">
                    <a:tc gridSpan="4">
                      <a:txBody>
                        <a:bodyPr/>
                        <a:lstStyle/>
                        <a:p>
                          <a:pPr>
                            <a:lnSpc>
                              <a:spcPct val="107000"/>
                            </a:lnSpc>
                            <a:spcAft>
                              <a:spcPts val="800"/>
                            </a:spcAft>
                          </a:pPr>
                          <a:r>
                            <a:rPr lang="en-AU" sz="1000" kern="100" dirty="0">
                              <a:effectLst/>
                            </a:rPr>
                            <a:t>Note: In [1], </a:t>
                          </a:r>
                          <a:r>
                            <a:rPr lang="en-AU" sz="1000" kern="100" dirty="0" err="1">
                              <a:effectLst/>
                            </a:rPr>
                            <a:t>dWTO</a:t>
                          </a:r>
                          <a:r>
                            <a:rPr lang="en-AU" sz="1000" kern="100" dirty="0">
                              <a:effectLst/>
                            </a:rPr>
                            <a:t> = 1 if post-WTO accession (year &gt; 2001); In [2], </a:t>
                          </a:r>
                          <a:r>
                            <a:rPr lang="en-AU" sz="1000" kern="100" dirty="0" err="1">
                              <a:effectLst/>
                            </a:rPr>
                            <a:t>dWTO</a:t>
                          </a:r>
                          <a:r>
                            <a:rPr lang="en-AU" sz="1000" kern="100" dirty="0">
                              <a:effectLst/>
                            </a:rPr>
                            <a:t> = 1 if year &gt; 2002, namely one year lagged; 1() is the indicator function; Bootstrap standard errors in parentheses; *** p&lt;0.01, ** p&lt;0.05, * p&lt;0.1. </a:t>
                          </a:r>
                        </a:p>
                        <a:p>
                          <a:pPr>
                            <a:lnSpc>
                              <a:spcPct val="107000"/>
                            </a:lnSpc>
                            <a:spcAft>
                              <a:spcPts val="800"/>
                            </a:spcAft>
                          </a:pPr>
                          <a:r>
                            <a:rPr lang="en-AU" sz="1000" kern="100" dirty="0">
                              <a:effectLst/>
                            </a:rPr>
                            <a:t>Source: The authors’ estimation with data from NBS, China.</a:t>
                          </a:r>
                          <a:endParaRPr lang="en-AU" sz="10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2011983961"/>
                      </a:ext>
                    </a:extLst>
                  </a:tr>
                </a:tbl>
              </a:graphicData>
            </a:graphic>
          </p:graphicFrame>
        </mc:Choice>
        <mc:Fallback xmlns="">
          <p:graphicFrame>
            <p:nvGraphicFramePr>
              <p:cNvPr id="4" name="Table 3">
                <a:extLst>
                  <a:ext uri="{FF2B5EF4-FFF2-40B4-BE49-F238E27FC236}">
                    <a16:creationId xmlns:a16="http://schemas.microsoft.com/office/drawing/2014/main" id="{2C3DC4AB-3F92-D975-71AD-E1E51F941577}"/>
                  </a:ext>
                </a:extLst>
              </p:cNvPr>
              <p:cNvGraphicFramePr>
                <a:graphicFrameLocks noGrp="1"/>
              </p:cNvGraphicFramePr>
              <p:nvPr>
                <p:extLst>
                  <p:ext uri="{D42A27DB-BD31-4B8C-83A1-F6EECF244321}">
                    <p14:modId xmlns:p14="http://schemas.microsoft.com/office/powerpoint/2010/main" val="2324480230"/>
                  </p:ext>
                </p:extLst>
              </p:nvPr>
            </p:nvGraphicFramePr>
            <p:xfrm>
              <a:off x="5973794" y="243456"/>
              <a:ext cx="5600891" cy="6431353"/>
            </p:xfrm>
            <a:graphic>
              <a:graphicData uri="http://schemas.openxmlformats.org/drawingml/2006/table">
                <a:tbl>
                  <a:tblPr firstRow="1" firstCol="1" bandRow="1">
                    <a:tableStyleId>{5C22544A-7EE6-4342-B048-85BDC9FD1C3A}</a:tableStyleId>
                  </a:tblPr>
                  <a:tblGrid>
                    <a:gridCol w="1580059">
                      <a:extLst>
                        <a:ext uri="{9D8B030D-6E8A-4147-A177-3AD203B41FA5}">
                          <a16:colId xmlns:a16="http://schemas.microsoft.com/office/drawing/2014/main" val="804926203"/>
                        </a:ext>
                      </a:extLst>
                    </a:gridCol>
                    <a:gridCol w="1367998">
                      <a:extLst>
                        <a:ext uri="{9D8B030D-6E8A-4147-A177-3AD203B41FA5}">
                          <a16:colId xmlns:a16="http://schemas.microsoft.com/office/drawing/2014/main" val="1983863031"/>
                        </a:ext>
                      </a:extLst>
                    </a:gridCol>
                    <a:gridCol w="1326417">
                      <a:extLst>
                        <a:ext uri="{9D8B030D-6E8A-4147-A177-3AD203B41FA5}">
                          <a16:colId xmlns:a16="http://schemas.microsoft.com/office/drawing/2014/main" val="582461893"/>
                        </a:ext>
                      </a:extLst>
                    </a:gridCol>
                    <a:gridCol w="1326417">
                      <a:extLst>
                        <a:ext uri="{9D8B030D-6E8A-4147-A177-3AD203B41FA5}">
                          <a16:colId xmlns:a16="http://schemas.microsoft.com/office/drawing/2014/main" val="4131726006"/>
                        </a:ext>
                      </a:extLst>
                    </a:gridCol>
                  </a:tblGrid>
                  <a:tr h="510794">
                    <a:tc gridSpan="4">
                      <a:txBody>
                        <a:bodyPr/>
                        <a:lstStyle/>
                        <a:p>
                          <a:pPr algn="ctr">
                            <a:lnSpc>
                              <a:spcPct val="107000"/>
                            </a:lnSpc>
                            <a:spcAft>
                              <a:spcPts val="800"/>
                            </a:spcAft>
                          </a:pPr>
                          <a:r>
                            <a:rPr lang="en-AU" sz="1600" kern="100">
                              <a:effectLst/>
                            </a:rPr>
                            <a:t>Table 4. The Impact of Trade Liberalization on the Iceberg Trade Cost</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4288462950"/>
                      </a:ext>
                    </a:extLst>
                  </a:tr>
                  <a:tr h="249873">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pPr algn="ctr">
                            <a:lnSpc>
                              <a:spcPct val="107000"/>
                            </a:lnSpc>
                            <a:spcAft>
                              <a:spcPts val="800"/>
                            </a:spcAft>
                          </a:pPr>
                          <a:r>
                            <a:rPr lang="en-AU" sz="1600" kern="100">
                              <a:effectLst/>
                            </a:rPr>
                            <a:t>[1]</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a:txBody>
                        <a:bodyPr/>
                        <a:lstStyle/>
                        <a:p>
                          <a:pPr algn="ctr">
                            <a:lnSpc>
                              <a:spcPct val="107000"/>
                            </a:lnSpc>
                            <a:spcAft>
                              <a:spcPts val="800"/>
                            </a:spcAft>
                          </a:pPr>
                          <a:r>
                            <a:rPr lang="en-AU" sz="1600" kern="100">
                              <a:effectLst/>
                            </a:rPr>
                            <a:t>[2]</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a:txBody>
                        <a:bodyPr/>
                        <a:lstStyle/>
                        <a:p>
                          <a:pPr algn="ctr">
                            <a:lnSpc>
                              <a:spcPct val="107000"/>
                            </a:lnSpc>
                            <a:spcAft>
                              <a:spcPts val="800"/>
                            </a:spcAft>
                          </a:pPr>
                          <a:r>
                            <a:rPr lang="en-AU" sz="1600" kern="100">
                              <a:effectLst/>
                            </a:rPr>
                            <a:t>[3]</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extLst>
                      <a:ext uri="{0D108BD9-81ED-4DB2-BD59-A6C34878D82A}">
                        <a16:rowId xmlns:a16="http://schemas.microsoft.com/office/drawing/2014/main" val="1485065084"/>
                      </a:ext>
                    </a:extLst>
                  </a:tr>
                  <a:tr h="362522">
                    <a:tc>
                      <a:txBody>
                        <a:bodyPr/>
                        <a:lstStyle/>
                        <a:p>
                          <a:endParaRPr lang="en-US"/>
                        </a:p>
                      </a:txBody>
                      <a:tcPr marL="56173" marR="56173" marT="0" marB="0" anchor="b">
                        <a:blipFill>
                          <a:blip r:embed="rId2"/>
                          <a:stretch>
                            <a:fillRect l="-385" t="-227119" r="-255385" b="-1500000"/>
                          </a:stretch>
                        </a:blipFill>
                      </a:tcPr>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pPr algn="ctr">
                            <a:lnSpc>
                              <a:spcPct val="107000"/>
                            </a:lnSpc>
                            <a:spcAft>
                              <a:spcPts val="800"/>
                            </a:spcAft>
                          </a:pPr>
                          <a:r>
                            <a:rPr lang="en-AU" sz="1600" kern="100">
                              <a:effectLst/>
                            </a:rPr>
                            <a:t>-0.0263</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extLst>
                      <a:ext uri="{0D108BD9-81ED-4DB2-BD59-A6C34878D82A}">
                        <a16:rowId xmlns:a16="http://schemas.microsoft.com/office/drawing/2014/main" val="1245240131"/>
                      </a:ext>
                    </a:extLst>
                  </a:tr>
                  <a:tr h="249873">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pPr algn="ctr">
                            <a:lnSpc>
                              <a:spcPct val="107000"/>
                            </a:lnSpc>
                            <a:spcAft>
                              <a:spcPts val="800"/>
                            </a:spcAft>
                          </a:pPr>
                          <a:r>
                            <a:rPr lang="en-AU" sz="1600" kern="100">
                              <a:effectLst/>
                            </a:rPr>
                            <a:t>(0.0877)</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extLst>
                      <a:ext uri="{0D108BD9-81ED-4DB2-BD59-A6C34878D82A}">
                        <a16:rowId xmlns:a16="http://schemas.microsoft.com/office/drawing/2014/main" val="3127051127"/>
                      </a:ext>
                    </a:extLst>
                  </a:tr>
                  <a:tr h="362522">
                    <a:tc>
                      <a:txBody>
                        <a:bodyPr/>
                        <a:lstStyle/>
                        <a:p>
                          <a:endParaRPr lang="en-US"/>
                        </a:p>
                      </a:txBody>
                      <a:tcPr marL="56173" marR="56173" marT="0" marB="0" anchor="b">
                        <a:blipFill>
                          <a:blip r:embed="rId2"/>
                          <a:stretch>
                            <a:fillRect l="-385" t="-390000" r="-255385" b="-1306667"/>
                          </a:stretch>
                        </a:blipFill>
                      </a:tcPr>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pPr algn="ctr">
                            <a:lnSpc>
                              <a:spcPct val="107000"/>
                            </a:lnSpc>
                            <a:spcAft>
                              <a:spcPts val="800"/>
                            </a:spcAft>
                          </a:pPr>
                          <a:r>
                            <a:rPr lang="en-AU" sz="1600" kern="100">
                              <a:effectLst/>
                            </a:rPr>
                            <a:t>-0.0559</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extLst>
                      <a:ext uri="{0D108BD9-81ED-4DB2-BD59-A6C34878D82A}">
                        <a16:rowId xmlns:a16="http://schemas.microsoft.com/office/drawing/2014/main" val="1604189421"/>
                      </a:ext>
                    </a:extLst>
                  </a:tr>
                  <a:tr h="249873">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pPr algn="ctr">
                            <a:lnSpc>
                              <a:spcPct val="107000"/>
                            </a:lnSpc>
                            <a:spcAft>
                              <a:spcPts val="800"/>
                            </a:spcAft>
                          </a:pPr>
                          <a:r>
                            <a:rPr lang="en-AU" sz="1600" kern="100">
                              <a:effectLst/>
                            </a:rPr>
                            <a:t>(0.0907)</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extLst>
                      <a:ext uri="{0D108BD9-81ED-4DB2-BD59-A6C34878D82A}">
                        <a16:rowId xmlns:a16="http://schemas.microsoft.com/office/drawing/2014/main" val="3218151809"/>
                      </a:ext>
                    </a:extLst>
                  </a:tr>
                  <a:tr h="362522">
                    <a:tc>
                      <a:txBody>
                        <a:bodyPr/>
                        <a:lstStyle/>
                        <a:p>
                          <a:endParaRPr lang="en-US"/>
                        </a:p>
                      </a:txBody>
                      <a:tcPr marL="56173" marR="56173" marT="0" marB="0" anchor="b">
                        <a:blipFill>
                          <a:blip r:embed="rId2"/>
                          <a:stretch>
                            <a:fillRect l="-385" t="-558333" r="-255385" b="-1138333"/>
                          </a:stretch>
                        </a:blipFill>
                      </a:tcPr>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pPr algn="ctr">
                            <a:lnSpc>
                              <a:spcPct val="107000"/>
                            </a:lnSpc>
                            <a:spcAft>
                              <a:spcPts val="800"/>
                            </a:spcAft>
                          </a:pPr>
                          <a:r>
                            <a:rPr lang="en-AU" sz="1600" kern="100">
                              <a:effectLst/>
                            </a:rPr>
                            <a:t>-0.186*</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extLst>
                      <a:ext uri="{0D108BD9-81ED-4DB2-BD59-A6C34878D82A}">
                        <a16:rowId xmlns:a16="http://schemas.microsoft.com/office/drawing/2014/main" val="805311385"/>
                      </a:ext>
                    </a:extLst>
                  </a:tr>
                  <a:tr h="249873">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pPr algn="ctr">
                            <a:lnSpc>
                              <a:spcPct val="107000"/>
                            </a:lnSpc>
                            <a:spcAft>
                              <a:spcPts val="800"/>
                            </a:spcAft>
                          </a:pPr>
                          <a:r>
                            <a:rPr lang="en-AU" sz="1600" kern="100">
                              <a:effectLst/>
                            </a:rPr>
                            <a:t>(0.110)</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extLst>
                      <a:ext uri="{0D108BD9-81ED-4DB2-BD59-A6C34878D82A}">
                        <a16:rowId xmlns:a16="http://schemas.microsoft.com/office/drawing/2014/main" val="1037503943"/>
                      </a:ext>
                    </a:extLst>
                  </a:tr>
                  <a:tr h="362522">
                    <a:tc>
                      <a:txBody>
                        <a:bodyPr/>
                        <a:lstStyle/>
                        <a:p>
                          <a:endParaRPr lang="en-US"/>
                        </a:p>
                      </a:txBody>
                      <a:tcPr marL="56173" marR="56173" marT="0" marB="0" anchor="b">
                        <a:blipFill>
                          <a:blip r:embed="rId2"/>
                          <a:stretch>
                            <a:fillRect l="-385" t="-738983" r="-255385" b="-988136"/>
                          </a:stretch>
                        </a:blipFill>
                      </a:tcPr>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pPr algn="ctr">
                            <a:lnSpc>
                              <a:spcPct val="107000"/>
                            </a:lnSpc>
                            <a:spcAft>
                              <a:spcPts val="800"/>
                            </a:spcAft>
                          </a:pPr>
                          <a:r>
                            <a:rPr lang="en-AU" sz="1600" kern="100">
                              <a:effectLst/>
                            </a:rPr>
                            <a:t>-0.221**</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extLst>
                      <a:ext uri="{0D108BD9-81ED-4DB2-BD59-A6C34878D82A}">
                        <a16:rowId xmlns:a16="http://schemas.microsoft.com/office/drawing/2014/main" val="2796080472"/>
                      </a:ext>
                    </a:extLst>
                  </a:tr>
                  <a:tr h="249873">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pPr algn="ctr">
                            <a:lnSpc>
                              <a:spcPct val="107000"/>
                            </a:lnSpc>
                            <a:spcAft>
                              <a:spcPts val="800"/>
                            </a:spcAft>
                          </a:pPr>
                          <a:r>
                            <a:rPr lang="en-AU" sz="1600" kern="100">
                              <a:effectLst/>
                            </a:rPr>
                            <a:t>(0.0986)</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extLst>
                      <a:ext uri="{0D108BD9-81ED-4DB2-BD59-A6C34878D82A}">
                        <a16:rowId xmlns:a16="http://schemas.microsoft.com/office/drawing/2014/main" val="4062843624"/>
                      </a:ext>
                    </a:extLst>
                  </a:tr>
                  <a:tr h="362522">
                    <a:tc>
                      <a:txBody>
                        <a:bodyPr/>
                        <a:lstStyle/>
                        <a:p>
                          <a:endParaRPr lang="en-US"/>
                        </a:p>
                      </a:txBody>
                      <a:tcPr marL="56173" marR="56173" marT="0" marB="0" anchor="b">
                        <a:blipFill>
                          <a:blip r:embed="rId2"/>
                          <a:stretch>
                            <a:fillRect l="-385" t="-893333" r="-255385" b="-803333"/>
                          </a:stretch>
                        </a:blipFill>
                      </a:tcPr>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pPr algn="ctr">
                            <a:lnSpc>
                              <a:spcPct val="107000"/>
                            </a:lnSpc>
                            <a:spcAft>
                              <a:spcPts val="800"/>
                            </a:spcAft>
                          </a:pPr>
                          <a:r>
                            <a:rPr lang="en-AU" sz="1600" kern="100">
                              <a:effectLst/>
                            </a:rPr>
                            <a:t>-0.273***</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extLst>
                      <a:ext uri="{0D108BD9-81ED-4DB2-BD59-A6C34878D82A}">
                        <a16:rowId xmlns:a16="http://schemas.microsoft.com/office/drawing/2014/main" val="2168615384"/>
                      </a:ext>
                    </a:extLst>
                  </a:tr>
                  <a:tr h="249873">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pPr algn="ctr">
                            <a:lnSpc>
                              <a:spcPct val="107000"/>
                            </a:lnSpc>
                            <a:spcAft>
                              <a:spcPts val="800"/>
                            </a:spcAft>
                          </a:pPr>
                          <a:r>
                            <a:rPr lang="en-AU" sz="1600" kern="100">
                              <a:effectLst/>
                            </a:rPr>
                            <a:t>(0.100)</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extLst>
                      <a:ext uri="{0D108BD9-81ED-4DB2-BD59-A6C34878D82A}">
                        <a16:rowId xmlns:a16="http://schemas.microsoft.com/office/drawing/2014/main" val="2121258805"/>
                      </a:ext>
                    </a:extLst>
                  </a:tr>
                  <a:tr h="362522">
                    <a:tc>
                      <a:txBody>
                        <a:bodyPr/>
                        <a:lstStyle/>
                        <a:p>
                          <a:endParaRPr lang="en-US"/>
                        </a:p>
                      </a:txBody>
                      <a:tcPr marL="56173" marR="56173" marT="0" marB="0" anchor="b">
                        <a:blipFill>
                          <a:blip r:embed="rId2"/>
                          <a:stretch>
                            <a:fillRect l="-385" t="-1079661" r="-255385" b="-647458"/>
                          </a:stretch>
                        </a:blipFill>
                      </a:tcPr>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pPr algn="ctr">
                            <a:lnSpc>
                              <a:spcPct val="107000"/>
                            </a:lnSpc>
                            <a:spcAft>
                              <a:spcPts val="800"/>
                            </a:spcAft>
                          </a:pPr>
                          <a:r>
                            <a:rPr lang="en-AU" sz="1600" kern="100">
                              <a:effectLst/>
                            </a:rPr>
                            <a:t>-0.266***</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extLst>
                      <a:ext uri="{0D108BD9-81ED-4DB2-BD59-A6C34878D82A}">
                        <a16:rowId xmlns:a16="http://schemas.microsoft.com/office/drawing/2014/main" val="2364453202"/>
                      </a:ext>
                    </a:extLst>
                  </a:tr>
                  <a:tr h="249873">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pPr algn="ctr">
                            <a:lnSpc>
                              <a:spcPct val="107000"/>
                            </a:lnSpc>
                            <a:spcAft>
                              <a:spcPts val="800"/>
                            </a:spcAft>
                          </a:pPr>
                          <a:r>
                            <a:rPr lang="en-AU" sz="1600" kern="100">
                              <a:effectLst/>
                            </a:rPr>
                            <a:t>(0.102)</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extLst>
                      <a:ext uri="{0D108BD9-81ED-4DB2-BD59-A6C34878D82A}">
                        <a16:rowId xmlns:a16="http://schemas.microsoft.com/office/drawing/2014/main" val="445521880"/>
                      </a:ext>
                    </a:extLst>
                  </a:tr>
                  <a:tr h="249873">
                    <a:tc>
                      <a:txBody>
                        <a:bodyPr/>
                        <a:lstStyle/>
                        <a:p>
                          <a:pPr>
                            <a:lnSpc>
                              <a:spcPct val="107000"/>
                            </a:lnSpc>
                            <a:spcAft>
                              <a:spcPts val="800"/>
                            </a:spcAft>
                          </a:pPr>
                          <a:r>
                            <a:rPr lang="en-AU" sz="1600" kern="100">
                              <a:effectLst/>
                            </a:rPr>
                            <a:t>constant</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a:txBody>
                        <a:bodyPr/>
                        <a:lstStyle/>
                        <a:p>
                          <a:pPr algn="ctr">
                            <a:lnSpc>
                              <a:spcPct val="107000"/>
                            </a:lnSpc>
                            <a:spcAft>
                              <a:spcPts val="800"/>
                            </a:spcAft>
                          </a:pPr>
                          <a:r>
                            <a:rPr lang="en-AU" sz="1600" kern="100">
                              <a:effectLst/>
                            </a:rPr>
                            <a:t>1.163***</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a:txBody>
                        <a:bodyPr/>
                        <a:lstStyle/>
                        <a:p>
                          <a:pPr algn="ctr">
                            <a:lnSpc>
                              <a:spcPct val="107000"/>
                            </a:lnSpc>
                            <a:spcAft>
                              <a:spcPts val="800"/>
                            </a:spcAft>
                          </a:pPr>
                          <a:r>
                            <a:rPr lang="en-AU" sz="1600" kern="100">
                              <a:effectLst/>
                            </a:rPr>
                            <a:t>1.170***</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a:txBody>
                        <a:bodyPr/>
                        <a:lstStyle/>
                        <a:p>
                          <a:pPr algn="ctr">
                            <a:lnSpc>
                              <a:spcPct val="107000"/>
                            </a:lnSpc>
                            <a:spcAft>
                              <a:spcPts val="800"/>
                            </a:spcAft>
                          </a:pPr>
                          <a:r>
                            <a:rPr lang="en-AU" sz="1600" kern="100">
                              <a:effectLst/>
                            </a:rPr>
                            <a:t>1.212***</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extLst>
                      <a:ext uri="{0D108BD9-81ED-4DB2-BD59-A6C34878D82A}">
                        <a16:rowId xmlns:a16="http://schemas.microsoft.com/office/drawing/2014/main" val="1008215563"/>
                      </a:ext>
                    </a:extLst>
                  </a:tr>
                  <a:tr h="249873">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pPr algn="ctr">
                            <a:lnSpc>
                              <a:spcPct val="107000"/>
                            </a:lnSpc>
                            <a:spcAft>
                              <a:spcPts val="800"/>
                            </a:spcAft>
                          </a:pPr>
                          <a:r>
                            <a:rPr lang="en-AU" sz="1600" kern="100">
                              <a:effectLst/>
                            </a:rPr>
                            <a:t>(0.150)</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a:txBody>
                        <a:bodyPr/>
                        <a:lstStyle/>
                        <a:p>
                          <a:pPr algn="ctr">
                            <a:lnSpc>
                              <a:spcPct val="107000"/>
                            </a:lnSpc>
                            <a:spcAft>
                              <a:spcPts val="800"/>
                            </a:spcAft>
                          </a:pPr>
                          <a:r>
                            <a:rPr lang="en-AU" sz="1600" kern="100">
                              <a:effectLst/>
                            </a:rPr>
                            <a:t>(0.153)</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a:txBody>
                        <a:bodyPr/>
                        <a:lstStyle/>
                        <a:p>
                          <a:pPr algn="ctr">
                            <a:lnSpc>
                              <a:spcPct val="107000"/>
                            </a:lnSpc>
                            <a:spcAft>
                              <a:spcPts val="800"/>
                            </a:spcAft>
                          </a:pPr>
                          <a:r>
                            <a:rPr lang="en-AU" sz="1600" kern="100">
                              <a:effectLst/>
                            </a:rPr>
                            <a:t>(0.155)</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extLst>
                      <a:ext uri="{0D108BD9-81ED-4DB2-BD59-A6C34878D82A}">
                        <a16:rowId xmlns:a16="http://schemas.microsoft.com/office/drawing/2014/main" val="2555135965"/>
                      </a:ext>
                    </a:extLst>
                  </a:tr>
                  <a:tr h="249873">
                    <a:tc>
                      <a:txBody>
                        <a:bodyPr/>
                        <a:lstStyle/>
                        <a:p>
                          <a:pPr>
                            <a:lnSpc>
                              <a:spcPct val="107000"/>
                            </a:lnSpc>
                            <a:spcAft>
                              <a:spcPts val="800"/>
                            </a:spcAft>
                          </a:pPr>
                          <a:r>
                            <a:rPr lang="en-AU" sz="1600" kern="100">
                              <a:effectLst/>
                            </a:rPr>
                            <a:t>dWTO</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a:txBody>
                        <a:bodyPr/>
                        <a:lstStyle/>
                        <a:p>
                          <a:pPr algn="ctr">
                            <a:lnSpc>
                              <a:spcPct val="107000"/>
                            </a:lnSpc>
                            <a:spcAft>
                              <a:spcPts val="800"/>
                            </a:spcAft>
                          </a:pPr>
                          <a:r>
                            <a:rPr lang="en-AU" sz="1600" kern="100">
                              <a:effectLst/>
                            </a:rPr>
                            <a:t>-0.135***</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a:txBody>
                        <a:bodyPr/>
                        <a:lstStyle/>
                        <a:p>
                          <a:pPr algn="ctr">
                            <a:lnSpc>
                              <a:spcPct val="107000"/>
                            </a:lnSpc>
                            <a:spcAft>
                              <a:spcPts val="800"/>
                            </a:spcAft>
                          </a:pPr>
                          <a:r>
                            <a:rPr lang="en-AU" sz="1600" kern="100">
                              <a:effectLst/>
                            </a:rPr>
                            <a:t>-0.184***</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extLst>
                      <a:ext uri="{0D108BD9-81ED-4DB2-BD59-A6C34878D82A}">
                        <a16:rowId xmlns:a16="http://schemas.microsoft.com/office/drawing/2014/main" val="4049148751"/>
                      </a:ext>
                    </a:extLst>
                  </a:tr>
                  <a:tr h="249873">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tc>
                      <a:txBody>
                        <a:bodyPr/>
                        <a:lstStyle/>
                        <a:p>
                          <a:pPr algn="ctr">
                            <a:lnSpc>
                              <a:spcPct val="107000"/>
                            </a:lnSpc>
                            <a:spcAft>
                              <a:spcPts val="800"/>
                            </a:spcAft>
                          </a:pPr>
                          <a:r>
                            <a:rPr lang="en-AU" sz="1600" kern="100">
                              <a:effectLst/>
                            </a:rPr>
                            <a:t>(0.0496)</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a:txBody>
                        <a:bodyPr/>
                        <a:lstStyle/>
                        <a:p>
                          <a:pPr algn="ctr">
                            <a:lnSpc>
                              <a:spcPct val="107000"/>
                            </a:lnSpc>
                            <a:spcAft>
                              <a:spcPts val="800"/>
                            </a:spcAft>
                          </a:pPr>
                          <a:r>
                            <a:rPr lang="en-AU" sz="1600" kern="100">
                              <a:effectLst/>
                            </a:rPr>
                            <a:t>(0.0499)</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a:txBody>
                        <a:bodyPr/>
                        <a:lstStyle/>
                        <a:p>
                          <a:endParaRPr lang="en-AU" sz="1600" kern="100">
                            <a:effectLst/>
                            <a:latin typeface="DengXian" panose="02010600030101010101" pitchFamily="2" charset="-122"/>
                            <a:ea typeface="DengXian" panose="02010600030101010101" pitchFamily="2" charset="-122"/>
                          </a:endParaRPr>
                        </a:p>
                      </a:txBody>
                      <a:tcPr marL="56173" marR="56173" marT="0" marB="0" anchor="b"/>
                    </a:tc>
                    <a:extLst>
                      <a:ext uri="{0D108BD9-81ED-4DB2-BD59-A6C34878D82A}">
                        <a16:rowId xmlns:a16="http://schemas.microsoft.com/office/drawing/2014/main" val="97875097"/>
                      </a:ext>
                    </a:extLst>
                  </a:tr>
                  <a:tr h="249873">
                    <a:tc>
                      <a:txBody>
                        <a:bodyPr/>
                        <a:lstStyle/>
                        <a:p>
                          <a:pPr>
                            <a:lnSpc>
                              <a:spcPct val="107000"/>
                            </a:lnSpc>
                            <a:spcAft>
                              <a:spcPts val="800"/>
                            </a:spcAft>
                          </a:pPr>
                          <a:r>
                            <a:rPr lang="en-AU" sz="1600" kern="100">
                              <a:effectLst/>
                            </a:rPr>
                            <a:t>N</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a:txBody>
                        <a:bodyPr/>
                        <a:lstStyle/>
                        <a:p>
                          <a:pPr algn="ctr">
                            <a:lnSpc>
                              <a:spcPct val="107000"/>
                            </a:lnSpc>
                            <a:spcAft>
                              <a:spcPts val="800"/>
                            </a:spcAft>
                          </a:pPr>
                          <a:r>
                            <a:rPr lang="en-AU" sz="1600" kern="100">
                              <a:effectLst/>
                            </a:rPr>
                            <a:t>374</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a:txBody>
                        <a:bodyPr/>
                        <a:lstStyle/>
                        <a:p>
                          <a:pPr algn="ctr">
                            <a:lnSpc>
                              <a:spcPct val="107000"/>
                            </a:lnSpc>
                            <a:spcAft>
                              <a:spcPts val="800"/>
                            </a:spcAft>
                          </a:pPr>
                          <a:r>
                            <a:rPr lang="en-AU" sz="1600" kern="100">
                              <a:effectLst/>
                            </a:rPr>
                            <a:t>374</a:t>
                          </a:r>
                          <a:endParaRPr lang="en-AU" sz="16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a:txBody>
                        <a:bodyPr/>
                        <a:lstStyle/>
                        <a:p>
                          <a:pPr algn="ctr">
                            <a:lnSpc>
                              <a:spcPct val="107000"/>
                            </a:lnSpc>
                            <a:spcAft>
                              <a:spcPts val="800"/>
                            </a:spcAft>
                          </a:pPr>
                          <a:r>
                            <a:rPr lang="en-AU" sz="1600" kern="100" dirty="0">
                              <a:effectLst/>
                            </a:rPr>
                            <a:t>374</a:t>
                          </a:r>
                          <a:endParaRPr lang="en-AU" sz="16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extLst>
                      <a:ext uri="{0D108BD9-81ED-4DB2-BD59-A6C34878D82A}">
                        <a16:rowId xmlns:a16="http://schemas.microsoft.com/office/drawing/2014/main" val="2663924763"/>
                      </a:ext>
                    </a:extLst>
                  </a:tr>
                  <a:tr h="746951">
                    <a:tc gridSpan="4">
                      <a:txBody>
                        <a:bodyPr/>
                        <a:lstStyle/>
                        <a:p>
                          <a:pPr>
                            <a:lnSpc>
                              <a:spcPct val="107000"/>
                            </a:lnSpc>
                            <a:spcAft>
                              <a:spcPts val="800"/>
                            </a:spcAft>
                          </a:pPr>
                          <a:r>
                            <a:rPr lang="en-AU" sz="1000" kern="100" dirty="0">
                              <a:effectLst/>
                            </a:rPr>
                            <a:t>Note: In [1], </a:t>
                          </a:r>
                          <a:r>
                            <a:rPr lang="en-AU" sz="1000" kern="100" dirty="0" err="1">
                              <a:effectLst/>
                            </a:rPr>
                            <a:t>dWTO</a:t>
                          </a:r>
                          <a:r>
                            <a:rPr lang="en-AU" sz="1000" kern="100" dirty="0">
                              <a:effectLst/>
                            </a:rPr>
                            <a:t> = 1 if post-WTO accession (year &gt; 2001); In [2], </a:t>
                          </a:r>
                          <a:r>
                            <a:rPr lang="en-AU" sz="1000" kern="100" dirty="0" err="1">
                              <a:effectLst/>
                            </a:rPr>
                            <a:t>dWTO</a:t>
                          </a:r>
                          <a:r>
                            <a:rPr lang="en-AU" sz="1000" kern="100" dirty="0">
                              <a:effectLst/>
                            </a:rPr>
                            <a:t> = 1 if year &gt; 2002, namely one year lagged; 1() is the indicator function; Bootstrap standard errors in parentheses; *** p&lt;0.01, ** p&lt;0.05, * p&lt;0.1. </a:t>
                          </a:r>
                        </a:p>
                        <a:p>
                          <a:pPr>
                            <a:lnSpc>
                              <a:spcPct val="107000"/>
                            </a:lnSpc>
                            <a:spcAft>
                              <a:spcPts val="800"/>
                            </a:spcAft>
                          </a:pPr>
                          <a:r>
                            <a:rPr lang="en-AU" sz="1000" kern="100" dirty="0">
                              <a:effectLst/>
                            </a:rPr>
                            <a:t>Source: The authors’ estimation with data from NBS, China.</a:t>
                          </a:r>
                          <a:endParaRPr lang="en-AU" sz="10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56173" marR="56173" marT="0" marB="0" anchor="b"/>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2011983961"/>
                      </a:ext>
                    </a:extLst>
                  </a:tr>
                </a:tbl>
              </a:graphicData>
            </a:graphic>
          </p:graphicFrame>
        </mc:Fallback>
      </mc:AlternateContent>
    </p:spTree>
    <p:extLst>
      <p:ext uri="{BB962C8B-B14F-4D97-AF65-F5344CB8AC3E}">
        <p14:creationId xmlns:p14="http://schemas.microsoft.com/office/powerpoint/2010/main" val="36230267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6EC90-780C-0417-A7B6-21B043871B58}"/>
              </a:ext>
            </a:extLst>
          </p:cNvPr>
          <p:cNvSpPr>
            <a:spLocks noGrp="1"/>
          </p:cNvSpPr>
          <p:nvPr>
            <p:ph type="title"/>
          </p:nvPr>
        </p:nvSpPr>
        <p:spPr/>
        <p:txBody>
          <a:bodyPr/>
          <a:lstStyle/>
          <a:p>
            <a:r>
              <a:rPr lang="en-AU" dirty="0"/>
              <a:t>Results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6D353C8-B984-946A-ABF9-CF537B93A067}"/>
                  </a:ext>
                </a:extLst>
              </p:cNvPr>
              <p:cNvSpPr>
                <a:spLocks noGrp="1"/>
              </p:cNvSpPr>
              <p:nvPr>
                <p:ph idx="1"/>
              </p:nvPr>
            </p:nvSpPr>
            <p:spPr/>
            <p:txBody>
              <a:bodyPr/>
              <a:lstStyle/>
              <a:p>
                <a:r>
                  <a:rPr lang="en-AU" dirty="0"/>
                  <a:t>The transition probability matrixes (</a:t>
                </a:r>
                <a14:m>
                  <m:oMath xmlns:m="http://schemas.openxmlformats.org/officeDocument/2006/math">
                    <m:acc>
                      <m:accPr>
                        <m:chr m:val="̂"/>
                        <m:ctrlPr>
                          <a:rPr lang="en-AU" i="1">
                            <a:latin typeface="Cambria Math" panose="02040503050406030204" pitchFamily="18" charset="0"/>
                          </a:rPr>
                        </m:ctrlPr>
                      </m:accPr>
                      <m:e>
                        <m:r>
                          <m:rPr>
                            <m:sty m:val="p"/>
                          </m:rPr>
                          <a:rPr lang="en-AU">
                            <a:latin typeface="Cambria Math" panose="02040503050406030204" pitchFamily="18" charset="0"/>
                          </a:rPr>
                          <m:t>Σ</m:t>
                        </m:r>
                      </m:e>
                    </m:acc>
                  </m:oMath>
                </a14:m>
                <a:r>
                  <a:rPr lang="en-AU" dirty="0"/>
                  <a:t>)</a:t>
                </a:r>
              </a:p>
              <a:p>
                <a:r>
                  <a:rPr lang="en-AU" dirty="0"/>
                  <a:t>Export and innovation have a dynamic benefit of helping firms move to a better state, namely </a:t>
                </a:r>
                <a14:m>
                  <m:oMath xmlns:m="http://schemas.openxmlformats.org/officeDocument/2006/math">
                    <m:acc>
                      <m:accPr>
                        <m:chr m:val="̂"/>
                        <m:ctrlPr>
                          <a:rPr lang="en-AU" i="1">
                            <a:latin typeface="Cambria Math" panose="02040503050406030204" pitchFamily="18" charset="0"/>
                          </a:rPr>
                        </m:ctrlPr>
                      </m:accPr>
                      <m:e>
                        <m:r>
                          <m:rPr>
                            <m:sty m:val="p"/>
                          </m:rPr>
                          <a:rPr lang="en-AU">
                            <a:latin typeface="Cambria Math" panose="02040503050406030204" pitchFamily="18" charset="0"/>
                          </a:rPr>
                          <m:t>Σ</m:t>
                        </m:r>
                      </m:e>
                    </m:acc>
                    <m:d>
                      <m:dPr>
                        <m:ctrlPr>
                          <a:rPr lang="en-AU" i="1">
                            <a:latin typeface="Cambria Math" panose="02040503050406030204" pitchFamily="18" charset="0"/>
                          </a:rPr>
                        </m:ctrlPr>
                      </m:dPr>
                      <m:e>
                        <m:sSub>
                          <m:sSubPr>
                            <m:ctrlPr>
                              <a:rPr lang="en-AU" i="1">
                                <a:latin typeface="Cambria Math" panose="02040503050406030204" pitchFamily="18" charset="0"/>
                              </a:rPr>
                            </m:ctrlPr>
                          </m:sSubPr>
                          <m:e>
                            <m:r>
                              <a:rPr lang="en-AU">
                                <a:latin typeface="Cambria Math" panose="02040503050406030204" pitchFamily="18" charset="0"/>
                              </a:rPr>
                              <m:t>𝜒</m:t>
                            </m:r>
                          </m:e>
                          <m:sub>
                            <m:r>
                              <a:rPr lang="en-AU">
                                <a:latin typeface="Cambria Math" panose="02040503050406030204" pitchFamily="18" charset="0"/>
                              </a:rPr>
                              <m:t>1</m:t>
                            </m:r>
                          </m:sub>
                        </m:sSub>
                        <m:r>
                          <a:rPr lang="en-AU">
                            <a:latin typeface="Cambria Math" panose="02040503050406030204" pitchFamily="18" charset="0"/>
                          </a:rPr>
                          <m:t>=1,</m:t>
                        </m:r>
                        <m:sSub>
                          <m:sSubPr>
                            <m:ctrlPr>
                              <a:rPr lang="en-AU" i="1">
                                <a:latin typeface="Cambria Math" panose="02040503050406030204" pitchFamily="18" charset="0"/>
                              </a:rPr>
                            </m:ctrlPr>
                          </m:sSubPr>
                          <m:e>
                            <m:r>
                              <a:rPr lang="en-AU">
                                <a:latin typeface="Cambria Math" panose="02040503050406030204" pitchFamily="18" charset="0"/>
                              </a:rPr>
                              <m:t>𝜒</m:t>
                            </m:r>
                          </m:e>
                          <m:sub>
                            <m:r>
                              <a:rPr lang="en-AU">
                                <a:latin typeface="Cambria Math" panose="02040503050406030204" pitchFamily="18" charset="0"/>
                              </a:rPr>
                              <m:t>2</m:t>
                            </m:r>
                          </m:sub>
                        </m:sSub>
                        <m:r>
                          <a:rPr lang="en-AU">
                            <a:latin typeface="Cambria Math" panose="02040503050406030204" pitchFamily="18" charset="0"/>
                          </a:rPr>
                          <m:t>=1</m:t>
                        </m:r>
                      </m:e>
                    </m:d>
                  </m:oMath>
                </a14:m>
                <a:r>
                  <a:rPr lang="en-AU" dirty="0"/>
                  <a:t>, </a:t>
                </a:r>
                <a14:m>
                  <m:oMath xmlns:m="http://schemas.openxmlformats.org/officeDocument/2006/math">
                    <m:acc>
                      <m:accPr>
                        <m:chr m:val="̂"/>
                        <m:ctrlPr>
                          <a:rPr lang="en-AU" i="1">
                            <a:latin typeface="Cambria Math" panose="02040503050406030204" pitchFamily="18" charset="0"/>
                          </a:rPr>
                        </m:ctrlPr>
                      </m:accPr>
                      <m:e>
                        <m:r>
                          <m:rPr>
                            <m:sty m:val="p"/>
                          </m:rPr>
                          <a:rPr lang="en-AU">
                            <a:latin typeface="Cambria Math" panose="02040503050406030204" pitchFamily="18" charset="0"/>
                          </a:rPr>
                          <m:t>Σ</m:t>
                        </m:r>
                      </m:e>
                    </m:acc>
                    <m:d>
                      <m:dPr>
                        <m:ctrlPr>
                          <a:rPr lang="en-AU" i="1">
                            <a:latin typeface="Cambria Math" panose="02040503050406030204" pitchFamily="18" charset="0"/>
                          </a:rPr>
                        </m:ctrlPr>
                      </m:dPr>
                      <m:e>
                        <m:sSub>
                          <m:sSubPr>
                            <m:ctrlPr>
                              <a:rPr lang="en-AU" i="1">
                                <a:latin typeface="Cambria Math" panose="02040503050406030204" pitchFamily="18" charset="0"/>
                              </a:rPr>
                            </m:ctrlPr>
                          </m:sSubPr>
                          <m:e>
                            <m:r>
                              <a:rPr lang="en-AU">
                                <a:latin typeface="Cambria Math" panose="02040503050406030204" pitchFamily="18" charset="0"/>
                              </a:rPr>
                              <m:t>𝜒</m:t>
                            </m:r>
                          </m:e>
                          <m:sub>
                            <m:r>
                              <a:rPr lang="en-AU">
                                <a:latin typeface="Cambria Math" panose="02040503050406030204" pitchFamily="18" charset="0"/>
                              </a:rPr>
                              <m:t>1</m:t>
                            </m:r>
                          </m:sub>
                        </m:sSub>
                        <m:r>
                          <a:rPr lang="en-AU">
                            <a:latin typeface="Cambria Math" panose="02040503050406030204" pitchFamily="18" charset="0"/>
                          </a:rPr>
                          <m:t>=1,</m:t>
                        </m:r>
                        <m:sSub>
                          <m:sSubPr>
                            <m:ctrlPr>
                              <a:rPr lang="en-AU" i="1">
                                <a:latin typeface="Cambria Math" panose="02040503050406030204" pitchFamily="18" charset="0"/>
                              </a:rPr>
                            </m:ctrlPr>
                          </m:sSubPr>
                          <m:e>
                            <m:r>
                              <a:rPr lang="en-AU">
                                <a:latin typeface="Cambria Math" panose="02040503050406030204" pitchFamily="18" charset="0"/>
                              </a:rPr>
                              <m:t>𝜒</m:t>
                            </m:r>
                          </m:e>
                          <m:sub>
                            <m:r>
                              <a:rPr lang="en-AU">
                                <a:latin typeface="Cambria Math" panose="02040503050406030204" pitchFamily="18" charset="0"/>
                              </a:rPr>
                              <m:t>2</m:t>
                            </m:r>
                          </m:sub>
                        </m:sSub>
                        <m:r>
                          <a:rPr lang="en-AU">
                            <a:latin typeface="Cambria Math" panose="02040503050406030204" pitchFamily="18" charset="0"/>
                          </a:rPr>
                          <m:t>=0</m:t>
                        </m:r>
                      </m:e>
                    </m:d>
                  </m:oMath>
                </a14:m>
                <a:r>
                  <a:rPr lang="en-AU" dirty="0"/>
                  <a:t> and </a:t>
                </a:r>
                <a14:m>
                  <m:oMath xmlns:m="http://schemas.openxmlformats.org/officeDocument/2006/math">
                    <m:acc>
                      <m:accPr>
                        <m:chr m:val="̂"/>
                        <m:ctrlPr>
                          <a:rPr lang="en-AU" i="1">
                            <a:latin typeface="Cambria Math" panose="02040503050406030204" pitchFamily="18" charset="0"/>
                          </a:rPr>
                        </m:ctrlPr>
                      </m:accPr>
                      <m:e>
                        <m:r>
                          <m:rPr>
                            <m:sty m:val="p"/>
                          </m:rPr>
                          <a:rPr lang="en-AU">
                            <a:latin typeface="Cambria Math" panose="02040503050406030204" pitchFamily="18" charset="0"/>
                          </a:rPr>
                          <m:t>Σ</m:t>
                        </m:r>
                      </m:e>
                    </m:acc>
                    <m:d>
                      <m:dPr>
                        <m:ctrlPr>
                          <a:rPr lang="en-AU" i="1">
                            <a:latin typeface="Cambria Math" panose="02040503050406030204" pitchFamily="18" charset="0"/>
                          </a:rPr>
                        </m:ctrlPr>
                      </m:dPr>
                      <m:e>
                        <m:sSub>
                          <m:sSubPr>
                            <m:ctrlPr>
                              <a:rPr lang="en-AU" i="1">
                                <a:latin typeface="Cambria Math" panose="02040503050406030204" pitchFamily="18" charset="0"/>
                              </a:rPr>
                            </m:ctrlPr>
                          </m:sSubPr>
                          <m:e>
                            <m:r>
                              <a:rPr lang="en-AU">
                                <a:latin typeface="Cambria Math" panose="02040503050406030204" pitchFamily="18" charset="0"/>
                              </a:rPr>
                              <m:t>𝜒</m:t>
                            </m:r>
                          </m:e>
                          <m:sub>
                            <m:r>
                              <a:rPr lang="en-AU">
                                <a:latin typeface="Cambria Math" panose="02040503050406030204" pitchFamily="18" charset="0"/>
                              </a:rPr>
                              <m:t>1</m:t>
                            </m:r>
                          </m:sub>
                        </m:sSub>
                        <m:r>
                          <a:rPr lang="en-AU">
                            <a:latin typeface="Cambria Math" panose="02040503050406030204" pitchFamily="18" charset="0"/>
                          </a:rPr>
                          <m:t>=0,</m:t>
                        </m:r>
                        <m:sSub>
                          <m:sSubPr>
                            <m:ctrlPr>
                              <a:rPr lang="en-AU" i="1">
                                <a:latin typeface="Cambria Math" panose="02040503050406030204" pitchFamily="18" charset="0"/>
                              </a:rPr>
                            </m:ctrlPr>
                          </m:sSubPr>
                          <m:e>
                            <m:r>
                              <a:rPr lang="en-AU">
                                <a:latin typeface="Cambria Math" panose="02040503050406030204" pitchFamily="18" charset="0"/>
                              </a:rPr>
                              <m:t>𝜒</m:t>
                            </m:r>
                          </m:e>
                          <m:sub>
                            <m:r>
                              <a:rPr lang="en-AU">
                                <a:latin typeface="Cambria Math" panose="02040503050406030204" pitchFamily="18" charset="0"/>
                              </a:rPr>
                              <m:t>2</m:t>
                            </m:r>
                          </m:sub>
                        </m:sSub>
                        <m:r>
                          <a:rPr lang="en-AU">
                            <a:latin typeface="Cambria Math" panose="02040503050406030204" pitchFamily="18" charset="0"/>
                          </a:rPr>
                          <m:t>=1</m:t>
                        </m:r>
                      </m:e>
                    </m:d>
                  </m:oMath>
                </a14:m>
                <a:r>
                  <a:rPr lang="en-AU" dirty="0"/>
                  <a:t> first-order stochastically dominate </a:t>
                </a:r>
                <a14:m>
                  <m:oMath xmlns:m="http://schemas.openxmlformats.org/officeDocument/2006/math">
                    <m:acc>
                      <m:accPr>
                        <m:chr m:val="̂"/>
                        <m:ctrlPr>
                          <a:rPr lang="en-AU" i="1">
                            <a:latin typeface="Cambria Math" panose="02040503050406030204" pitchFamily="18" charset="0"/>
                          </a:rPr>
                        </m:ctrlPr>
                      </m:accPr>
                      <m:e>
                        <m:r>
                          <m:rPr>
                            <m:sty m:val="p"/>
                          </m:rPr>
                          <a:rPr lang="en-AU">
                            <a:latin typeface="Cambria Math" panose="02040503050406030204" pitchFamily="18" charset="0"/>
                          </a:rPr>
                          <m:t>Σ</m:t>
                        </m:r>
                      </m:e>
                    </m:acc>
                    <m:d>
                      <m:dPr>
                        <m:ctrlPr>
                          <a:rPr lang="en-AU" i="1">
                            <a:latin typeface="Cambria Math" panose="02040503050406030204" pitchFamily="18" charset="0"/>
                          </a:rPr>
                        </m:ctrlPr>
                      </m:dPr>
                      <m:e>
                        <m:sSub>
                          <m:sSubPr>
                            <m:ctrlPr>
                              <a:rPr lang="en-AU" i="1">
                                <a:latin typeface="Cambria Math" panose="02040503050406030204" pitchFamily="18" charset="0"/>
                              </a:rPr>
                            </m:ctrlPr>
                          </m:sSubPr>
                          <m:e>
                            <m:r>
                              <a:rPr lang="en-AU">
                                <a:latin typeface="Cambria Math" panose="02040503050406030204" pitchFamily="18" charset="0"/>
                              </a:rPr>
                              <m:t>𝜒</m:t>
                            </m:r>
                          </m:e>
                          <m:sub>
                            <m:r>
                              <a:rPr lang="en-AU">
                                <a:latin typeface="Cambria Math" panose="02040503050406030204" pitchFamily="18" charset="0"/>
                              </a:rPr>
                              <m:t>1</m:t>
                            </m:r>
                          </m:sub>
                        </m:sSub>
                        <m:r>
                          <a:rPr lang="en-AU">
                            <a:latin typeface="Cambria Math" panose="02040503050406030204" pitchFamily="18" charset="0"/>
                          </a:rPr>
                          <m:t>=0,</m:t>
                        </m:r>
                        <m:sSub>
                          <m:sSubPr>
                            <m:ctrlPr>
                              <a:rPr lang="en-AU" i="1">
                                <a:latin typeface="Cambria Math" panose="02040503050406030204" pitchFamily="18" charset="0"/>
                              </a:rPr>
                            </m:ctrlPr>
                          </m:sSubPr>
                          <m:e>
                            <m:r>
                              <a:rPr lang="en-AU">
                                <a:latin typeface="Cambria Math" panose="02040503050406030204" pitchFamily="18" charset="0"/>
                              </a:rPr>
                              <m:t>𝜒</m:t>
                            </m:r>
                          </m:e>
                          <m:sub>
                            <m:r>
                              <a:rPr lang="en-AU">
                                <a:latin typeface="Cambria Math" panose="02040503050406030204" pitchFamily="18" charset="0"/>
                              </a:rPr>
                              <m:t>2</m:t>
                            </m:r>
                          </m:sub>
                        </m:sSub>
                        <m:r>
                          <a:rPr lang="en-AU">
                            <a:latin typeface="Cambria Math" panose="02040503050406030204" pitchFamily="18" charset="0"/>
                          </a:rPr>
                          <m:t>=0</m:t>
                        </m:r>
                      </m:e>
                    </m:d>
                  </m:oMath>
                </a14:m>
                <a:endParaRPr lang="en-AU" dirty="0"/>
              </a:p>
            </p:txBody>
          </p:sp>
        </mc:Choice>
        <mc:Fallback xmlns="">
          <p:sp>
            <p:nvSpPr>
              <p:cNvPr id="3" name="Content Placeholder 2">
                <a:extLst>
                  <a:ext uri="{FF2B5EF4-FFF2-40B4-BE49-F238E27FC236}">
                    <a16:creationId xmlns:a16="http://schemas.microsoft.com/office/drawing/2014/main" id="{66D353C8-B984-946A-ABF9-CF537B93A067}"/>
                  </a:ext>
                </a:extLst>
              </p:cNvPr>
              <p:cNvSpPr>
                <a:spLocks noGrp="1" noRot="1" noChangeAspect="1" noMove="1" noResize="1" noEditPoints="1" noAdjustHandles="1" noChangeArrowheads="1" noChangeShapeType="1" noTextEdit="1"/>
              </p:cNvSpPr>
              <p:nvPr>
                <p:ph idx="1"/>
              </p:nvPr>
            </p:nvSpPr>
            <p:spPr>
              <a:blipFill>
                <a:blip r:embed="rId2"/>
                <a:stretch>
                  <a:fillRect l="-1043" t="-1961"/>
                </a:stretch>
              </a:blipFill>
            </p:spPr>
            <p:txBody>
              <a:bodyPr/>
              <a:lstStyle/>
              <a:p>
                <a:r>
                  <a:rPr lang="en-AU">
                    <a:noFill/>
                  </a:rPr>
                  <a:t> </a:t>
                </a:r>
              </a:p>
            </p:txBody>
          </p:sp>
        </mc:Fallback>
      </mc:AlternateContent>
    </p:spTree>
    <p:extLst>
      <p:ext uri="{BB962C8B-B14F-4D97-AF65-F5344CB8AC3E}">
        <p14:creationId xmlns:p14="http://schemas.microsoft.com/office/powerpoint/2010/main" val="34624226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C9FD8-EE90-1AC0-C4E3-AD1DB6BCBCFA}"/>
              </a:ext>
            </a:extLst>
          </p:cNvPr>
          <p:cNvSpPr>
            <a:spLocks noGrp="1"/>
          </p:cNvSpPr>
          <p:nvPr>
            <p:ph type="title"/>
          </p:nvPr>
        </p:nvSpPr>
        <p:spPr/>
        <p:txBody>
          <a:bodyPr/>
          <a:lstStyle/>
          <a:p>
            <a:r>
              <a:rPr lang="en-AU" dirty="0"/>
              <a:t>Results</a:t>
            </a: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3C01F462-5A95-56E7-8D75-29E1C76FB7F6}"/>
                  </a:ext>
                </a:extLst>
              </p:cNvPr>
              <p:cNvGraphicFramePr>
                <a:graphicFrameLocks noGrp="1"/>
              </p:cNvGraphicFramePr>
              <p:nvPr>
                <p:ph idx="1"/>
                <p:extLst>
                  <p:ext uri="{D42A27DB-BD31-4B8C-83A1-F6EECF244321}">
                    <p14:modId xmlns:p14="http://schemas.microsoft.com/office/powerpoint/2010/main" val="944981202"/>
                  </p:ext>
                </p:extLst>
              </p:nvPr>
            </p:nvGraphicFramePr>
            <p:xfrm>
              <a:off x="2048099" y="1360809"/>
              <a:ext cx="8519588" cy="4460685"/>
            </p:xfrm>
            <a:graphic>
              <a:graphicData uri="http://schemas.openxmlformats.org/drawingml/2006/table">
                <a:tbl>
                  <a:tblPr firstRow="1" firstCol="1" bandRow="1">
                    <a:tableStyleId>{5C22544A-7EE6-4342-B048-85BDC9FD1C3A}</a:tableStyleId>
                  </a:tblPr>
                  <a:tblGrid>
                    <a:gridCol w="269222">
                      <a:extLst>
                        <a:ext uri="{9D8B030D-6E8A-4147-A177-3AD203B41FA5}">
                          <a16:colId xmlns:a16="http://schemas.microsoft.com/office/drawing/2014/main" val="1666490935"/>
                        </a:ext>
                      </a:extLst>
                    </a:gridCol>
                    <a:gridCol w="1032081">
                      <a:extLst>
                        <a:ext uri="{9D8B030D-6E8A-4147-A177-3AD203B41FA5}">
                          <a16:colId xmlns:a16="http://schemas.microsoft.com/office/drawing/2014/main" val="3002286175"/>
                        </a:ext>
                      </a:extLst>
                    </a:gridCol>
                    <a:gridCol w="1032081">
                      <a:extLst>
                        <a:ext uri="{9D8B030D-6E8A-4147-A177-3AD203B41FA5}">
                          <a16:colId xmlns:a16="http://schemas.microsoft.com/office/drawing/2014/main" val="812333587"/>
                        </a:ext>
                      </a:extLst>
                    </a:gridCol>
                    <a:gridCol w="1031034">
                      <a:extLst>
                        <a:ext uri="{9D8B030D-6E8A-4147-A177-3AD203B41FA5}">
                          <a16:colId xmlns:a16="http://schemas.microsoft.com/office/drawing/2014/main" val="338060067"/>
                        </a:ext>
                      </a:extLst>
                    </a:gridCol>
                    <a:gridCol w="1031034">
                      <a:extLst>
                        <a:ext uri="{9D8B030D-6E8A-4147-A177-3AD203B41FA5}">
                          <a16:colId xmlns:a16="http://schemas.microsoft.com/office/drawing/2014/main" val="2589436211"/>
                        </a:ext>
                      </a:extLst>
                    </a:gridCol>
                    <a:gridCol w="1031034">
                      <a:extLst>
                        <a:ext uri="{9D8B030D-6E8A-4147-A177-3AD203B41FA5}">
                          <a16:colId xmlns:a16="http://schemas.microsoft.com/office/drawing/2014/main" val="1048193379"/>
                        </a:ext>
                      </a:extLst>
                    </a:gridCol>
                    <a:gridCol w="1031034">
                      <a:extLst>
                        <a:ext uri="{9D8B030D-6E8A-4147-A177-3AD203B41FA5}">
                          <a16:colId xmlns:a16="http://schemas.microsoft.com/office/drawing/2014/main" val="1089939013"/>
                        </a:ext>
                      </a:extLst>
                    </a:gridCol>
                    <a:gridCol w="1031034">
                      <a:extLst>
                        <a:ext uri="{9D8B030D-6E8A-4147-A177-3AD203B41FA5}">
                          <a16:colId xmlns:a16="http://schemas.microsoft.com/office/drawing/2014/main" val="3491846284"/>
                        </a:ext>
                      </a:extLst>
                    </a:gridCol>
                    <a:gridCol w="1031034">
                      <a:extLst>
                        <a:ext uri="{9D8B030D-6E8A-4147-A177-3AD203B41FA5}">
                          <a16:colId xmlns:a16="http://schemas.microsoft.com/office/drawing/2014/main" val="1988620109"/>
                        </a:ext>
                      </a:extLst>
                    </a:gridCol>
                  </a:tblGrid>
                  <a:tr h="184150">
                    <a:tc gridSpan="9">
                      <a:txBody>
                        <a:bodyPr/>
                        <a:lstStyle/>
                        <a:p>
                          <a:pPr algn="ctr">
                            <a:lnSpc>
                              <a:spcPct val="107000"/>
                            </a:lnSpc>
                            <a:spcAft>
                              <a:spcPts val="800"/>
                            </a:spcAft>
                          </a:pPr>
                          <a:r>
                            <a:rPr lang="en-AU" sz="2000" kern="100">
                              <a:effectLst/>
                            </a:rPr>
                            <a:t>Table 5. The Transition Probability Matrixes</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1809860869"/>
                      </a:ext>
                    </a:extLst>
                  </a:tr>
                  <a:tr h="184150">
                    <a:tc>
                      <a:txBody>
                        <a:bodyPr/>
                        <a:lstStyle/>
                        <a:p>
                          <a:pPr>
                            <a:lnSpc>
                              <a:spcPct val="107000"/>
                            </a:lnSpc>
                            <a:spcAft>
                              <a:spcPts val="800"/>
                            </a:spcAft>
                          </a:pPr>
                          <a:r>
                            <a:rPr lang="en-AU" sz="2000" kern="100">
                              <a:effectLst/>
                            </a:rPr>
                            <a:t> </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1</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2</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3</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4</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1</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2</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3</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4</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1776048415"/>
                      </a:ext>
                    </a:extLst>
                  </a:tr>
                  <a:tr h="184150">
                    <a:tc>
                      <a:txBody>
                        <a:bodyPr/>
                        <a:lstStyle/>
                        <a:p>
                          <a:pPr>
                            <a:lnSpc>
                              <a:spcPct val="107000"/>
                            </a:lnSpc>
                            <a:spcAft>
                              <a:spcPts val="800"/>
                            </a:spcAft>
                          </a:pPr>
                          <a:r>
                            <a:rPr lang="en-AU" sz="2000" kern="100">
                              <a:effectLst/>
                            </a:rPr>
                            <a:t> </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gridSpan="4">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d>
                                  <m:dPr>
                                    <m:ctrlPr>
                                      <a:rPr lang="en-AU" sz="2000" i="1" kern="100">
                                        <a:effectLst/>
                                        <a:latin typeface="Cambria Math" panose="02040503050406030204" pitchFamily="18" charset="0"/>
                                      </a:rPr>
                                    </m:ctrlPr>
                                  </m:dPr>
                                  <m:e>
                                    <m:sSub>
                                      <m:sSubPr>
                                        <m:ctrlPr>
                                          <a:rPr lang="en-AU" sz="2000" i="1" kern="100">
                                            <a:effectLst/>
                                            <a:latin typeface="Cambria Math" panose="02040503050406030204" pitchFamily="18" charset="0"/>
                                          </a:rPr>
                                        </m:ctrlPr>
                                      </m:sSubPr>
                                      <m:e>
                                        <m:r>
                                          <a:rPr lang="en-AU" sz="2000" kern="100">
                                            <a:effectLst/>
                                            <a:latin typeface="Cambria Math" panose="02040503050406030204" pitchFamily="18" charset="0"/>
                                          </a:rPr>
                                          <m:t>𝜒</m:t>
                                        </m:r>
                                      </m:e>
                                      <m:sub>
                                        <m:r>
                                          <a:rPr lang="en-AU" sz="2000" kern="100">
                                            <a:effectLst/>
                                            <a:latin typeface="Cambria Math" panose="02040503050406030204" pitchFamily="18" charset="0"/>
                                          </a:rPr>
                                          <m:t>1</m:t>
                                        </m:r>
                                      </m:sub>
                                    </m:sSub>
                                    <m:r>
                                      <a:rPr lang="en-AU" sz="2000" kern="100">
                                        <a:effectLst/>
                                        <a:latin typeface="Cambria Math" panose="02040503050406030204" pitchFamily="18" charset="0"/>
                                      </a:rPr>
                                      <m:t>=0,</m:t>
                                    </m:r>
                                    <m:sSub>
                                      <m:sSubPr>
                                        <m:ctrlPr>
                                          <a:rPr lang="en-AU" sz="2000" i="1" kern="100">
                                            <a:effectLst/>
                                            <a:latin typeface="Cambria Math" panose="02040503050406030204" pitchFamily="18" charset="0"/>
                                          </a:rPr>
                                        </m:ctrlPr>
                                      </m:sSubPr>
                                      <m:e>
                                        <m:r>
                                          <a:rPr lang="en-AU" sz="2000" kern="100">
                                            <a:effectLst/>
                                            <a:latin typeface="Cambria Math" panose="02040503050406030204" pitchFamily="18" charset="0"/>
                                          </a:rPr>
                                          <m:t>𝜒</m:t>
                                        </m:r>
                                      </m:e>
                                      <m:sub>
                                        <m:r>
                                          <a:rPr lang="en-AU" sz="2000" kern="100">
                                            <a:effectLst/>
                                            <a:latin typeface="Cambria Math" panose="02040503050406030204" pitchFamily="18" charset="0"/>
                                          </a:rPr>
                                          <m:t>2</m:t>
                                        </m:r>
                                      </m:sub>
                                    </m:sSub>
                                    <m:r>
                                      <a:rPr lang="en-AU" sz="2000" kern="100">
                                        <a:effectLst/>
                                        <a:latin typeface="Cambria Math" panose="02040503050406030204" pitchFamily="18" charset="0"/>
                                      </a:rPr>
                                      <m:t>=0</m:t>
                                    </m:r>
                                  </m:e>
                                </m:d>
                              </m:oMath>
                            </m:oMathPara>
                          </a14:m>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hMerge="1">
                      <a:txBody>
                        <a:bodyPr/>
                        <a:lstStyle/>
                        <a:p>
                          <a:endParaRPr lang="en-AU"/>
                        </a:p>
                      </a:txBody>
                      <a:tcPr/>
                    </a:tc>
                    <a:tc hMerge="1">
                      <a:txBody>
                        <a:bodyPr/>
                        <a:lstStyle/>
                        <a:p>
                          <a:endParaRPr lang="en-AU"/>
                        </a:p>
                      </a:txBody>
                      <a:tcPr/>
                    </a:tc>
                    <a:tc hMerge="1">
                      <a:txBody>
                        <a:bodyPr/>
                        <a:lstStyle/>
                        <a:p>
                          <a:endParaRPr lang="en-AU"/>
                        </a:p>
                      </a:txBody>
                      <a:tcPr/>
                    </a:tc>
                    <a:tc gridSpan="4">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d>
                                  <m:dPr>
                                    <m:ctrlPr>
                                      <a:rPr lang="en-AU" sz="2000" i="1" kern="100">
                                        <a:effectLst/>
                                        <a:latin typeface="Cambria Math" panose="02040503050406030204" pitchFamily="18" charset="0"/>
                                      </a:rPr>
                                    </m:ctrlPr>
                                  </m:dPr>
                                  <m:e>
                                    <m:sSub>
                                      <m:sSubPr>
                                        <m:ctrlPr>
                                          <a:rPr lang="en-AU" sz="2000" i="1" kern="100">
                                            <a:effectLst/>
                                            <a:latin typeface="Cambria Math" panose="02040503050406030204" pitchFamily="18" charset="0"/>
                                          </a:rPr>
                                        </m:ctrlPr>
                                      </m:sSubPr>
                                      <m:e>
                                        <m:r>
                                          <a:rPr lang="en-AU" sz="2000" kern="100">
                                            <a:effectLst/>
                                            <a:latin typeface="Cambria Math" panose="02040503050406030204" pitchFamily="18" charset="0"/>
                                          </a:rPr>
                                          <m:t>𝜒</m:t>
                                        </m:r>
                                      </m:e>
                                      <m:sub>
                                        <m:r>
                                          <a:rPr lang="en-AU" sz="2000" kern="100">
                                            <a:effectLst/>
                                            <a:latin typeface="Cambria Math" panose="02040503050406030204" pitchFamily="18" charset="0"/>
                                          </a:rPr>
                                          <m:t>1</m:t>
                                        </m:r>
                                      </m:sub>
                                    </m:sSub>
                                    <m:r>
                                      <a:rPr lang="en-AU" sz="2000" kern="100">
                                        <a:effectLst/>
                                        <a:latin typeface="Cambria Math" panose="02040503050406030204" pitchFamily="18" charset="0"/>
                                      </a:rPr>
                                      <m:t>=0,</m:t>
                                    </m:r>
                                    <m:sSub>
                                      <m:sSubPr>
                                        <m:ctrlPr>
                                          <a:rPr lang="en-AU" sz="2000" i="1" kern="100">
                                            <a:effectLst/>
                                            <a:latin typeface="Cambria Math" panose="02040503050406030204" pitchFamily="18" charset="0"/>
                                          </a:rPr>
                                        </m:ctrlPr>
                                      </m:sSubPr>
                                      <m:e>
                                        <m:r>
                                          <a:rPr lang="en-AU" sz="2000" kern="100">
                                            <a:effectLst/>
                                            <a:latin typeface="Cambria Math" panose="02040503050406030204" pitchFamily="18" charset="0"/>
                                          </a:rPr>
                                          <m:t>𝜒</m:t>
                                        </m:r>
                                      </m:e>
                                      <m:sub>
                                        <m:r>
                                          <a:rPr lang="en-AU" sz="2000" kern="100">
                                            <a:effectLst/>
                                            <a:latin typeface="Cambria Math" panose="02040503050406030204" pitchFamily="18" charset="0"/>
                                          </a:rPr>
                                          <m:t>2</m:t>
                                        </m:r>
                                      </m:sub>
                                    </m:sSub>
                                    <m:r>
                                      <a:rPr lang="en-AU" sz="2000" kern="100">
                                        <a:effectLst/>
                                        <a:latin typeface="Cambria Math" panose="02040503050406030204" pitchFamily="18" charset="0"/>
                                      </a:rPr>
                                      <m:t>=1</m:t>
                                    </m:r>
                                  </m:e>
                                </m:d>
                              </m:oMath>
                            </m:oMathPara>
                          </a14:m>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194339640"/>
                      </a:ext>
                    </a:extLst>
                  </a:tr>
                  <a:tr h="184150">
                    <a:tc>
                      <a:txBody>
                        <a:bodyPr/>
                        <a:lstStyle/>
                        <a:p>
                          <a:pPr algn="r">
                            <a:lnSpc>
                              <a:spcPct val="107000"/>
                            </a:lnSpc>
                            <a:spcAft>
                              <a:spcPts val="800"/>
                            </a:spcAft>
                          </a:pPr>
                          <a:r>
                            <a:rPr lang="en-AU" sz="2000" kern="100">
                              <a:effectLst/>
                            </a:rPr>
                            <a:t>1</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0.7113</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0.2535</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0.0282</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0.0070</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0.7</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0.2667</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0.0333</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135596852"/>
                      </a:ext>
                    </a:extLst>
                  </a:tr>
                  <a:tr h="184150">
                    <a:tc>
                      <a:txBody>
                        <a:bodyPr/>
                        <a:lstStyle/>
                        <a:p>
                          <a:pPr algn="r">
                            <a:lnSpc>
                              <a:spcPct val="107000"/>
                            </a:lnSpc>
                            <a:spcAft>
                              <a:spcPts val="800"/>
                            </a:spcAft>
                          </a:pPr>
                          <a:r>
                            <a:rPr lang="en-AU" sz="2000" kern="100">
                              <a:effectLst/>
                            </a:rPr>
                            <a:t>2</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0.2035</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0.5752</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0.1947</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0.0265</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0.1136</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0.5909</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0.2955</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2118668530"/>
                      </a:ext>
                    </a:extLst>
                  </a:tr>
                  <a:tr h="184150">
                    <a:tc>
                      <a:txBody>
                        <a:bodyPr/>
                        <a:lstStyle/>
                        <a:p>
                          <a:pPr algn="r">
                            <a:lnSpc>
                              <a:spcPct val="107000"/>
                            </a:lnSpc>
                            <a:spcAft>
                              <a:spcPts val="800"/>
                            </a:spcAft>
                          </a:pPr>
                          <a:r>
                            <a:rPr lang="en-AU" sz="2000" kern="100">
                              <a:effectLst/>
                            </a:rPr>
                            <a:t>3</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0.0194</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0.1748</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0.7184</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0.0874</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0.0227</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0.1136</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0.7045</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0.1591</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4171624050"/>
                      </a:ext>
                    </a:extLst>
                  </a:tr>
                  <a:tr h="184150">
                    <a:tc>
                      <a:txBody>
                        <a:bodyPr/>
                        <a:lstStyle/>
                        <a:p>
                          <a:pPr algn="r">
                            <a:lnSpc>
                              <a:spcPct val="107000"/>
                            </a:lnSpc>
                            <a:spcAft>
                              <a:spcPts val="800"/>
                            </a:spcAft>
                          </a:pPr>
                          <a:r>
                            <a:rPr lang="en-AU" sz="2000" kern="100">
                              <a:effectLst/>
                            </a:rPr>
                            <a:t>4</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0.0175</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0.0526</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0.1579</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0.7719</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0.0202</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0.0808</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0.8990</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4119839868"/>
                      </a:ext>
                    </a:extLst>
                  </a:tr>
                  <a:tr h="184150">
                    <a:tc>
                      <a:txBody>
                        <a:bodyPr/>
                        <a:lstStyle/>
                        <a:p>
                          <a:pPr>
                            <a:lnSpc>
                              <a:spcPct val="107000"/>
                            </a:lnSpc>
                            <a:spcAft>
                              <a:spcPts val="800"/>
                            </a:spcAft>
                          </a:pPr>
                          <a:r>
                            <a:rPr lang="en-AU" sz="2000" kern="100">
                              <a:effectLst/>
                            </a:rPr>
                            <a:t> </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gridSpan="4">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d>
                                  <m:dPr>
                                    <m:ctrlPr>
                                      <a:rPr lang="en-AU" sz="2000" i="1" kern="100">
                                        <a:effectLst/>
                                        <a:latin typeface="Cambria Math" panose="02040503050406030204" pitchFamily="18" charset="0"/>
                                      </a:rPr>
                                    </m:ctrlPr>
                                  </m:dPr>
                                  <m:e>
                                    <m:sSub>
                                      <m:sSubPr>
                                        <m:ctrlPr>
                                          <a:rPr lang="en-AU" sz="2000" i="1" kern="100">
                                            <a:effectLst/>
                                            <a:latin typeface="Cambria Math" panose="02040503050406030204" pitchFamily="18" charset="0"/>
                                          </a:rPr>
                                        </m:ctrlPr>
                                      </m:sSubPr>
                                      <m:e>
                                        <m:r>
                                          <a:rPr lang="en-AU" sz="2000" kern="100">
                                            <a:effectLst/>
                                            <a:latin typeface="Cambria Math" panose="02040503050406030204" pitchFamily="18" charset="0"/>
                                          </a:rPr>
                                          <m:t>𝜒</m:t>
                                        </m:r>
                                      </m:e>
                                      <m:sub>
                                        <m:r>
                                          <a:rPr lang="en-AU" sz="2000" kern="100">
                                            <a:effectLst/>
                                            <a:latin typeface="Cambria Math" panose="02040503050406030204" pitchFamily="18" charset="0"/>
                                          </a:rPr>
                                          <m:t>1</m:t>
                                        </m:r>
                                      </m:sub>
                                    </m:sSub>
                                    <m:r>
                                      <a:rPr lang="en-AU" sz="2000" kern="100">
                                        <a:effectLst/>
                                        <a:latin typeface="Cambria Math" panose="02040503050406030204" pitchFamily="18" charset="0"/>
                                      </a:rPr>
                                      <m:t>=1,</m:t>
                                    </m:r>
                                    <m:sSub>
                                      <m:sSubPr>
                                        <m:ctrlPr>
                                          <a:rPr lang="en-AU" sz="2000" i="1" kern="100">
                                            <a:effectLst/>
                                            <a:latin typeface="Cambria Math" panose="02040503050406030204" pitchFamily="18" charset="0"/>
                                          </a:rPr>
                                        </m:ctrlPr>
                                      </m:sSubPr>
                                      <m:e>
                                        <m:r>
                                          <a:rPr lang="en-AU" sz="2000" kern="100">
                                            <a:effectLst/>
                                            <a:latin typeface="Cambria Math" panose="02040503050406030204" pitchFamily="18" charset="0"/>
                                          </a:rPr>
                                          <m:t>𝜒</m:t>
                                        </m:r>
                                      </m:e>
                                      <m:sub>
                                        <m:r>
                                          <a:rPr lang="en-AU" sz="2000" kern="100">
                                            <a:effectLst/>
                                            <a:latin typeface="Cambria Math" panose="02040503050406030204" pitchFamily="18" charset="0"/>
                                          </a:rPr>
                                          <m:t>2</m:t>
                                        </m:r>
                                      </m:sub>
                                    </m:sSub>
                                    <m:r>
                                      <a:rPr lang="en-AU" sz="2000" kern="100">
                                        <a:effectLst/>
                                        <a:latin typeface="Cambria Math" panose="02040503050406030204" pitchFamily="18" charset="0"/>
                                      </a:rPr>
                                      <m:t>=0</m:t>
                                    </m:r>
                                  </m:e>
                                </m:d>
                              </m:oMath>
                            </m:oMathPara>
                          </a14:m>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hMerge="1">
                      <a:txBody>
                        <a:bodyPr/>
                        <a:lstStyle/>
                        <a:p>
                          <a:endParaRPr lang="en-AU"/>
                        </a:p>
                      </a:txBody>
                      <a:tcPr/>
                    </a:tc>
                    <a:tc hMerge="1">
                      <a:txBody>
                        <a:bodyPr/>
                        <a:lstStyle/>
                        <a:p>
                          <a:endParaRPr lang="en-AU"/>
                        </a:p>
                      </a:txBody>
                      <a:tcPr/>
                    </a:tc>
                    <a:tc hMerge="1">
                      <a:txBody>
                        <a:bodyPr/>
                        <a:lstStyle/>
                        <a:p>
                          <a:endParaRPr lang="en-AU"/>
                        </a:p>
                      </a:txBody>
                      <a:tcPr/>
                    </a:tc>
                    <a:tc gridSpan="4">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d>
                                  <m:dPr>
                                    <m:ctrlPr>
                                      <a:rPr lang="en-AU" sz="2000" i="1" kern="100">
                                        <a:effectLst/>
                                        <a:latin typeface="Cambria Math" panose="02040503050406030204" pitchFamily="18" charset="0"/>
                                      </a:rPr>
                                    </m:ctrlPr>
                                  </m:dPr>
                                  <m:e>
                                    <m:sSub>
                                      <m:sSubPr>
                                        <m:ctrlPr>
                                          <a:rPr lang="en-AU" sz="2000" i="1" kern="100">
                                            <a:effectLst/>
                                            <a:latin typeface="Cambria Math" panose="02040503050406030204" pitchFamily="18" charset="0"/>
                                          </a:rPr>
                                        </m:ctrlPr>
                                      </m:sSubPr>
                                      <m:e>
                                        <m:r>
                                          <a:rPr lang="en-AU" sz="2000" kern="100">
                                            <a:effectLst/>
                                            <a:latin typeface="Cambria Math" panose="02040503050406030204" pitchFamily="18" charset="0"/>
                                          </a:rPr>
                                          <m:t>𝜒</m:t>
                                        </m:r>
                                      </m:e>
                                      <m:sub>
                                        <m:r>
                                          <a:rPr lang="en-AU" sz="2000" kern="100">
                                            <a:effectLst/>
                                            <a:latin typeface="Cambria Math" panose="02040503050406030204" pitchFamily="18" charset="0"/>
                                          </a:rPr>
                                          <m:t>1</m:t>
                                        </m:r>
                                      </m:sub>
                                    </m:sSub>
                                    <m:r>
                                      <a:rPr lang="en-AU" sz="2000" kern="100">
                                        <a:effectLst/>
                                        <a:latin typeface="Cambria Math" panose="02040503050406030204" pitchFamily="18" charset="0"/>
                                      </a:rPr>
                                      <m:t>=1,</m:t>
                                    </m:r>
                                    <m:sSub>
                                      <m:sSubPr>
                                        <m:ctrlPr>
                                          <a:rPr lang="en-AU" sz="2000" i="1" kern="100">
                                            <a:effectLst/>
                                            <a:latin typeface="Cambria Math" panose="02040503050406030204" pitchFamily="18" charset="0"/>
                                          </a:rPr>
                                        </m:ctrlPr>
                                      </m:sSubPr>
                                      <m:e>
                                        <m:r>
                                          <a:rPr lang="en-AU" sz="2000" kern="100">
                                            <a:effectLst/>
                                            <a:latin typeface="Cambria Math" panose="02040503050406030204" pitchFamily="18" charset="0"/>
                                          </a:rPr>
                                          <m:t>𝜒</m:t>
                                        </m:r>
                                      </m:e>
                                      <m:sub>
                                        <m:r>
                                          <a:rPr lang="en-AU" sz="2000" kern="100">
                                            <a:effectLst/>
                                            <a:latin typeface="Cambria Math" panose="02040503050406030204" pitchFamily="18" charset="0"/>
                                          </a:rPr>
                                          <m:t>2</m:t>
                                        </m:r>
                                      </m:sub>
                                    </m:sSub>
                                    <m:r>
                                      <a:rPr lang="en-AU" sz="2000" kern="100">
                                        <a:effectLst/>
                                        <a:latin typeface="Cambria Math" panose="02040503050406030204" pitchFamily="18" charset="0"/>
                                      </a:rPr>
                                      <m:t>=1</m:t>
                                    </m:r>
                                  </m:e>
                                </m:d>
                              </m:oMath>
                            </m:oMathPara>
                          </a14:m>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53883838"/>
                      </a:ext>
                    </a:extLst>
                  </a:tr>
                  <a:tr h="184150">
                    <a:tc>
                      <a:txBody>
                        <a:bodyPr/>
                        <a:lstStyle/>
                        <a:p>
                          <a:pPr algn="r">
                            <a:lnSpc>
                              <a:spcPct val="107000"/>
                            </a:lnSpc>
                            <a:spcAft>
                              <a:spcPts val="800"/>
                            </a:spcAft>
                          </a:pPr>
                          <a:r>
                            <a:rPr lang="en-AU" sz="2000" kern="100">
                              <a:effectLst/>
                            </a:rPr>
                            <a:t>1</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0.6429</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0.3571</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0.5</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0.25</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0.25</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574619058"/>
                      </a:ext>
                    </a:extLst>
                  </a:tr>
                  <a:tr h="184150">
                    <a:tc>
                      <a:txBody>
                        <a:bodyPr/>
                        <a:lstStyle/>
                        <a:p>
                          <a:pPr algn="r">
                            <a:lnSpc>
                              <a:spcPct val="107000"/>
                            </a:lnSpc>
                            <a:spcAft>
                              <a:spcPts val="800"/>
                            </a:spcAft>
                          </a:pPr>
                          <a:r>
                            <a:rPr lang="en-AU" sz="2000" kern="100">
                              <a:effectLst/>
                            </a:rPr>
                            <a:t>2</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0.6190</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0.3333</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0.0476</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0.6667</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0.3333</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2069081595"/>
                      </a:ext>
                    </a:extLst>
                  </a:tr>
                  <a:tr h="184150">
                    <a:tc>
                      <a:txBody>
                        <a:bodyPr/>
                        <a:lstStyle/>
                        <a:p>
                          <a:pPr algn="r">
                            <a:lnSpc>
                              <a:spcPct val="107000"/>
                            </a:lnSpc>
                            <a:spcAft>
                              <a:spcPts val="800"/>
                            </a:spcAft>
                          </a:pPr>
                          <a:r>
                            <a:rPr lang="en-AU" sz="2000" kern="100">
                              <a:effectLst/>
                            </a:rPr>
                            <a:t>3</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0.0417</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0.0833</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0.6667</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0.2083</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0.0323</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0.0323</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0.8065</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0.1290</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2894842707"/>
                      </a:ext>
                    </a:extLst>
                  </a:tr>
                  <a:tr h="184150">
                    <a:tc>
                      <a:txBody>
                        <a:bodyPr/>
                        <a:lstStyle/>
                        <a:p>
                          <a:pPr algn="r">
                            <a:lnSpc>
                              <a:spcPct val="107000"/>
                            </a:lnSpc>
                            <a:spcAft>
                              <a:spcPts val="800"/>
                            </a:spcAft>
                          </a:pPr>
                          <a:r>
                            <a:rPr lang="en-AU" sz="2000" kern="100">
                              <a:effectLst/>
                            </a:rPr>
                            <a:t>4</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0.0526</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0.1579</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0.7895</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0.0227</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0.9773</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314464042"/>
                      </a:ext>
                    </a:extLst>
                  </a:tr>
                  <a:tr h="0">
                    <a:tc gridSpan="9">
                      <a:txBody>
                        <a:bodyPr/>
                        <a:lstStyle/>
                        <a:p>
                          <a:pPr>
                            <a:lnSpc>
                              <a:spcPct val="107000"/>
                            </a:lnSpc>
                            <a:spcAft>
                              <a:spcPts val="800"/>
                            </a:spcAft>
                          </a:pPr>
                          <a:r>
                            <a:rPr lang="en-AU" sz="1000" kern="100" dirty="0">
                              <a:effectLst/>
                            </a:rPr>
                            <a:t>Note: Transition is from rows to columns. For example, with </a:t>
                          </a:r>
                          <a14:m>
                            <m:oMath xmlns:m="http://schemas.openxmlformats.org/officeDocument/2006/math">
                              <m:d>
                                <m:dPr>
                                  <m:ctrlPr>
                                    <a:rPr lang="en-AU" sz="1000" i="1" kern="100">
                                      <a:effectLst/>
                                      <a:latin typeface="Cambria Math" panose="02040503050406030204" pitchFamily="18" charset="0"/>
                                    </a:rPr>
                                  </m:ctrlPr>
                                </m:dPr>
                                <m:e>
                                  <m:sSub>
                                    <m:sSubPr>
                                      <m:ctrlPr>
                                        <a:rPr lang="en-AU" sz="1000" i="1" kern="100">
                                          <a:effectLst/>
                                          <a:latin typeface="Cambria Math" panose="02040503050406030204" pitchFamily="18" charset="0"/>
                                        </a:rPr>
                                      </m:ctrlPr>
                                    </m:sSubPr>
                                    <m:e>
                                      <m:r>
                                        <a:rPr lang="en-AU" sz="1000" kern="100">
                                          <a:effectLst/>
                                          <a:latin typeface="Cambria Math" panose="02040503050406030204" pitchFamily="18" charset="0"/>
                                        </a:rPr>
                                        <m:t>𝜒</m:t>
                                      </m:r>
                                    </m:e>
                                    <m:sub>
                                      <m:r>
                                        <a:rPr lang="en-AU" sz="1000" kern="100">
                                          <a:effectLst/>
                                          <a:latin typeface="Cambria Math" panose="02040503050406030204" pitchFamily="18" charset="0"/>
                                        </a:rPr>
                                        <m:t>1</m:t>
                                      </m:r>
                                    </m:sub>
                                  </m:sSub>
                                  <m:r>
                                    <a:rPr lang="en-AU" sz="1000" kern="100">
                                      <a:effectLst/>
                                      <a:latin typeface="Cambria Math" panose="02040503050406030204" pitchFamily="18" charset="0"/>
                                    </a:rPr>
                                    <m:t>=0,</m:t>
                                  </m:r>
                                  <m:sSub>
                                    <m:sSubPr>
                                      <m:ctrlPr>
                                        <a:rPr lang="en-AU" sz="1000" i="1" kern="100">
                                          <a:effectLst/>
                                          <a:latin typeface="Cambria Math" panose="02040503050406030204" pitchFamily="18" charset="0"/>
                                        </a:rPr>
                                      </m:ctrlPr>
                                    </m:sSubPr>
                                    <m:e>
                                      <m:r>
                                        <a:rPr lang="en-AU" sz="1000" kern="100">
                                          <a:effectLst/>
                                          <a:latin typeface="Cambria Math" panose="02040503050406030204" pitchFamily="18" charset="0"/>
                                        </a:rPr>
                                        <m:t>𝜒</m:t>
                                      </m:r>
                                    </m:e>
                                    <m:sub>
                                      <m:r>
                                        <a:rPr lang="en-AU" sz="1000" kern="100">
                                          <a:effectLst/>
                                          <a:latin typeface="Cambria Math" panose="02040503050406030204" pitchFamily="18" charset="0"/>
                                        </a:rPr>
                                        <m:t>2</m:t>
                                      </m:r>
                                    </m:sub>
                                  </m:sSub>
                                  <m:r>
                                    <a:rPr lang="en-AU" sz="1000" kern="100">
                                      <a:effectLst/>
                                      <a:latin typeface="Cambria Math" panose="02040503050406030204" pitchFamily="18" charset="0"/>
                                    </a:rPr>
                                    <m:t>=0</m:t>
                                  </m:r>
                                </m:e>
                              </m:d>
                            </m:oMath>
                          </a14:m>
                          <a:r>
                            <a:rPr lang="en-AU" sz="1000" kern="100" dirty="0">
                              <a:effectLst/>
                            </a:rPr>
                            <a:t>, a firm at state 1 has a probability of 0.2535 to transition to state 2 in the next period.</a:t>
                          </a:r>
                          <a:br>
                            <a:rPr lang="en-AU" sz="1000" kern="100" dirty="0">
                              <a:effectLst/>
                            </a:rPr>
                          </a:br>
                          <a:r>
                            <a:rPr lang="en-AU" sz="1000" kern="100" dirty="0">
                              <a:effectLst/>
                            </a:rPr>
                            <a:t>Source: The authors’ estimation with data from NBS, China.</a:t>
                          </a:r>
                          <a:endParaRPr lang="en-AU" sz="10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1955163164"/>
                      </a:ext>
                    </a:extLst>
                  </a:tr>
                </a:tbl>
              </a:graphicData>
            </a:graphic>
          </p:graphicFrame>
        </mc:Choice>
        <mc:Fallback xmlns="">
          <p:graphicFrame>
            <p:nvGraphicFramePr>
              <p:cNvPr id="4" name="Content Placeholder 3">
                <a:extLst>
                  <a:ext uri="{FF2B5EF4-FFF2-40B4-BE49-F238E27FC236}">
                    <a16:creationId xmlns:a16="http://schemas.microsoft.com/office/drawing/2014/main" id="{3C01F462-5A95-56E7-8D75-29E1C76FB7F6}"/>
                  </a:ext>
                </a:extLst>
              </p:cNvPr>
              <p:cNvGraphicFramePr>
                <a:graphicFrameLocks noGrp="1"/>
              </p:cNvGraphicFramePr>
              <p:nvPr>
                <p:ph idx="1"/>
                <p:extLst>
                  <p:ext uri="{D42A27DB-BD31-4B8C-83A1-F6EECF244321}">
                    <p14:modId xmlns:p14="http://schemas.microsoft.com/office/powerpoint/2010/main" val="944981202"/>
                  </p:ext>
                </p:extLst>
              </p:nvPr>
            </p:nvGraphicFramePr>
            <p:xfrm>
              <a:off x="2048099" y="1360809"/>
              <a:ext cx="8519588" cy="4460685"/>
            </p:xfrm>
            <a:graphic>
              <a:graphicData uri="http://schemas.openxmlformats.org/drawingml/2006/table">
                <a:tbl>
                  <a:tblPr firstRow="1" firstCol="1" bandRow="1">
                    <a:tableStyleId>{5C22544A-7EE6-4342-B048-85BDC9FD1C3A}</a:tableStyleId>
                  </a:tblPr>
                  <a:tblGrid>
                    <a:gridCol w="269222">
                      <a:extLst>
                        <a:ext uri="{9D8B030D-6E8A-4147-A177-3AD203B41FA5}">
                          <a16:colId xmlns:a16="http://schemas.microsoft.com/office/drawing/2014/main" val="1666490935"/>
                        </a:ext>
                      </a:extLst>
                    </a:gridCol>
                    <a:gridCol w="1032081">
                      <a:extLst>
                        <a:ext uri="{9D8B030D-6E8A-4147-A177-3AD203B41FA5}">
                          <a16:colId xmlns:a16="http://schemas.microsoft.com/office/drawing/2014/main" val="3002286175"/>
                        </a:ext>
                      </a:extLst>
                    </a:gridCol>
                    <a:gridCol w="1032081">
                      <a:extLst>
                        <a:ext uri="{9D8B030D-6E8A-4147-A177-3AD203B41FA5}">
                          <a16:colId xmlns:a16="http://schemas.microsoft.com/office/drawing/2014/main" val="812333587"/>
                        </a:ext>
                      </a:extLst>
                    </a:gridCol>
                    <a:gridCol w="1031034">
                      <a:extLst>
                        <a:ext uri="{9D8B030D-6E8A-4147-A177-3AD203B41FA5}">
                          <a16:colId xmlns:a16="http://schemas.microsoft.com/office/drawing/2014/main" val="338060067"/>
                        </a:ext>
                      </a:extLst>
                    </a:gridCol>
                    <a:gridCol w="1031034">
                      <a:extLst>
                        <a:ext uri="{9D8B030D-6E8A-4147-A177-3AD203B41FA5}">
                          <a16:colId xmlns:a16="http://schemas.microsoft.com/office/drawing/2014/main" val="2589436211"/>
                        </a:ext>
                      </a:extLst>
                    </a:gridCol>
                    <a:gridCol w="1031034">
                      <a:extLst>
                        <a:ext uri="{9D8B030D-6E8A-4147-A177-3AD203B41FA5}">
                          <a16:colId xmlns:a16="http://schemas.microsoft.com/office/drawing/2014/main" val="1048193379"/>
                        </a:ext>
                      </a:extLst>
                    </a:gridCol>
                    <a:gridCol w="1031034">
                      <a:extLst>
                        <a:ext uri="{9D8B030D-6E8A-4147-A177-3AD203B41FA5}">
                          <a16:colId xmlns:a16="http://schemas.microsoft.com/office/drawing/2014/main" val="1089939013"/>
                        </a:ext>
                      </a:extLst>
                    </a:gridCol>
                    <a:gridCol w="1031034">
                      <a:extLst>
                        <a:ext uri="{9D8B030D-6E8A-4147-A177-3AD203B41FA5}">
                          <a16:colId xmlns:a16="http://schemas.microsoft.com/office/drawing/2014/main" val="3491846284"/>
                        </a:ext>
                      </a:extLst>
                    </a:gridCol>
                    <a:gridCol w="1031034">
                      <a:extLst>
                        <a:ext uri="{9D8B030D-6E8A-4147-A177-3AD203B41FA5}">
                          <a16:colId xmlns:a16="http://schemas.microsoft.com/office/drawing/2014/main" val="1988620109"/>
                        </a:ext>
                      </a:extLst>
                    </a:gridCol>
                  </a:tblGrid>
                  <a:tr h="312293">
                    <a:tc gridSpan="9">
                      <a:txBody>
                        <a:bodyPr/>
                        <a:lstStyle/>
                        <a:p>
                          <a:pPr algn="ctr">
                            <a:lnSpc>
                              <a:spcPct val="107000"/>
                            </a:lnSpc>
                            <a:spcAft>
                              <a:spcPts val="800"/>
                            </a:spcAft>
                          </a:pPr>
                          <a:r>
                            <a:rPr lang="en-AU" sz="2000" kern="100">
                              <a:effectLst/>
                            </a:rPr>
                            <a:t>Table 5. The Transition Probability Matrixes</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1809860869"/>
                      </a:ext>
                    </a:extLst>
                  </a:tr>
                  <a:tr h="312293">
                    <a:tc>
                      <a:txBody>
                        <a:bodyPr/>
                        <a:lstStyle/>
                        <a:p>
                          <a:pPr>
                            <a:lnSpc>
                              <a:spcPct val="107000"/>
                            </a:lnSpc>
                            <a:spcAft>
                              <a:spcPts val="800"/>
                            </a:spcAft>
                          </a:pPr>
                          <a:r>
                            <a:rPr lang="en-AU" sz="2000" kern="100">
                              <a:effectLst/>
                            </a:rPr>
                            <a:t> </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1</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2</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3</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4</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1</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2</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3</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4</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1776048415"/>
                      </a:ext>
                    </a:extLst>
                  </a:tr>
                  <a:tr h="427736">
                    <a:tc>
                      <a:txBody>
                        <a:bodyPr/>
                        <a:lstStyle/>
                        <a:p>
                          <a:pPr>
                            <a:lnSpc>
                              <a:spcPct val="107000"/>
                            </a:lnSpc>
                            <a:spcAft>
                              <a:spcPts val="800"/>
                            </a:spcAft>
                          </a:pPr>
                          <a:r>
                            <a:rPr lang="en-AU" sz="2000" kern="100">
                              <a:effectLst/>
                            </a:rPr>
                            <a:t> </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gridSpan="4">
                      <a:txBody>
                        <a:bodyPr/>
                        <a:lstStyle/>
                        <a:p>
                          <a:endParaRPr lang="en-US"/>
                        </a:p>
                      </a:txBody>
                      <a:tcPr marL="68580" marR="68580" marT="0" marB="0" anchor="b">
                        <a:blipFill>
                          <a:blip r:embed="rId2"/>
                          <a:stretch>
                            <a:fillRect l="-6637" t="-160563" r="-100442" b="-807042"/>
                          </a:stretch>
                        </a:blipFill>
                      </a:tcPr>
                    </a:tc>
                    <a:tc hMerge="1">
                      <a:txBody>
                        <a:bodyPr/>
                        <a:lstStyle/>
                        <a:p>
                          <a:endParaRPr lang="en-AU"/>
                        </a:p>
                      </a:txBody>
                      <a:tcPr/>
                    </a:tc>
                    <a:tc hMerge="1">
                      <a:txBody>
                        <a:bodyPr/>
                        <a:lstStyle/>
                        <a:p>
                          <a:endParaRPr lang="en-AU"/>
                        </a:p>
                      </a:txBody>
                      <a:tcPr/>
                    </a:tc>
                    <a:tc hMerge="1">
                      <a:txBody>
                        <a:bodyPr/>
                        <a:lstStyle/>
                        <a:p>
                          <a:endParaRPr lang="en-AU"/>
                        </a:p>
                      </a:txBody>
                      <a:tcPr/>
                    </a:tc>
                    <a:tc gridSpan="4">
                      <a:txBody>
                        <a:bodyPr/>
                        <a:lstStyle/>
                        <a:p>
                          <a:endParaRPr lang="en-US"/>
                        </a:p>
                      </a:txBody>
                      <a:tcPr marL="68580" marR="68580" marT="0" marB="0" anchor="b">
                        <a:blipFill>
                          <a:blip r:embed="rId2"/>
                          <a:stretch>
                            <a:fillRect l="-106795" t="-160563" r="-591" b="-807042"/>
                          </a:stretch>
                        </a:blipFill>
                      </a:tcP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194339640"/>
                      </a:ext>
                    </a:extLst>
                  </a:tr>
                  <a:tr h="312293">
                    <a:tc>
                      <a:txBody>
                        <a:bodyPr/>
                        <a:lstStyle/>
                        <a:p>
                          <a:pPr algn="r">
                            <a:lnSpc>
                              <a:spcPct val="107000"/>
                            </a:lnSpc>
                            <a:spcAft>
                              <a:spcPts val="800"/>
                            </a:spcAft>
                          </a:pPr>
                          <a:r>
                            <a:rPr lang="en-AU" sz="2000" kern="100">
                              <a:effectLst/>
                            </a:rPr>
                            <a:t>1</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0.7113</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0.2535</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0.0282</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0.0070</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0.7</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0.2667</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0.0333</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135596852"/>
                      </a:ext>
                    </a:extLst>
                  </a:tr>
                  <a:tr h="312293">
                    <a:tc>
                      <a:txBody>
                        <a:bodyPr/>
                        <a:lstStyle/>
                        <a:p>
                          <a:pPr algn="r">
                            <a:lnSpc>
                              <a:spcPct val="107000"/>
                            </a:lnSpc>
                            <a:spcAft>
                              <a:spcPts val="800"/>
                            </a:spcAft>
                          </a:pPr>
                          <a:r>
                            <a:rPr lang="en-AU" sz="2000" kern="100">
                              <a:effectLst/>
                            </a:rPr>
                            <a:t>2</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0.2035</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0.5752</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0.1947</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0.0265</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0.1136</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0.5909</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0.2955</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2118668530"/>
                      </a:ext>
                    </a:extLst>
                  </a:tr>
                  <a:tr h="312293">
                    <a:tc>
                      <a:txBody>
                        <a:bodyPr/>
                        <a:lstStyle/>
                        <a:p>
                          <a:pPr algn="r">
                            <a:lnSpc>
                              <a:spcPct val="107000"/>
                            </a:lnSpc>
                            <a:spcAft>
                              <a:spcPts val="800"/>
                            </a:spcAft>
                          </a:pPr>
                          <a:r>
                            <a:rPr lang="en-AU" sz="2000" kern="100">
                              <a:effectLst/>
                            </a:rPr>
                            <a:t>3</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0.0194</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0.1748</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0.7184</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0.0874</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0.0227</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0.1136</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0.7045</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0.1591</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4171624050"/>
                      </a:ext>
                    </a:extLst>
                  </a:tr>
                  <a:tr h="312293">
                    <a:tc>
                      <a:txBody>
                        <a:bodyPr/>
                        <a:lstStyle/>
                        <a:p>
                          <a:pPr algn="r">
                            <a:lnSpc>
                              <a:spcPct val="107000"/>
                            </a:lnSpc>
                            <a:spcAft>
                              <a:spcPts val="800"/>
                            </a:spcAft>
                          </a:pPr>
                          <a:r>
                            <a:rPr lang="en-AU" sz="2000" kern="100">
                              <a:effectLst/>
                            </a:rPr>
                            <a:t>4</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0.0175</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0.0526</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0.1579</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0.7719</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0.0202</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0.0808</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0.8990</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4119839868"/>
                      </a:ext>
                    </a:extLst>
                  </a:tr>
                  <a:tr h="427736">
                    <a:tc>
                      <a:txBody>
                        <a:bodyPr/>
                        <a:lstStyle/>
                        <a:p>
                          <a:pPr>
                            <a:lnSpc>
                              <a:spcPct val="107000"/>
                            </a:lnSpc>
                            <a:spcAft>
                              <a:spcPts val="800"/>
                            </a:spcAft>
                          </a:pPr>
                          <a:r>
                            <a:rPr lang="en-AU" sz="2000" kern="100">
                              <a:effectLst/>
                            </a:rPr>
                            <a:t> </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gridSpan="4">
                      <a:txBody>
                        <a:bodyPr/>
                        <a:lstStyle/>
                        <a:p>
                          <a:endParaRPr lang="en-US"/>
                        </a:p>
                      </a:txBody>
                      <a:tcPr marL="68580" marR="68580" marT="0" marB="0" anchor="b">
                        <a:blipFill>
                          <a:blip r:embed="rId2"/>
                          <a:stretch>
                            <a:fillRect l="-6637" t="-557143" r="-100442" b="-425714"/>
                          </a:stretch>
                        </a:blipFill>
                      </a:tcPr>
                    </a:tc>
                    <a:tc hMerge="1">
                      <a:txBody>
                        <a:bodyPr/>
                        <a:lstStyle/>
                        <a:p>
                          <a:endParaRPr lang="en-AU"/>
                        </a:p>
                      </a:txBody>
                      <a:tcPr/>
                    </a:tc>
                    <a:tc hMerge="1">
                      <a:txBody>
                        <a:bodyPr/>
                        <a:lstStyle/>
                        <a:p>
                          <a:endParaRPr lang="en-AU"/>
                        </a:p>
                      </a:txBody>
                      <a:tcPr/>
                    </a:tc>
                    <a:tc hMerge="1">
                      <a:txBody>
                        <a:bodyPr/>
                        <a:lstStyle/>
                        <a:p>
                          <a:endParaRPr lang="en-AU"/>
                        </a:p>
                      </a:txBody>
                      <a:tcPr/>
                    </a:tc>
                    <a:tc gridSpan="4">
                      <a:txBody>
                        <a:bodyPr/>
                        <a:lstStyle/>
                        <a:p>
                          <a:endParaRPr lang="en-US"/>
                        </a:p>
                      </a:txBody>
                      <a:tcPr marL="68580" marR="68580" marT="0" marB="0" anchor="b">
                        <a:blipFill>
                          <a:blip r:embed="rId2"/>
                          <a:stretch>
                            <a:fillRect l="-106795" t="-557143" r="-591" b="-425714"/>
                          </a:stretch>
                        </a:blipFill>
                      </a:tcP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53883838"/>
                      </a:ext>
                    </a:extLst>
                  </a:tr>
                  <a:tr h="312293">
                    <a:tc>
                      <a:txBody>
                        <a:bodyPr/>
                        <a:lstStyle/>
                        <a:p>
                          <a:pPr algn="r">
                            <a:lnSpc>
                              <a:spcPct val="107000"/>
                            </a:lnSpc>
                            <a:spcAft>
                              <a:spcPts val="800"/>
                            </a:spcAft>
                          </a:pPr>
                          <a:r>
                            <a:rPr lang="en-AU" sz="2000" kern="100">
                              <a:effectLst/>
                            </a:rPr>
                            <a:t>1</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0.6429</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0.3571</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0.5</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0.25</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0.25</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574619058"/>
                      </a:ext>
                    </a:extLst>
                  </a:tr>
                  <a:tr h="312293">
                    <a:tc>
                      <a:txBody>
                        <a:bodyPr/>
                        <a:lstStyle/>
                        <a:p>
                          <a:pPr algn="r">
                            <a:lnSpc>
                              <a:spcPct val="107000"/>
                            </a:lnSpc>
                            <a:spcAft>
                              <a:spcPts val="800"/>
                            </a:spcAft>
                          </a:pPr>
                          <a:r>
                            <a:rPr lang="en-AU" sz="2000" kern="100">
                              <a:effectLst/>
                            </a:rPr>
                            <a:t>2</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0.6190</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0.3333</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0.0476</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0.6667</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0.3333</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2069081595"/>
                      </a:ext>
                    </a:extLst>
                  </a:tr>
                  <a:tr h="312293">
                    <a:tc>
                      <a:txBody>
                        <a:bodyPr/>
                        <a:lstStyle/>
                        <a:p>
                          <a:pPr algn="r">
                            <a:lnSpc>
                              <a:spcPct val="107000"/>
                            </a:lnSpc>
                            <a:spcAft>
                              <a:spcPts val="800"/>
                            </a:spcAft>
                          </a:pPr>
                          <a:r>
                            <a:rPr lang="en-AU" sz="2000" kern="100">
                              <a:effectLst/>
                            </a:rPr>
                            <a:t>3</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0.0417</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0.0833</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0.6667</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0.2083</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0.0323</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0.0323</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0.8065</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0.1290</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2894842707"/>
                      </a:ext>
                    </a:extLst>
                  </a:tr>
                  <a:tr h="312293">
                    <a:tc>
                      <a:txBody>
                        <a:bodyPr/>
                        <a:lstStyle/>
                        <a:p>
                          <a:pPr algn="r">
                            <a:lnSpc>
                              <a:spcPct val="107000"/>
                            </a:lnSpc>
                            <a:spcAft>
                              <a:spcPts val="800"/>
                            </a:spcAft>
                          </a:pPr>
                          <a:r>
                            <a:rPr lang="en-AU" sz="2000" kern="100">
                              <a:effectLst/>
                            </a:rPr>
                            <a:t>4</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0.0526</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0.1579</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0.7895</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0.0227</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tc>
                      <a:txBody>
                        <a:bodyPr/>
                        <a:lstStyle/>
                        <a:p>
                          <a:pPr algn="r">
                            <a:lnSpc>
                              <a:spcPct val="107000"/>
                            </a:lnSpc>
                            <a:spcAft>
                              <a:spcPts val="800"/>
                            </a:spcAft>
                          </a:pPr>
                          <a:r>
                            <a:rPr lang="en-AU" sz="2000" kern="100">
                              <a:effectLst/>
                            </a:rPr>
                            <a:t>0.9773</a:t>
                          </a:r>
                          <a:endParaRPr lang="en-AU" sz="20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b"/>
                    </a:tc>
                    <a:extLst>
                      <a:ext uri="{0D108BD9-81ED-4DB2-BD59-A6C34878D82A}">
                        <a16:rowId xmlns:a16="http://schemas.microsoft.com/office/drawing/2014/main" val="314464042"/>
                      </a:ext>
                    </a:extLst>
                  </a:tr>
                  <a:tr h="482283">
                    <a:tc gridSpan="9">
                      <a:txBody>
                        <a:bodyPr/>
                        <a:lstStyle/>
                        <a:p>
                          <a:endParaRPr lang="en-US"/>
                        </a:p>
                      </a:txBody>
                      <a:tcPr marL="68580" marR="68580" marT="0" marB="0" anchor="b">
                        <a:blipFill>
                          <a:blip r:embed="rId2"/>
                          <a:stretch>
                            <a:fillRect l="-71" t="-841772" r="-286" b="-17722"/>
                          </a:stretch>
                        </a:blipFill>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1955163164"/>
                      </a:ext>
                    </a:extLst>
                  </a:tr>
                </a:tbl>
              </a:graphicData>
            </a:graphic>
          </p:graphicFrame>
        </mc:Fallback>
      </mc:AlternateContent>
    </p:spTree>
    <p:extLst>
      <p:ext uri="{BB962C8B-B14F-4D97-AF65-F5344CB8AC3E}">
        <p14:creationId xmlns:p14="http://schemas.microsoft.com/office/powerpoint/2010/main" val="18683611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9B9ED-85C1-2B07-FE84-3249B30930AD}"/>
              </a:ext>
            </a:extLst>
          </p:cNvPr>
          <p:cNvSpPr>
            <a:spLocks noGrp="1"/>
          </p:cNvSpPr>
          <p:nvPr>
            <p:ph type="title"/>
          </p:nvPr>
        </p:nvSpPr>
        <p:spPr/>
        <p:txBody>
          <a:bodyPr/>
          <a:lstStyle/>
          <a:p>
            <a:r>
              <a:rPr lang="en-AU" dirty="0"/>
              <a:t>Results</a:t>
            </a:r>
          </a:p>
        </p:txBody>
      </p:sp>
      <p:sp>
        <p:nvSpPr>
          <p:cNvPr id="3" name="Content Placeholder 2">
            <a:extLst>
              <a:ext uri="{FF2B5EF4-FFF2-40B4-BE49-F238E27FC236}">
                <a16:creationId xmlns:a16="http://schemas.microsoft.com/office/drawing/2014/main" id="{20493FA2-84E5-E9A2-FBCD-2652A258762B}"/>
              </a:ext>
            </a:extLst>
          </p:cNvPr>
          <p:cNvSpPr>
            <a:spLocks noGrp="1"/>
          </p:cNvSpPr>
          <p:nvPr>
            <p:ph idx="1"/>
          </p:nvPr>
        </p:nvSpPr>
        <p:spPr/>
        <p:txBody>
          <a:bodyPr/>
          <a:lstStyle/>
          <a:p>
            <a:r>
              <a:rPr lang="en-US" dirty="0"/>
              <a:t>The dynamic decisions on export and product innovation</a:t>
            </a:r>
          </a:p>
          <a:p>
            <a:endParaRPr lang="en-AU" dirty="0"/>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581506EA-7F4C-6FAD-5EA0-E3737EC4FCB8}"/>
                  </a:ext>
                </a:extLst>
              </p:cNvPr>
              <p:cNvGraphicFramePr>
                <a:graphicFrameLocks noGrp="1"/>
              </p:cNvGraphicFramePr>
              <p:nvPr>
                <p:extLst>
                  <p:ext uri="{D42A27DB-BD31-4B8C-83A1-F6EECF244321}">
                    <p14:modId xmlns:p14="http://schemas.microsoft.com/office/powerpoint/2010/main" val="2058257402"/>
                  </p:ext>
                </p:extLst>
              </p:nvPr>
            </p:nvGraphicFramePr>
            <p:xfrm>
              <a:off x="1186646" y="2256314"/>
              <a:ext cx="5381988" cy="3940493"/>
            </p:xfrm>
            <a:graphic>
              <a:graphicData uri="http://schemas.openxmlformats.org/drawingml/2006/table">
                <a:tbl>
                  <a:tblPr firstRow="1" firstCol="1" bandRow="1">
                    <a:tableStyleId>{5C22544A-7EE6-4342-B048-85BDC9FD1C3A}</a:tableStyleId>
                  </a:tblPr>
                  <a:tblGrid>
                    <a:gridCol w="560316">
                      <a:extLst>
                        <a:ext uri="{9D8B030D-6E8A-4147-A177-3AD203B41FA5}">
                          <a16:colId xmlns:a16="http://schemas.microsoft.com/office/drawing/2014/main" val="1525746772"/>
                        </a:ext>
                      </a:extLst>
                    </a:gridCol>
                    <a:gridCol w="1607224">
                      <a:extLst>
                        <a:ext uri="{9D8B030D-6E8A-4147-A177-3AD203B41FA5}">
                          <a16:colId xmlns:a16="http://schemas.microsoft.com/office/drawing/2014/main" val="1968665246"/>
                        </a:ext>
                      </a:extLst>
                    </a:gridCol>
                    <a:gridCol w="1607224">
                      <a:extLst>
                        <a:ext uri="{9D8B030D-6E8A-4147-A177-3AD203B41FA5}">
                          <a16:colId xmlns:a16="http://schemas.microsoft.com/office/drawing/2014/main" val="2512095628"/>
                        </a:ext>
                      </a:extLst>
                    </a:gridCol>
                    <a:gridCol w="1607224">
                      <a:extLst>
                        <a:ext uri="{9D8B030D-6E8A-4147-A177-3AD203B41FA5}">
                          <a16:colId xmlns:a16="http://schemas.microsoft.com/office/drawing/2014/main" val="2474160899"/>
                        </a:ext>
                      </a:extLst>
                    </a:gridCol>
                  </a:tblGrid>
                  <a:tr h="184150">
                    <a:tc gridSpan="4">
                      <a:txBody>
                        <a:bodyPr/>
                        <a:lstStyle/>
                        <a:p>
                          <a:pPr algn="ctr">
                            <a:lnSpc>
                              <a:spcPct val="107000"/>
                            </a:lnSpc>
                            <a:spcAft>
                              <a:spcPts val="800"/>
                            </a:spcAft>
                          </a:pPr>
                          <a:r>
                            <a:rPr lang="en-AU" sz="1800" kern="100">
                              <a:effectLst/>
                            </a:rPr>
                            <a:t>	Table 6. Estimation Results of the Dynamic Choices of Export and Product Innovation</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1613217274"/>
                      </a:ext>
                    </a:extLst>
                  </a:tr>
                  <a:tr h="184150">
                    <a:tc>
                      <a:txBody>
                        <a:bodyPr/>
                        <a:lstStyle/>
                        <a:p>
                          <a:pPr>
                            <a:lnSpc>
                              <a:spcPct val="107000"/>
                            </a:lnSpc>
                            <a:spcAft>
                              <a:spcPts val="800"/>
                            </a:spcAft>
                          </a:pPr>
                          <a:r>
                            <a:rPr lang="en-AU" sz="1800" kern="100">
                              <a:effectLst/>
                            </a:rPr>
                            <a:t> </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r">
                            <a:lnSpc>
                              <a:spcPct val="107000"/>
                            </a:lnSpc>
                            <a:spcAft>
                              <a:spcPts val="800"/>
                            </a:spcAft>
                          </a:pPr>
                          <a:r>
                            <a:rPr lang="en-AU" sz="1800" kern="100">
                              <a:effectLst/>
                            </a:rPr>
                            <a:t>Coef.</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r">
                            <a:lnSpc>
                              <a:spcPct val="107000"/>
                            </a:lnSpc>
                            <a:spcAft>
                              <a:spcPts val="800"/>
                            </a:spcAft>
                          </a:pPr>
                          <a:r>
                            <a:rPr lang="en-AU" sz="1800" kern="100">
                              <a:effectLst/>
                            </a:rPr>
                            <a:t>S.E.</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r">
                            <a:lnSpc>
                              <a:spcPct val="107000"/>
                            </a:lnSpc>
                            <a:spcAft>
                              <a:spcPts val="800"/>
                            </a:spcAft>
                          </a:pPr>
                          <a:r>
                            <a:rPr lang="en-AU" sz="1800" kern="100">
                              <a:effectLst/>
                            </a:rPr>
                            <a:t>t</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90418168"/>
                      </a:ext>
                    </a:extLst>
                  </a:tr>
                  <a:tr h="184150">
                    <a:tc>
                      <a:txBody>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AU" sz="1800" i="1" kern="100">
                                        <a:effectLst/>
                                        <a:latin typeface="Cambria Math" panose="02040503050406030204" pitchFamily="18" charset="0"/>
                                      </a:rPr>
                                    </m:ctrlPr>
                                  </m:sSubPr>
                                  <m:e>
                                    <m:r>
                                      <a:rPr lang="en-AU" sz="1800" kern="100">
                                        <a:effectLst/>
                                        <a:latin typeface="Cambria Math" panose="02040503050406030204" pitchFamily="18" charset="0"/>
                                      </a:rPr>
                                      <m:t>𝛽</m:t>
                                    </m:r>
                                  </m:e>
                                  <m:sub>
                                    <m:r>
                                      <a:rPr lang="en-AU" sz="1800" kern="100">
                                        <a:effectLst/>
                                        <a:latin typeface="Cambria Math" panose="02040503050406030204" pitchFamily="18" charset="0"/>
                                      </a:rPr>
                                      <m:t>0</m:t>
                                    </m:r>
                                  </m:sub>
                                </m:sSub>
                              </m:oMath>
                            </m:oMathPara>
                          </a14:m>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r">
                            <a:lnSpc>
                              <a:spcPct val="107000"/>
                            </a:lnSpc>
                            <a:spcAft>
                              <a:spcPts val="800"/>
                            </a:spcAft>
                          </a:pPr>
                          <a:r>
                            <a:rPr lang="en-AU" sz="1800" kern="100">
                              <a:effectLst/>
                            </a:rPr>
                            <a:t>-8.9705***</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tc>
                      <a:txBody>
                        <a:bodyPr/>
                        <a:lstStyle/>
                        <a:p>
                          <a:pPr algn="r">
                            <a:lnSpc>
                              <a:spcPct val="107000"/>
                            </a:lnSpc>
                            <a:spcAft>
                              <a:spcPts val="800"/>
                            </a:spcAft>
                          </a:pPr>
                          <a:r>
                            <a:rPr lang="en-AU" sz="1800" kern="100">
                              <a:effectLst/>
                            </a:rPr>
                            <a:t>0.1367</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tc>
                      <a:txBody>
                        <a:bodyPr/>
                        <a:lstStyle/>
                        <a:p>
                          <a:pPr algn="r">
                            <a:lnSpc>
                              <a:spcPct val="107000"/>
                            </a:lnSpc>
                            <a:spcAft>
                              <a:spcPts val="800"/>
                            </a:spcAft>
                          </a:pPr>
                          <a:r>
                            <a:rPr lang="en-AU" sz="1800" kern="100">
                              <a:effectLst/>
                            </a:rPr>
                            <a:t>-65.6280</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476685517"/>
                      </a:ext>
                    </a:extLst>
                  </a:tr>
                  <a:tr h="184150">
                    <a:tc>
                      <a:txBody>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AU" sz="1800" i="1" kern="100">
                                        <a:effectLst/>
                                        <a:latin typeface="Cambria Math" panose="02040503050406030204" pitchFamily="18" charset="0"/>
                                      </a:rPr>
                                    </m:ctrlPr>
                                  </m:sSubPr>
                                  <m:e>
                                    <m:r>
                                      <a:rPr lang="en-AU" sz="1800" kern="100">
                                        <a:effectLst/>
                                        <a:latin typeface="Cambria Math" panose="02040503050406030204" pitchFamily="18" charset="0"/>
                                      </a:rPr>
                                      <m:t>𝛽</m:t>
                                    </m:r>
                                  </m:e>
                                  <m:sub>
                                    <m:r>
                                      <a:rPr lang="en-AU" sz="1800" kern="100">
                                        <a:effectLst/>
                                        <a:latin typeface="Cambria Math" panose="02040503050406030204" pitchFamily="18" charset="0"/>
                                      </a:rPr>
                                      <m:t>1</m:t>
                                    </m:r>
                                  </m:sub>
                                </m:sSub>
                              </m:oMath>
                            </m:oMathPara>
                          </a14:m>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r">
                            <a:lnSpc>
                              <a:spcPct val="107000"/>
                            </a:lnSpc>
                            <a:spcAft>
                              <a:spcPts val="800"/>
                            </a:spcAft>
                          </a:pPr>
                          <a:r>
                            <a:rPr lang="en-AU" sz="1800" kern="100">
                              <a:effectLst/>
                            </a:rPr>
                            <a:t>0.4345</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tc>
                      <a:txBody>
                        <a:bodyPr/>
                        <a:lstStyle/>
                        <a:p>
                          <a:pPr algn="r">
                            <a:lnSpc>
                              <a:spcPct val="107000"/>
                            </a:lnSpc>
                            <a:spcAft>
                              <a:spcPts val="800"/>
                            </a:spcAft>
                          </a:pPr>
                          <a:r>
                            <a:rPr lang="en-AU" sz="1800" kern="100">
                              <a:effectLst/>
                            </a:rPr>
                            <a:t>0.3621</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tc>
                      <a:txBody>
                        <a:bodyPr/>
                        <a:lstStyle/>
                        <a:p>
                          <a:pPr algn="r">
                            <a:lnSpc>
                              <a:spcPct val="107000"/>
                            </a:lnSpc>
                            <a:spcAft>
                              <a:spcPts val="800"/>
                            </a:spcAft>
                          </a:pPr>
                          <a:r>
                            <a:rPr lang="en-AU" sz="1800" kern="100">
                              <a:effectLst/>
                            </a:rPr>
                            <a:t>1.2001</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748002084"/>
                      </a:ext>
                    </a:extLst>
                  </a:tr>
                  <a:tr h="184150">
                    <a:tc>
                      <a:txBody>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AU" sz="1800" i="1" kern="100">
                                        <a:effectLst/>
                                        <a:latin typeface="Cambria Math" panose="02040503050406030204" pitchFamily="18" charset="0"/>
                                      </a:rPr>
                                    </m:ctrlPr>
                                  </m:sSubPr>
                                  <m:e>
                                    <m:r>
                                      <a:rPr lang="en-AU" sz="1800" kern="100">
                                        <a:effectLst/>
                                        <a:latin typeface="Cambria Math" panose="02040503050406030204" pitchFamily="18" charset="0"/>
                                      </a:rPr>
                                      <m:t>𝛽</m:t>
                                    </m:r>
                                  </m:e>
                                  <m:sub>
                                    <m:r>
                                      <a:rPr lang="en-AU" sz="1800" kern="100">
                                        <a:effectLst/>
                                        <a:latin typeface="Cambria Math" panose="02040503050406030204" pitchFamily="18" charset="0"/>
                                      </a:rPr>
                                      <m:t>2</m:t>
                                    </m:r>
                                  </m:sub>
                                </m:sSub>
                              </m:oMath>
                            </m:oMathPara>
                          </a14:m>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r">
                            <a:lnSpc>
                              <a:spcPct val="107000"/>
                            </a:lnSpc>
                            <a:spcAft>
                              <a:spcPts val="800"/>
                            </a:spcAft>
                          </a:pPr>
                          <a:r>
                            <a:rPr lang="en-AU" sz="1800" kern="100">
                              <a:effectLst/>
                            </a:rPr>
                            <a:t>-1.7658***</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tc>
                      <a:txBody>
                        <a:bodyPr/>
                        <a:lstStyle/>
                        <a:p>
                          <a:pPr algn="r">
                            <a:lnSpc>
                              <a:spcPct val="107000"/>
                            </a:lnSpc>
                            <a:spcAft>
                              <a:spcPts val="800"/>
                            </a:spcAft>
                          </a:pPr>
                          <a:r>
                            <a:rPr lang="en-AU" sz="1800" kern="100">
                              <a:effectLst/>
                            </a:rPr>
                            <a:t>0.5323</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tc>
                      <a:txBody>
                        <a:bodyPr/>
                        <a:lstStyle/>
                        <a:p>
                          <a:pPr algn="r">
                            <a:lnSpc>
                              <a:spcPct val="107000"/>
                            </a:lnSpc>
                            <a:spcAft>
                              <a:spcPts val="800"/>
                            </a:spcAft>
                          </a:pPr>
                          <a:r>
                            <a:rPr lang="en-AU" sz="1800" kern="100">
                              <a:effectLst/>
                            </a:rPr>
                            <a:t>-3.3174</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57654155"/>
                      </a:ext>
                    </a:extLst>
                  </a:tr>
                  <a:tr h="184150">
                    <a:tc>
                      <a:txBody>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AU" sz="1800" i="1" kern="100">
                                        <a:effectLst/>
                                        <a:latin typeface="Cambria Math" panose="02040503050406030204" pitchFamily="18" charset="0"/>
                                      </a:rPr>
                                    </m:ctrlPr>
                                  </m:sSubPr>
                                  <m:e>
                                    <m:r>
                                      <a:rPr lang="en-AU" sz="1800" kern="100">
                                        <a:effectLst/>
                                        <a:latin typeface="Cambria Math" panose="02040503050406030204" pitchFamily="18" charset="0"/>
                                      </a:rPr>
                                      <m:t>𝛽</m:t>
                                    </m:r>
                                  </m:e>
                                  <m:sub>
                                    <m:r>
                                      <a:rPr lang="en-AU" sz="1800" kern="100">
                                        <a:effectLst/>
                                        <a:latin typeface="Cambria Math" panose="02040503050406030204" pitchFamily="18" charset="0"/>
                                      </a:rPr>
                                      <m:t>3</m:t>
                                    </m:r>
                                  </m:sub>
                                </m:sSub>
                              </m:oMath>
                            </m:oMathPara>
                          </a14:m>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r">
                            <a:lnSpc>
                              <a:spcPct val="107000"/>
                            </a:lnSpc>
                            <a:spcAft>
                              <a:spcPts val="800"/>
                            </a:spcAft>
                          </a:pPr>
                          <a:r>
                            <a:rPr lang="en-AU" sz="1800" kern="100">
                              <a:effectLst/>
                            </a:rPr>
                            <a:t>8.3171***</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tc>
                      <a:txBody>
                        <a:bodyPr/>
                        <a:lstStyle/>
                        <a:p>
                          <a:pPr algn="r">
                            <a:lnSpc>
                              <a:spcPct val="107000"/>
                            </a:lnSpc>
                            <a:spcAft>
                              <a:spcPts val="800"/>
                            </a:spcAft>
                          </a:pPr>
                          <a:r>
                            <a:rPr lang="en-AU" sz="1800" kern="100">
                              <a:effectLst/>
                            </a:rPr>
                            <a:t>0.2412</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tc>
                      <a:txBody>
                        <a:bodyPr/>
                        <a:lstStyle/>
                        <a:p>
                          <a:pPr algn="r">
                            <a:lnSpc>
                              <a:spcPct val="107000"/>
                            </a:lnSpc>
                            <a:spcAft>
                              <a:spcPts val="800"/>
                            </a:spcAft>
                          </a:pPr>
                          <a:r>
                            <a:rPr lang="en-AU" sz="1800" kern="100">
                              <a:effectLst/>
                            </a:rPr>
                            <a:t>34.4889</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474226524"/>
                      </a:ext>
                    </a:extLst>
                  </a:tr>
                  <a:tr h="184150">
                    <a:tc>
                      <a:txBody>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AU" sz="1800" i="1" kern="100">
                                        <a:effectLst/>
                                        <a:latin typeface="Cambria Math" panose="02040503050406030204" pitchFamily="18" charset="0"/>
                                      </a:rPr>
                                    </m:ctrlPr>
                                  </m:sSubPr>
                                  <m:e>
                                    <m:r>
                                      <a:rPr lang="en-AU" sz="1800" kern="100">
                                        <a:effectLst/>
                                        <a:latin typeface="Cambria Math" panose="02040503050406030204" pitchFamily="18" charset="0"/>
                                      </a:rPr>
                                      <m:t>𝛽</m:t>
                                    </m:r>
                                  </m:e>
                                  <m:sub>
                                    <m:r>
                                      <a:rPr lang="en-AU" sz="1800" kern="100">
                                        <a:effectLst/>
                                        <a:latin typeface="Cambria Math" panose="02040503050406030204" pitchFamily="18" charset="0"/>
                                      </a:rPr>
                                      <m:t>4</m:t>
                                    </m:r>
                                  </m:sub>
                                </m:sSub>
                              </m:oMath>
                            </m:oMathPara>
                          </a14:m>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r">
                            <a:lnSpc>
                              <a:spcPct val="107000"/>
                            </a:lnSpc>
                            <a:spcAft>
                              <a:spcPts val="800"/>
                            </a:spcAft>
                          </a:pPr>
                          <a:r>
                            <a:rPr lang="en-AU" sz="1800" kern="100">
                              <a:effectLst/>
                            </a:rPr>
                            <a:t>-2.3615***</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tc>
                      <a:txBody>
                        <a:bodyPr/>
                        <a:lstStyle/>
                        <a:p>
                          <a:pPr algn="r">
                            <a:lnSpc>
                              <a:spcPct val="107000"/>
                            </a:lnSpc>
                            <a:spcAft>
                              <a:spcPts val="800"/>
                            </a:spcAft>
                          </a:pPr>
                          <a:r>
                            <a:rPr lang="en-AU" sz="1800" kern="100">
                              <a:effectLst/>
                            </a:rPr>
                            <a:t>0.3556</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tc>
                      <a:txBody>
                        <a:bodyPr/>
                        <a:lstStyle/>
                        <a:p>
                          <a:pPr algn="r">
                            <a:lnSpc>
                              <a:spcPct val="107000"/>
                            </a:lnSpc>
                            <a:spcAft>
                              <a:spcPts val="800"/>
                            </a:spcAft>
                          </a:pPr>
                          <a:r>
                            <a:rPr lang="en-AU" sz="1800" kern="100">
                              <a:effectLst/>
                            </a:rPr>
                            <a:t>-6.6407</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31394151"/>
                      </a:ext>
                    </a:extLst>
                  </a:tr>
                  <a:tr h="184150">
                    <a:tc>
                      <a:txBody>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AU" sz="1800" i="1" kern="100">
                                        <a:effectLst/>
                                        <a:latin typeface="Cambria Math" panose="02040503050406030204" pitchFamily="18" charset="0"/>
                                      </a:rPr>
                                    </m:ctrlPr>
                                  </m:sSubPr>
                                  <m:e>
                                    <m:r>
                                      <a:rPr lang="en-AU" sz="1800" kern="100">
                                        <a:effectLst/>
                                        <a:latin typeface="Cambria Math" panose="02040503050406030204" pitchFamily="18" charset="0"/>
                                      </a:rPr>
                                      <m:t>𝛽</m:t>
                                    </m:r>
                                  </m:e>
                                  <m:sub>
                                    <m:r>
                                      <a:rPr lang="en-AU" sz="1800" kern="100">
                                        <a:effectLst/>
                                        <a:latin typeface="Cambria Math" panose="02040503050406030204" pitchFamily="18" charset="0"/>
                                      </a:rPr>
                                      <m:t>5</m:t>
                                    </m:r>
                                  </m:sub>
                                </m:sSub>
                              </m:oMath>
                            </m:oMathPara>
                          </a14:m>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r">
                            <a:lnSpc>
                              <a:spcPct val="107000"/>
                            </a:lnSpc>
                            <a:spcAft>
                              <a:spcPts val="800"/>
                            </a:spcAft>
                          </a:pPr>
                          <a:r>
                            <a:rPr lang="en-AU" sz="1800" kern="100">
                              <a:effectLst/>
                            </a:rPr>
                            <a:t>8.4302***</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tc>
                      <a:txBody>
                        <a:bodyPr/>
                        <a:lstStyle/>
                        <a:p>
                          <a:pPr algn="r">
                            <a:lnSpc>
                              <a:spcPct val="107000"/>
                            </a:lnSpc>
                            <a:spcAft>
                              <a:spcPts val="800"/>
                            </a:spcAft>
                          </a:pPr>
                          <a:r>
                            <a:rPr lang="en-AU" sz="1800" kern="100">
                              <a:effectLst/>
                            </a:rPr>
                            <a:t>0.2693</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tc>
                      <a:txBody>
                        <a:bodyPr/>
                        <a:lstStyle/>
                        <a:p>
                          <a:pPr algn="r">
                            <a:lnSpc>
                              <a:spcPct val="107000"/>
                            </a:lnSpc>
                            <a:spcAft>
                              <a:spcPts val="800"/>
                            </a:spcAft>
                          </a:pPr>
                          <a:r>
                            <a:rPr lang="en-AU" sz="1800" kern="100">
                              <a:effectLst/>
                            </a:rPr>
                            <a:t>31.2991</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105304938"/>
                      </a:ext>
                    </a:extLst>
                  </a:tr>
                  <a:tr h="184150">
                    <a:tc>
                      <a:txBody>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AU" sz="1800" i="1" kern="100">
                                        <a:effectLst/>
                                        <a:latin typeface="Cambria Math" panose="02040503050406030204" pitchFamily="18" charset="0"/>
                                      </a:rPr>
                                    </m:ctrlPr>
                                  </m:sSubPr>
                                  <m:e>
                                    <m:r>
                                      <a:rPr lang="en-AU" sz="1800" kern="100">
                                        <a:effectLst/>
                                        <a:latin typeface="Cambria Math" panose="02040503050406030204" pitchFamily="18" charset="0"/>
                                      </a:rPr>
                                      <m:t>𝛽</m:t>
                                    </m:r>
                                  </m:e>
                                  <m:sub>
                                    <m:r>
                                      <a:rPr lang="en-AU" sz="1800" kern="100">
                                        <a:effectLst/>
                                        <a:latin typeface="Cambria Math" panose="02040503050406030204" pitchFamily="18" charset="0"/>
                                      </a:rPr>
                                      <m:t>6</m:t>
                                    </m:r>
                                  </m:sub>
                                </m:sSub>
                              </m:oMath>
                            </m:oMathPara>
                          </a14:m>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r">
                            <a:lnSpc>
                              <a:spcPct val="107000"/>
                            </a:lnSpc>
                            <a:spcAft>
                              <a:spcPts val="800"/>
                            </a:spcAft>
                          </a:pPr>
                          <a:r>
                            <a:rPr lang="en-AU" sz="1800" kern="100">
                              <a:effectLst/>
                            </a:rPr>
                            <a:t>-1.404***</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tc>
                      <a:txBody>
                        <a:bodyPr/>
                        <a:lstStyle/>
                        <a:p>
                          <a:pPr algn="r">
                            <a:lnSpc>
                              <a:spcPct val="107000"/>
                            </a:lnSpc>
                            <a:spcAft>
                              <a:spcPts val="800"/>
                            </a:spcAft>
                          </a:pPr>
                          <a:r>
                            <a:rPr lang="en-AU" sz="1800" kern="100">
                              <a:effectLst/>
                            </a:rPr>
                            <a:t>0.4116</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tc>
                      <a:txBody>
                        <a:bodyPr/>
                        <a:lstStyle/>
                        <a:p>
                          <a:pPr algn="r">
                            <a:lnSpc>
                              <a:spcPct val="107000"/>
                            </a:lnSpc>
                            <a:spcAft>
                              <a:spcPts val="800"/>
                            </a:spcAft>
                          </a:pPr>
                          <a:r>
                            <a:rPr lang="en-AU" sz="1800" kern="100">
                              <a:effectLst/>
                            </a:rPr>
                            <a:t>-3.4114</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13169081"/>
                      </a:ext>
                    </a:extLst>
                  </a:tr>
                  <a:tr h="184150">
                    <a:tc gridSpan="4">
                      <a:txBody>
                        <a:bodyPr/>
                        <a:lstStyle/>
                        <a:p>
                          <a:pPr>
                            <a:lnSpc>
                              <a:spcPct val="107000"/>
                            </a:lnSpc>
                            <a:spcAft>
                              <a:spcPts val="800"/>
                            </a:spcAft>
                          </a:pPr>
                          <a:r>
                            <a:rPr lang="en-AU" sz="1000" kern="100" dirty="0">
                              <a:effectLst/>
                            </a:rPr>
                            <a:t>Note: Standard errors are bootstrapped; *** p&lt;0.01.</a:t>
                          </a:r>
                          <a:br>
                            <a:rPr lang="en-AU" sz="1000" kern="100" dirty="0">
                              <a:effectLst/>
                            </a:rPr>
                          </a:br>
                          <a:r>
                            <a:rPr lang="en-AU" sz="1000" kern="100" dirty="0">
                              <a:effectLst/>
                            </a:rPr>
                            <a:t>Source: The authors’ estimation with data from NBS, China.</a:t>
                          </a:r>
                          <a:endParaRPr lang="en-AU" sz="10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1248618938"/>
                      </a:ext>
                    </a:extLst>
                  </a:tr>
                </a:tbl>
              </a:graphicData>
            </a:graphic>
          </p:graphicFrame>
        </mc:Choice>
        <mc:Fallback xmlns="">
          <p:graphicFrame>
            <p:nvGraphicFramePr>
              <p:cNvPr id="4" name="Table 3">
                <a:extLst>
                  <a:ext uri="{FF2B5EF4-FFF2-40B4-BE49-F238E27FC236}">
                    <a16:creationId xmlns:a16="http://schemas.microsoft.com/office/drawing/2014/main" id="{581506EA-7F4C-6FAD-5EA0-E3737EC4FCB8}"/>
                  </a:ext>
                </a:extLst>
              </p:cNvPr>
              <p:cNvGraphicFramePr>
                <a:graphicFrameLocks noGrp="1"/>
              </p:cNvGraphicFramePr>
              <p:nvPr>
                <p:extLst>
                  <p:ext uri="{D42A27DB-BD31-4B8C-83A1-F6EECF244321}">
                    <p14:modId xmlns:p14="http://schemas.microsoft.com/office/powerpoint/2010/main" val="2058257402"/>
                  </p:ext>
                </p:extLst>
              </p:nvPr>
            </p:nvGraphicFramePr>
            <p:xfrm>
              <a:off x="1186646" y="2256314"/>
              <a:ext cx="5381988" cy="3940493"/>
            </p:xfrm>
            <a:graphic>
              <a:graphicData uri="http://schemas.openxmlformats.org/drawingml/2006/table">
                <a:tbl>
                  <a:tblPr firstRow="1" firstCol="1" bandRow="1">
                    <a:tableStyleId>{5C22544A-7EE6-4342-B048-85BDC9FD1C3A}</a:tableStyleId>
                  </a:tblPr>
                  <a:tblGrid>
                    <a:gridCol w="560316">
                      <a:extLst>
                        <a:ext uri="{9D8B030D-6E8A-4147-A177-3AD203B41FA5}">
                          <a16:colId xmlns:a16="http://schemas.microsoft.com/office/drawing/2014/main" val="1525746772"/>
                        </a:ext>
                      </a:extLst>
                    </a:gridCol>
                    <a:gridCol w="1607224">
                      <a:extLst>
                        <a:ext uri="{9D8B030D-6E8A-4147-A177-3AD203B41FA5}">
                          <a16:colId xmlns:a16="http://schemas.microsoft.com/office/drawing/2014/main" val="1968665246"/>
                        </a:ext>
                      </a:extLst>
                    </a:gridCol>
                    <a:gridCol w="1607224">
                      <a:extLst>
                        <a:ext uri="{9D8B030D-6E8A-4147-A177-3AD203B41FA5}">
                          <a16:colId xmlns:a16="http://schemas.microsoft.com/office/drawing/2014/main" val="2512095628"/>
                        </a:ext>
                      </a:extLst>
                    </a:gridCol>
                    <a:gridCol w="1607224">
                      <a:extLst>
                        <a:ext uri="{9D8B030D-6E8A-4147-A177-3AD203B41FA5}">
                          <a16:colId xmlns:a16="http://schemas.microsoft.com/office/drawing/2014/main" val="2474160899"/>
                        </a:ext>
                      </a:extLst>
                    </a:gridCol>
                  </a:tblGrid>
                  <a:tr h="574548">
                    <a:tc gridSpan="4">
                      <a:txBody>
                        <a:bodyPr/>
                        <a:lstStyle/>
                        <a:p>
                          <a:pPr algn="ctr">
                            <a:lnSpc>
                              <a:spcPct val="107000"/>
                            </a:lnSpc>
                            <a:spcAft>
                              <a:spcPts val="800"/>
                            </a:spcAft>
                          </a:pPr>
                          <a:r>
                            <a:rPr lang="en-AU" sz="1800" kern="100">
                              <a:effectLst/>
                            </a:rPr>
                            <a:t>	Table 6. Estimation Results of the Dynamic Choices of Export and Product Innovation</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1613217274"/>
                      </a:ext>
                    </a:extLst>
                  </a:tr>
                  <a:tr h="281051">
                    <a:tc>
                      <a:txBody>
                        <a:bodyPr/>
                        <a:lstStyle/>
                        <a:p>
                          <a:pPr>
                            <a:lnSpc>
                              <a:spcPct val="107000"/>
                            </a:lnSpc>
                            <a:spcAft>
                              <a:spcPts val="800"/>
                            </a:spcAft>
                          </a:pPr>
                          <a:r>
                            <a:rPr lang="en-AU" sz="1800" kern="100">
                              <a:effectLst/>
                            </a:rPr>
                            <a:t> </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r">
                            <a:lnSpc>
                              <a:spcPct val="107000"/>
                            </a:lnSpc>
                            <a:spcAft>
                              <a:spcPts val="800"/>
                            </a:spcAft>
                          </a:pPr>
                          <a:r>
                            <a:rPr lang="en-AU" sz="1800" kern="100">
                              <a:effectLst/>
                            </a:rPr>
                            <a:t>Coef.</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r">
                            <a:lnSpc>
                              <a:spcPct val="107000"/>
                            </a:lnSpc>
                            <a:spcAft>
                              <a:spcPts val="800"/>
                            </a:spcAft>
                          </a:pPr>
                          <a:r>
                            <a:rPr lang="en-AU" sz="1800" kern="100">
                              <a:effectLst/>
                            </a:rPr>
                            <a:t>S.E.</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a:txBody>
                        <a:bodyPr/>
                        <a:lstStyle/>
                        <a:p>
                          <a:pPr algn="r">
                            <a:lnSpc>
                              <a:spcPct val="107000"/>
                            </a:lnSpc>
                            <a:spcAft>
                              <a:spcPts val="800"/>
                            </a:spcAft>
                          </a:pPr>
                          <a:r>
                            <a:rPr lang="en-AU" sz="1800" kern="100">
                              <a:effectLst/>
                            </a:rPr>
                            <a:t>t</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90418168"/>
                      </a:ext>
                    </a:extLst>
                  </a:tr>
                  <a:tr h="395097">
                    <a:tc>
                      <a:txBody>
                        <a:bodyPr/>
                        <a:lstStyle/>
                        <a:p>
                          <a:endParaRPr lang="en-US"/>
                        </a:p>
                      </a:txBody>
                      <a:tcPr marL="68580" marR="68580" marT="0" marB="0" anchor="ctr">
                        <a:blipFill>
                          <a:blip r:embed="rId2"/>
                          <a:stretch>
                            <a:fillRect l="-1087" t="-233846" r="-865217" b="-700000"/>
                          </a:stretch>
                        </a:blipFill>
                      </a:tcPr>
                    </a:tc>
                    <a:tc>
                      <a:txBody>
                        <a:bodyPr/>
                        <a:lstStyle/>
                        <a:p>
                          <a:pPr algn="r">
                            <a:lnSpc>
                              <a:spcPct val="107000"/>
                            </a:lnSpc>
                            <a:spcAft>
                              <a:spcPts val="800"/>
                            </a:spcAft>
                          </a:pPr>
                          <a:r>
                            <a:rPr lang="en-AU" sz="1800" kern="100">
                              <a:effectLst/>
                            </a:rPr>
                            <a:t>-8.9705***</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tc>
                      <a:txBody>
                        <a:bodyPr/>
                        <a:lstStyle/>
                        <a:p>
                          <a:pPr algn="r">
                            <a:lnSpc>
                              <a:spcPct val="107000"/>
                            </a:lnSpc>
                            <a:spcAft>
                              <a:spcPts val="800"/>
                            </a:spcAft>
                          </a:pPr>
                          <a:r>
                            <a:rPr lang="en-AU" sz="1800" kern="100">
                              <a:effectLst/>
                            </a:rPr>
                            <a:t>0.1367</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tc>
                      <a:txBody>
                        <a:bodyPr/>
                        <a:lstStyle/>
                        <a:p>
                          <a:pPr algn="r">
                            <a:lnSpc>
                              <a:spcPct val="107000"/>
                            </a:lnSpc>
                            <a:spcAft>
                              <a:spcPts val="800"/>
                            </a:spcAft>
                          </a:pPr>
                          <a:r>
                            <a:rPr lang="en-AU" sz="1800" kern="100">
                              <a:effectLst/>
                            </a:rPr>
                            <a:t>-65.6280</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476685517"/>
                      </a:ext>
                    </a:extLst>
                  </a:tr>
                  <a:tr h="395097">
                    <a:tc>
                      <a:txBody>
                        <a:bodyPr/>
                        <a:lstStyle/>
                        <a:p>
                          <a:endParaRPr lang="en-US"/>
                        </a:p>
                      </a:txBody>
                      <a:tcPr marL="68580" marR="68580" marT="0" marB="0" anchor="ctr">
                        <a:blipFill>
                          <a:blip r:embed="rId2"/>
                          <a:stretch>
                            <a:fillRect l="-1087" t="-333846" r="-865217" b="-600000"/>
                          </a:stretch>
                        </a:blipFill>
                      </a:tcPr>
                    </a:tc>
                    <a:tc>
                      <a:txBody>
                        <a:bodyPr/>
                        <a:lstStyle/>
                        <a:p>
                          <a:pPr algn="r">
                            <a:lnSpc>
                              <a:spcPct val="107000"/>
                            </a:lnSpc>
                            <a:spcAft>
                              <a:spcPts val="800"/>
                            </a:spcAft>
                          </a:pPr>
                          <a:r>
                            <a:rPr lang="en-AU" sz="1800" kern="100">
                              <a:effectLst/>
                            </a:rPr>
                            <a:t>0.4345</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tc>
                      <a:txBody>
                        <a:bodyPr/>
                        <a:lstStyle/>
                        <a:p>
                          <a:pPr algn="r">
                            <a:lnSpc>
                              <a:spcPct val="107000"/>
                            </a:lnSpc>
                            <a:spcAft>
                              <a:spcPts val="800"/>
                            </a:spcAft>
                          </a:pPr>
                          <a:r>
                            <a:rPr lang="en-AU" sz="1800" kern="100">
                              <a:effectLst/>
                            </a:rPr>
                            <a:t>0.3621</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tc>
                      <a:txBody>
                        <a:bodyPr/>
                        <a:lstStyle/>
                        <a:p>
                          <a:pPr algn="r">
                            <a:lnSpc>
                              <a:spcPct val="107000"/>
                            </a:lnSpc>
                            <a:spcAft>
                              <a:spcPts val="800"/>
                            </a:spcAft>
                          </a:pPr>
                          <a:r>
                            <a:rPr lang="en-AU" sz="1800" kern="100">
                              <a:effectLst/>
                            </a:rPr>
                            <a:t>1.2001</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748002084"/>
                      </a:ext>
                    </a:extLst>
                  </a:tr>
                  <a:tr h="395097">
                    <a:tc>
                      <a:txBody>
                        <a:bodyPr/>
                        <a:lstStyle/>
                        <a:p>
                          <a:endParaRPr lang="en-US"/>
                        </a:p>
                      </a:txBody>
                      <a:tcPr marL="68580" marR="68580" marT="0" marB="0" anchor="ctr">
                        <a:blipFill>
                          <a:blip r:embed="rId2"/>
                          <a:stretch>
                            <a:fillRect l="-1087" t="-433846" r="-865217" b="-500000"/>
                          </a:stretch>
                        </a:blipFill>
                      </a:tcPr>
                    </a:tc>
                    <a:tc>
                      <a:txBody>
                        <a:bodyPr/>
                        <a:lstStyle/>
                        <a:p>
                          <a:pPr algn="r">
                            <a:lnSpc>
                              <a:spcPct val="107000"/>
                            </a:lnSpc>
                            <a:spcAft>
                              <a:spcPts val="800"/>
                            </a:spcAft>
                          </a:pPr>
                          <a:r>
                            <a:rPr lang="en-AU" sz="1800" kern="100">
                              <a:effectLst/>
                            </a:rPr>
                            <a:t>-1.7658***</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tc>
                      <a:txBody>
                        <a:bodyPr/>
                        <a:lstStyle/>
                        <a:p>
                          <a:pPr algn="r">
                            <a:lnSpc>
                              <a:spcPct val="107000"/>
                            </a:lnSpc>
                            <a:spcAft>
                              <a:spcPts val="800"/>
                            </a:spcAft>
                          </a:pPr>
                          <a:r>
                            <a:rPr lang="en-AU" sz="1800" kern="100">
                              <a:effectLst/>
                            </a:rPr>
                            <a:t>0.5323</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tc>
                      <a:txBody>
                        <a:bodyPr/>
                        <a:lstStyle/>
                        <a:p>
                          <a:pPr algn="r">
                            <a:lnSpc>
                              <a:spcPct val="107000"/>
                            </a:lnSpc>
                            <a:spcAft>
                              <a:spcPts val="800"/>
                            </a:spcAft>
                          </a:pPr>
                          <a:r>
                            <a:rPr lang="en-AU" sz="1800" kern="100">
                              <a:effectLst/>
                            </a:rPr>
                            <a:t>-3.3174</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57654155"/>
                      </a:ext>
                    </a:extLst>
                  </a:tr>
                  <a:tr h="395097">
                    <a:tc>
                      <a:txBody>
                        <a:bodyPr/>
                        <a:lstStyle/>
                        <a:p>
                          <a:endParaRPr lang="en-US"/>
                        </a:p>
                      </a:txBody>
                      <a:tcPr marL="68580" marR="68580" marT="0" marB="0" anchor="ctr">
                        <a:blipFill>
                          <a:blip r:embed="rId2"/>
                          <a:stretch>
                            <a:fillRect l="-1087" t="-533846" r="-865217" b="-400000"/>
                          </a:stretch>
                        </a:blipFill>
                      </a:tcPr>
                    </a:tc>
                    <a:tc>
                      <a:txBody>
                        <a:bodyPr/>
                        <a:lstStyle/>
                        <a:p>
                          <a:pPr algn="r">
                            <a:lnSpc>
                              <a:spcPct val="107000"/>
                            </a:lnSpc>
                            <a:spcAft>
                              <a:spcPts val="800"/>
                            </a:spcAft>
                          </a:pPr>
                          <a:r>
                            <a:rPr lang="en-AU" sz="1800" kern="100">
                              <a:effectLst/>
                            </a:rPr>
                            <a:t>8.3171***</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tc>
                      <a:txBody>
                        <a:bodyPr/>
                        <a:lstStyle/>
                        <a:p>
                          <a:pPr algn="r">
                            <a:lnSpc>
                              <a:spcPct val="107000"/>
                            </a:lnSpc>
                            <a:spcAft>
                              <a:spcPts val="800"/>
                            </a:spcAft>
                          </a:pPr>
                          <a:r>
                            <a:rPr lang="en-AU" sz="1800" kern="100">
                              <a:effectLst/>
                            </a:rPr>
                            <a:t>0.2412</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tc>
                      <a:txBody>
                        <a:bodyPr/>
                        <a:lstStyle/>
                        <a:p>
                          <a:pPr algn="r">
                            <a:lnSpc>
                              <a:spcPct val="107000"/>
                            </a:lnSpc>
                            <a:spcAft>
                              <a:spcPts val="800"/>
                            </a:spcAft>
                          </a:pPr>
                          <a:r>
                            <a:rPr lang="en-AU" sz="1800" kern="100">
                              <a:effectLst/>
                            </a:rPr>
                            <a:t>34.4889</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474226524"/>
                      </a:ext>
                    </a:extLst>
                  </a:tr>
                  <a:tr h="395097">
                    <a:tc>
                      <a:txBody>
                        <a:bodyPr/>
                        <a:lstStyle/>
                        <a:p>
                          <a:endParaRPr lang="en-US"/>
                        </a:p>
                      </a:txBody>
                      <a:tcPr marL="68580" marR="68580" marT="0" marB="0" anchor="ctr">
                        <a:blipFill>
                          <a:blip r:embed="rId2"/>
                          <a:stretch>
                            <a:fillRect l="-1087" t="-633846" r="-865217" b="-300000"/>
                          </a:stretch>
                        </a:blipFill>
                      </a:tcPr>
                    </a:tc>
                    <a:tc>
                      <a:txBody>
                        <a:bodyPr/>
                        <a:lstStyle/>
                        <a:p>
                          <a:pPr algn="r">
                            <a:lnSpc>
                              <a:spcPct val="107000"/>
                            </a:lnSpc>
                            <a:spcAft>
                              <a:spcPts val="800"/>
                            </a:spcAft>
                          </a:pPr>
                          <a:r>
                            <a:rPr lang="en-AU" sz="1800" kern="100">
                              <a:effectLst/>
                            </a:rPr>
                            <a:t>-2.3615***</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tc>
                      <a:txBody>
                        <a:bodyPr/>
                        <a:lstStyle/>
                        <a:p>
                          <a:pPr algn="r">
                            <a:lnSpc>
                              <a:spcPct val="107000"/>
                            </a:lnSpc>
                            <a:spcAft>
                              <a:spcPts val="800"/>
                            </a:spcAft>
                          </a:pPr>
                          <a:r>
                            <a:rPr lang="en-AU" sz="1800" kern="100">
                              <a:effectLst/>
                            </a:rPr>
                            <a:t>0.3556</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tc>
                      <a:txBody>
                        <a:bodyPr/>
                        <a:lstStyle/>
                        <a:p>
                          <a:pPr algn="r">
                            <a:lnSpc>
                              <a:spcPct val="107000"/>
                            </a:lnSpc>
                            <a:spcAft>
                              <a:spcPts val="800"/>
                            </a:spcAft>
                          </a:pPr>
                          <a:r>
                            <a:rPr lang="en-AU" sz="1800" kern="100">
                              <a:effectLst/>
                            </a:rPr>
                            <a:t>-6.6407</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31394151"/>
                      </a:ext>
                    </a:extLst>
                  </a:tr>
                  <a:tr h="395097">
                    <a:tc>
                      <a:txBody>
                        <a:bodyPr/>
                        <a:lstStyle/>
                        <a:p>
                          <a:endParaRPr lang="en-US"/>
                        </a:p>
                      </a:txBody>
                      <a:tcPr marL="68580" marR="68580" marT="0" marB="0" anchor="ctr">
                        <a:blipFill>
                          <a:blip r:embed="rId2"/>
                          <a:stretch>
                            <a:fillRect l="-1087" t="-733846" r="-865217" b="-200000"/>
                          </a:stretch>
                        </a:blipFill>
                      </a:tcPr>
                    </a:tc>
                    <a:tc>
                      <a:txBody>
                        <a:bodyPr/>
                        <a:lstStyle/>
                        <a:p>
                          <a:pPr algn="r">
                            <a:lnSpc>
                              <a:spcPct val="107000"/>
                            </a:lnSpc>
                            <a:spcAft>
                              <a:spcPts val="800"/>
                            </a:spcAft>
                          </a:pPr>
                          <a:r>
                            <a:rPr lang="en-AU" sz="1800" kern="100">
                              <a:effectLst/>
                            </a:rPr>
                            <a:t>8.4302***</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tc>
                      <a:txBody>
                        <a:bodyPr/>
                        <a:lstStyle/>
                        <a:p>
                          <a:pPr algn="r">
                            <a:lnSpc>
                              <a:spcPct val="107000"/>
                            </a:lnSpc>
                            <a:spcAft>
                              <a:spcPts val="800"/>
                            </a:spcAft>
                          </a:pPr>
                          <a:r>
                            <a:rPr lang="en-AU" sz="1800" kern="100">
                              <a:effectLst/>
                            </a:rPr>
                            <a:t>0.2693</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tc>
                      <a:txBody>
                        <a:bodyPr/>
                        <a:lstStyle/>
                        <a:p>
                          <a:pPr algn="r">
                            <a:lnSpc>
                              <a:spcPct val="107000"/>
                            </a:lnSpc>
                            <a:spcAft>
                              <a:spcPts val="800"/>
                            </a:spcAft>
                          </a:pPr>
                          <a:r>
                            <a:rPr lang="en-AU" sz="1800" kern="100">
                              <a:effectLst/>
                            </a:rPr>
                            <a:t>31.2991</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105304938"/>
                      </a:ext>
                    </a:extLst>
                  </a:tr>
                  <a:tr h="395097">
                    <a:tc>
                      <a:txBody>
                        <a:bodyPr/>
                        <a:lstStyle/>
                        <a:p>
                          <a:endParaRPr lang="en-US"/>
                        </a:p>
                      </a:txBody>
                      <a:tcPr marL="68580" marR="68580" marT="0" marB="0" anchor="ctr">
                        <a:blipFill>
                          <a:blip r:embed="rId2"/>
                          <a:stretch>
                            <a:fillRect l="-1087" t="-833846" r="-865217" b="-100000"/>
                          </a:stretch>
                        </a:blipFill>
                      </a:tcPr>
                    </a:tc>
                    <a:tc>
                      <a:txBody>
                        <a:bodyPr/>
                        <a:lstStyle/>
                        <a:p>
                          <a:pPr algn="r">
                            <a:lnSpc>
                              <a:spcPct val="107000"/>
                            </a:lnSpc>
                            <a:spcAft>
                              <a:spcPts val="800"/>
                            </a:spcAft>
                          </a:pPr>
                          <a:r>
                            <a:rPr lang="en-AU" sz="1800" kern="100">
                              <a:effectLst/>
                            </a:rPr>
                            <a:t>-1.404***</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tc>
                      <a:txBody>
                        <a:bodyPr/>
                        <a:lstStyle/>
                        <a:p>
                          <a:pPr algn="r">
                            <a:lnSpc>
                              <a:spcPct val="107000"/>
                            </a:lnSpc>
                            <a:spcAft>
                              <a:spcPts val="800"/>
                            </a:spcAft>
                          </a:pPr>
                          <a:r>
                            <a:rPr lang="en-AU" sz="1800" kern="100">
                              <a:effectLst/>
                            </a:rPr>
                            <a:t>0.4116</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tc>
                      <a:txBody>
                        <a:bodyPr/>
                        <a:lstStyle/>
                        <a:p>
                          <a:pPr algn="r">
                            <a:lnSpc>
                              <a:spcPct val="107000"/>
                            </a:lnSpc>
                            <a:spcAft>
                              <a:spcPts val="800"/>
                            </a:spcAft>
                          </a:pPr>
                          <a:r>
                            <a:rPr lang="en-AU" sz="1800" kern="100">
                              <a:effectLst/>
                            </a:rPr>
                            <a:t>-3.4114</a:t>
                          </a:r>
                          <a:endParaRPr lang="en-AU" sz="1800" kern="10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13169081"/>
                      </a:ext>
                    </a:extLst>
                  </a:tr>
                  <a:tr h="319215">
                    <a:tc gridSpan="4">
                      <a:txBody>
                        <a:bodyPr/>
                        <a:lstStyle/>
                        <a:p>
                          <a:pPr>
                            <a:lnSpc>
                              <a:spcPct val="107000"/>
                            </a:lnSpc>
                            <a:spcAft>
                              <a:spcPts val="800"/>
                            </a:spcAft>
                          </a:pPr>
                          <a:r>
                            <a:rPr lang="en-AU" sz="1000" kern="100" dirty="0">
                              <a:effectLst/>
                            </a:rPr>
                            <a:t>Note: Standard errors are bootstrapped; *** p&lt;0.01.</a:t>
                          </a:r>
                          <a:br>
                            <a:rPr lang="en-AU" sz="1000" kern="100" dirty="0">
                              <a:effectLst/>
                            </a:rPr>
                          </a:br>
                          <a:r>
                            <a:rPr lang="en-AU" sz="1000" kern="100" dirty="0">
                              <a:effectLst/>
                            </a:rPr>
                            <a:t>Source: The authors’ estimation with data from NBS, China.</a:t>
                          </a:r>
                          <a:endParaRPr lang="en-AU" sz="1000" kern="100" dirty="0">
                            <a:effectLst/>
                            <a:latin typeface="DengXian" panose="02010600030101010101" pitchFamily="2" charset="-122"/>
                            <a:ea typeface="DengXian" panose="02010600030101010101" pitchFamily="2" charset="-122"/>
                            <a:cs typeface="Times New Roman" panose="02020603050405020304" pitchFamily="18" charset="0"/>
                          </a:endParaRPr>
                        </a:p>
                      </a:txBody>
                      <a:tcPr marL="68580" marR="68580" marT="0" marB="0" anchor="ct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1248618938"/>
                      </a:ext>
                    </a:extLst>
                  </a:tr>
                </a:tbl>
              </a:graphicData>
            </a:graphic>
          </p:graphicFrame>
        </mc:Fallback>
      </mc:AlternateContent>
    </p:spTree>
    <p:extLst>
      <p:ext uri="{BB962C8B-B14F-4D97-AF65-F5344CB8AC3E}">
        <p14:creationId xmlns:p14="http://schemas.microsoft.com/office/powerpoint/2010/main" val="39223498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EAE5E-EA59-D323-ACED-02665FE1933B}"/>
              </a:ext>
            </a:extLst>
          </p:cNvPr>
          <p:cNvSpPr>
            <a:spLocks noGrp="1"/>
          </p:cNvSpPr>
          <p:nvPr>
            <p:ph type="title"/>
          </p:nvPr>
        </p:nvSpPr>
        <p:spPr/>
        <p:txBody>
          <a:bodyPr/>
          <a:lstStyle/>
          <a:p>
            <a:r>
              <a:rPr lang="en-AU" dirty="0"/>
              <a:t>Results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6144947-10F7-90A8-47EC-6594E5C17915}"/>
                  </a:ext>
                </a:extLst>
              </p:cNvPr>
              <p:cNvSpPr>
                <a:spLocks noGrp="1"/>
              </p:cNvSpPr>
              <p:nvPr>
                <p:ph idx="1"/>
              </p:nvPr>
            </p:nvSpPr>
            <p:spPr/>
            <p:txBody>
              <a:bodyPr>
                <a:normAutofit/>
              </a:bodyPr>
              <a:lstStyle/>
              <a:p>
                <a:r>
                  <a:rPr lang="en-AU" dirty="0"/>
                  <a:t>The parameter </a:t>
                </a:r>
                <a14:m>
                  <m:oMath xmlns:m="http://schemas.openxmlformats.org/officeDocument/2006/math">
                    <m:sSub>
                      <m:sSubPr>
                        <m:ctrlPr>
                          <a:rPr lang="en-AU" i="1">
                            <a:latin typeface="Cambria Math" panose="02040503050406030204" pitchFamily="18" charset="0"/>
                          </a:rPr>
                        </m:ctrlPr>
                      </m:sSubPr>
                      <m:e>
                        <m:r>
                          <a:rPr lang="en-AU">
                            <a:latin typeface="Cambria Math" panose="02040503050406030204" pitchFamily="18" charset="0"/>
                          </a:rPr>
                          <m:t>𝛽</m:t>
                        </m:r>
                      </m:e>
                      <m:sub>
                        <m:r>
                          <a:rPr lang="en-AU">
                            <a:latin typeface="Cambria Math" panose="02040503050406030204" pitchFamily="18" charset="0"/>
                          </a:rPr>
                          <m:t>0</m:t>
                        </m:r>
                      </m:sub>
                    </m:sSub>
                  </m:oMath>
                </a14:m>
                <a:r>
                  <a:rPr lang="en-AU" dirty="0"/>
                  <a:t>, which contains the post-WTO iceberg trade cost (</a:t>
                </a:r>
                <a14:m>
                  <m:oMath xmlns:m="http://schemas.openxmlformats.org/officeDocument/2006/math">
                    <m:sSup>
                      <m:sSupPr>
                        <m:ctrlPr>
                          <a:rPr lang="en-AU" i="1">
                            <a:latin typeface="Cambria Math" panose="02040503050406030204" pitchFamily="18" charset="0"/>
                          </a:rPr>
                        </m:ctrlPr>
                      </m:sSupPr>
                      <m:e>
                        <m:r>
                          <a:rPr lang="en-AU">
                            <a:latin typeface="Cambria Math" panose="02040503050406030204" pitchFamily="18" charset="0"/>
                          </a:rPr>
                          <m:t>𝜏</m:t>
                        </m:r>
                      </m:e>
                      <m:sup>
                        <m:f>
                          <m:fPr>
                            <m:ctrlPr>
                              <a:rPr lang="en-AU" i="1">
                                <a:latin typeface="Cambria Math" panose="02040503050406030204" pitchFamily="18" charset="0"/>
                              </a:rPr>
                            </m:ctrlPr>
                          </m:fPr>
                          <m:num>
                            <m:acc>
                              <m:accPr>
                                <m:chr m:val="̃"/>
                                <m:ctrlPr>
                                  <a:rPr lang="en-AU" i="1">
                                    <a:latin typeface="Cambria Math" panose="02040503050406030204" pitchFamily="18" charset="0"/>
                                  </a:rPr>
                                </m:ctrlPr>
                              </m:accPr>
                              <m:e>
                                <m:r>
                                  <a:rPr lang="en-AU">
                                    <a:latin typeface="Cambria Math" panose="02040503050406030204" pitchFamily="18" charset="0"/>
                                  </a:rPr>
                                  <m:t>𝜌</m:t>
                                </m:r>
                              </m:e>
                            </m:acc>
                          </m:num>
                          <m:den>
                            <m:acc>
                              <m:accPr>
                                <m:chr m:val="̃"/>
                                <m:ctrlPr>
                                  <a:rPr lang="en-AU" i="1">
                                    <a:latin typeface="Cambria Math" panose="02040503050406030204" pitchFamily="18" charset="0"/>
                                  </a:rPr>
                                </m:ctrlPr>
                              </m:accPr>
                              <m:e>
                                <m:r>
                                  <a:rPr lang="en-AU">
                                    <a:latin typeface="Cambria Math" panose="02040503050406030204" pitchFamily="18" charset="0"/>
                                  </a:rPr>
                                  <m:t>𝜌</m:t>
                                </m:r>
                              </m:e>
                            </m:acc>
                            <m:r>
                              <a:rPr lang="en-AU">
                                <a:latin typeface="Cambria Math" panose="02040503050406030204" pitchFamily="18" charset="0"/>
                              </a:rPr>
                              <m:t>−1</m:t>
                            </m:r>
                          </m:den>
                        </m:f>
                      </m:sup>
                    </m:sSup>
                    <m:sSup>
                      <m:sSupPr>
                        <m:ctrlPr>
                          <a:rPr lang="en-AU" i="1">
                            <a:latin typeface="Cambria Math" panose="02040503050406030204" pitchFamily="18" charset="0"/>
                          </a:rPr>
                        </m:ctrlPr>
                      </m:sSupPr>
                      <m:e>
                        <m:r>
                          <a:rPr lang="en-AU">
                            <a:latin typeface="Cambria Math" panose="02040503050406030204" pitchFamily="18" charset="0"/>
                          </a:rPr>
                          <m:t>𝑓</m:t>
                        </m:r>
                      </m:e>
                      <m:sup>
                        <m:f>
                          <m:fPr>
                            <m:ctrlPr>
                              <a:rPr lang="en-AU" i="1">
                                <a:latin typeface="Cambria Math" panose="02040503050406030204" pitchFamily="18" charset="0"/>
                              </a:rPr>
                            </m:ctrlPr>
                          </m:fPr>
                          <m:num>
                            <m:d>
                              <m:dPr>
                                <m:ctrlPr>
                                  <a:rPr lang="en-AU" i="1">
                                    <a:latin typeface="Cambria Math" panose="02040503050406030204" pitchFamily="18" charset="0"/>
                                  </a:rPr>
                                </m:ctrlPr>
                              </m:dPr>
                              <m:e>
                                <m:r>
                                  <a:rPr lang="en-AU">
                                    <a:latin typeface="Cambria Math" panose="02040503050406030204" pitchFamily="18" charset="0"/>
                                  </a:rPr>
                                  <m:t>1−</m:t>
                                </m:r>
                                <m:r>
                                  <a:rPr lang="en-AU">
                                    <a:latin typeface="Cambria Math" panose="02040503050406030204" pitchFamily="18" charset="0"/>
                                  </a:rPr>
                                  <m:t>𝜌</m:t>
                                </m:r>
                              </m:e>
                            </m:d>
                            <m:acc>
                              <m:accPr>
                                <m:chr m:val="̃"/>
                                <m:ctrlPr>
                                  <a:rPr lang="en-AU" i="1">
                                    <a:latin typeface="Cambria Math" panose="02040503050406030204" pitchFamily="18" charset="0"/>
                                  </a:rPr>
                                </m:ctrlPr>
                              </m:accPr>
                              <m:e>
                                <m:r>
                                  <a:rPr lang="en-AU">
                                    <a:latin typeface="Cambria Math" panose="02040503050406030204" pitchFamily="18" charset="0"/>
                                  </a:rPr>
                                  <m:t>𝜌</m:t>
                                </m:r>
                              </m:e>
                            </m:acc>
                          </m:num>
                          <m:den>
                            <m:r>
                              <a:rPr lang="en-AU">
                                <a:latin typeface="Cambria Math" panose="02040503050406030204" pitchFamily="18" charset="0"/>
                              </a:rPr>
                              <m:t>𝜌</m:t>
                            </m:r>
                            <m:d>
                              <m:dPr>
                                <m:ctrlPr>
                                  <a:rPr lang="en-AU" i="1">
                                    <a:latin typeface="Cambria Math" panose="02040503050406030204" pitchFamily="18" charset="0"/>
                                  </a:rPr>
                                </m:ctrlPr>
                              </m:dPr>
                              <m:e>
                                <m:r>
                                  <a:rPr lang="en-AU">
                                    <a:latin typeface="Cambria Math" panose="02040503050406030204" pitchFamily="18" charset="0"/>
                                  </a:rPr>
                                  <m:t>1−</m:t>
                                </m:r>
                                <m:acc>
                                  <m:accPr>
                                    <m:chr m:val="̃"/>
                                    <m:ctrlPr>
                                      <a:rPr lang="en-AU" i="1">
                                        <a:latin typeface="Cambria Math" panose="02040503050406030204" pitchFamily="18" charset="0"/>
                                      </a:rPr>
                                    </m:ctrlPr>
                                  </m:accPr>
                                  <m:e>
                                    <m:r>
                                      <a:rPr lang="en-AU">
                                        <a:latin typeface="Cambria Math" panose="02040503050406030204" pitchFamily="18" charset="0"/>
                                      </a:rPr>
                                      <m:t>𝜌</m:t>
                                    </m:r>
                                  </m:e>
                                </m:acc>
                              </m:e>
                            </m:d>
                          </m:den>
                        </m:f>
                      </m:sup>
                    </m:sSup>
                    <m:acc>
                      <m:accPr>
                        <m:chr m:val="̃"/>
                        <m:ctrlPr>
                          <a:rPr lang="en-AU" i="1">
                            <a:latin typeface="Cambria Math" panose="02040503050406030204" pitchFamily="18" charset="0"/>
                          </a:rPr>
                        </m:ctrlPr>
                      </m:accPr>
                      <m:e>
                        <m:r>
                          <a:rPr lang="en-AU">
                            <a:latin typeface="Cambria Math" panose="02040503050406030204" pitchFamily="18" charset="0"/>
                          </a:rPr>
                          <m:t>𝐴</m:t>
                        </m:r>
                      </m:e>
                    </m:acc>
                    <m:sSup>
                      <m:sSupPr>
                        <m:ctrlPr>
                          <a:rPr lang="en-AU" i="1">
                            <a:latin typeface="Cambria Math" panose="02040503050406030204" pitchFamily="18" charset="0"/>
                          </a:rPr>
                        </m:ctrlPr>
                      </m:sSupPr>
                      <m:e>
                        <m:r>
                          <a:rPr lang="en-AU">
                            <a:latin typeface="Cambria Math" panose="02040503050406030204" pitchFamily="18" charset="0"/>
                          </a:rPr>
                          <m:t>𝐴</m:t>
                        </m:r>
                      </m:e>
                      <m:sup>
                        <m:r>
                          <a:rPr lang="en-AU">
                            <a:latin typeface="Cambria Math" panose="02040503050406030204" pitchFamily="18" charset="0"/>
                          </a:rPr>
                          <m:t>−</m:t>
                        </m:r>
                        <m:f>
                          <m:fPr>
                            <m:ctrlPr>
                              <a:rPr lang="en-AU" i="1">
                                <a:latin typeface="Cambria Math" panose="02040503050406030204" pitchFamily="18" charset="0"/>
                              </a:rPr>
                            </m:ctrlPr>
                          </m:fPr>
                          <m:num>
                            <m:d>
                              <m:dPr>
                                <m:ctrlPr>
                                  <a:rPr lang="en-AU" i="1">
                                    <a:latin typeface="Cambria Math" panose="02040503050406030204" pitchFamily="18" charset="0"/>
                                  </a:rPr>
                                </m:ctrlPr>
                              </m:dPr>
                              <m:e>
                                <m:r>
                                  <a:rPr lang="en-AU">
                                    <a:latin typeface="Cambria Math" panose="02040503050406030204" pitchFamily="18" charset="0"/>
                                  </a:rPr>
                                  <m:t>1−</m:t>
                                </m:r>
                                <m:r>
                                  <a:rPr lang="en-AU">
                                    <a:latin typeface="Cambria Math" panose="02040503050406030204" pitchFamily="18" charset="0"/>
                                  </a:rPr>
                                  <m:t>𝜌</m:t>
                                </m:r>
                              </m:e>
                            </m:d>
                            <m:acc>
                              <m:accPr>
                                <m:chr m:val="̃"/>
                                <m:ctrlPr>
                                  <a:rPr lang="en-AU" i="1">
                                    <a:latin typeface="Cambria Math" panose="02040503050406030204" pitchFamily="18" charset="0"/>
                                  </a:rPr>
                                </m:ctrlPr>
                              </m:accPr>
                              <m:e>
                                <m:r>
                                  <a:rPr lang="en-AU">
                                    <a:latin typeface="Cambria Math" panose="02040503050406030204" pitchFamily="18" charset="0"/>
                                  </a:rPr>
                                  <m:t>𝜌</m:t>
                                </m:r>
                              </m:e>
                            </m:acc>
                          </m:num>
                          <m:den>
                            <m:r>
                              <a:rPr lang="en-AU">
                                <a:latin typeface="Cambria Math" panose="02040503050406030204" pitchFamily="18" charset="0"/>
                              </a:rPr>
                              <m:t>𝜌</m:t>
                            </m:r>
                            <m:d>
                              <m:dPr>
                                <m:ctrlPr>
                                  <a:rPr lang="en-AU" i="1">
                                    <a:latin typeface="Cambria Math" panose="02040503050406030204" pitchFamily="18" charset="0"/>
                                  </a:rPr>
                                </m:ctrlPr>
                              </m:dPr>
                              <m:e>
                                <m:r>
                                  <a:rPr lang="en-AU">
                                    <a:latin typeface="Cambria Math" panose="02040503050406030204" pitchFamily="18" charset="0"/>
                                  </a:rPr>
                                  <m:t>1−</m:t>
                                </m:r>
                                <m:acc>
                                  <m:accPr>
                                    <m:chr m:val="̃"/>
                                    <m:ctrlPr>
                                      <a:rPr lang="en-AU" i="1">
                                        <a:latin typeface="Cambria Math" panose="02040503050406030204" pitchFamily="18" charset="0"/>
                                      </a:rPr>
                                    </m:ctrlPr>
                                  </m:accPr>
                                  <m:e>
                                    <m:r>
                                      <a:rPr lang="en-AU">
                                        <a:latin typeface="Cambria Math" panose="02040503050406030204" pitchFamily="18" charset="0"/>
                                      </a:rPr>
                                      <m:t>𝜌</m:t>
                                    </m:r>
                                  </m:e>
                                </m:acc>
                              </m:e>
                            </m:d>
                          </m:den>
                        </m:f>
                      </m:sup>
                    </m:sSup>
                    <m:r>
                      <a:rPr lang="en-AU">
                        <a:latin typeface="Cambria Math" panose="02040503050406030204" pitchFamily="18" charset="0"/>
                      </a:rPr>
                      <m:t>≡</m:t>
                    </m:r>
                    <m:sSup>
                      <m:sSupPr>
                        <m:ctrlPr>
                          <a:rPr lang="en-AU" i="1">
                            <a:latin typeface="Cambria Math" panose="02040503050406030204" pitchFamily="18" charset="0"/>
                          </a:rPr>
                        </m:ctrlPr>
                      </m:sSupPr>
                      <m:e>
                        <m:r>
                          <a:rPr lang="en-AU">
                            <a:latin typeface="Cambria Math" panose="02040503050406030204" pitchFamily="18" charset="0"/>
                          </a:rPr>
                          <m:t>𝑒</m:t>
                        </m:r>
                      </m:e>
                      <m:sup>
                        <m:sSub>
                          <m:sSubPr>
                            <m:ctrlPr>
                              <a:rPr lang="en-AU" i="1">
                                <a:latin typeface="Cambria Math" panose="02040503050406030204" pitchFamily="18" charset="0"/>
                              </a:rPr>
                            </m:ctrlPr>
                          </m:sSubPr>
                          <m:e>
                            <m:r>
                              <a:rPr lang="en-AU">
                                <a:latin typeface="Cambria Math" panose="02040503050406030204" pitchFamily="18" charset="0"/>
                              </a:rPr>
                              <m:t>𝛽</m:t>
                            </m:r>
                          </m:e>
                          <m:sub>
                            <m:r>
                              <a:rPr lang="en-AU">
                                <a:latin typeface="Cambria Math" panose="02040503050406030204" pitchFamily="18" charset="0"/>
                              </a:rPr>
                              <m:t>0</m:t>
                            </m:r>
                          </m:sub>
                        </m:sSub>
                      </m:sup>
                    </m:sSup>
                  </m:oMath>
                </a14:m>
                <a:r>
                  <a:rPr lang="en-AU" dirty="0"/>
                  <a:t>), is estimated to be close to -8.9 (namely 0.000127), statistically significant at the five per cent level. Hence, with a 13.5% decrease of iceberg trade cost due to the WTO accession, the pre-WTO </a:t>
                </a:r>
                <a14:m>
                  <m:oMath xmlns:m="http://schemas.openxmlformats.org/officeDocument/2006/math">
                    <m:sSub>
                      <m:sSubPr>
                        <m:ctrlPr>
                          <a:rPr lang="en-AU" i="1">
                            <a:latin typeface="Cambria Math" panose="02040503050406030204" pitchFamily="18" charset="0"/>
                          </a:rPr>
                        </m:ctrlPr>
                      </m:sSubPr>
                      <m:e>
                        <m:r>
                          <a:rPr lang="en-AU">
                            <a:latin typeface="Cambria Math" panose="02040503050406030204" pitchFamily="18" charset="0"/>
                          </a:rPr>
                          <m:t>𝛽</m:t>
                        </m:r>
                      </m:e>
                      <m:sub>
                        <m:r>
                          <a:rPr lang="en-AU">
                            <a:latin typeface="Cambria Math" panose="02040503050406030204" pitchFamily="18" charset="0"/>
                          </a:rPr>
                          <m:t>0</m:t>
                        </m:r>
                      </m:sub>
                    </m:sSub>
                  </m:oMath>
                </a14:m>
                <a:r>
                  <a:rPr lang="en-AU" dirty="0"/>
                  <a:t> is -10.44926.</a:t>
                </a:r>
              </a:p>
              <a:p>
                <a:r>
                  <a:rPr lang="en-AU" dirty="0"/>
                  <a:t>The pattern of small fixed costs and large entry costs, which corroborates with the finding of Das, Roberts and </a:t>
                </a:r>
                <a:r>
                  <a:rPr lang="en-AU" dirty="0" err="1"/>
                  <a:t>Tybout</a:t>
                </a:r>
                <a:r>
                  <a:rPr lang="en-AU" dirty="0"/>
                  <a:t> (2007)</a:t>
                </a:r>
              </a:p>
            </p:txBody>
          </p:sp>
        </mc:Choice>
        <mc:Fallback xmlns="">
          <p:sp>
            <p:nvSpPr>
              <p:cNvPr id="3" name="Content Placeholder 2">
                <a:extLst>
                  <a:ext uri="{FF2B5EF4-FFF2-40B4-BE49-F238E27FC236}">
                    <a16:creationId xmlns:a16="http://schemas.microsoft.com/office/drawing/2014/main" id="{36144947-10F7-90A8-47EC-6594E5C17915}"/>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AU">
                    <a:noFill/>
                  </a:rPr>
                  <a:t> </a:t>
                </a:r>
              </a:p>
            </p:txBody>
          </p:sp>
        </mc:Fallback>
      </mc:AlternateContent>
    </p:spTree>
    <p:extLst>
      <p:ext uri="{BB962C8B-B14F-4D97-AF65-F5344CB8AC3E}">
        <p14:creationId xmlns:p14="http://schemas.microsoft.com/office/powerpoint/2010/main" val="16806501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3C3C7-FFD3-E998-F799-7C0D36F67E39}"/>
              </a:ext>
            </a:extLst>
          </p:cNvPr>
          <p:cNvSpPr>
            <a:spLocks noGrp="1"/>
          </p:cNvSpPr>
          <p:nvPr>
            <p:ph type="title"/>
          </p:nvPr>
        </p:nvSpPr>
        <p:spPr/>
        <p:txBody>
          <a:bodyPr/>
          <a:lstStyle/>
          <a:p>
            <a:r>
              <a:rPr lang="en-AU" dirty="0"/>
              <a:t>Results</a:t>
            </a:r>
          </a:p>
        </p:txBody>
      </p:sp>
      <p:sp>
        <p:nvSpPr>
          <p:cNvPr id="3" name="Content Placeholder 2">
            <a:extLst>
              <a:ext uri="{FF2B5EF4-FFF2-40B4-BE49-F238E27FC236}">
                <a16:creationId xmlns:a16="http://schemas.microsoft.com/office/drawing/2014/main" id="{17998BDA-FEFE-CA6D-7777-7A8A965CEE2E}"/>
              </a:ext>
            </a:extLst>
          </p:cNvPr>
          <p:cNvSpPr>
            <a:spLocks noGrp="1"/>
          </p:cNvSpPr>
          <p:nvPr>
            <p:ph idx="1"/>
          </p:nvPr>
        </p:nvSpPr>
        <p:spPr/>
        <p:txBody>
          <a:bodyPr/>
          <a:lstStyle/>
          <a:p>
            <a:r>
              <a:rPr lang="en-AU" dirty="0"/>
              <a:t>Counterfactual analysis</a:t>
            </a:r>
          </a:p>
        </p:txBody>
      </p:sp>
      <p:sp>
        <p:nvSpPr>
          <p:cNvPr id="6" name="Rectangle 5">
            <a:extLst>
              <a:ext uri="{FF2B5EF4-FFF2-40B4-BE49-F238E27FC236}">
                <a16:creationId xmlns:a16="http://schemas.microsoft.com/office/drawing/2014/main" id="{0B480382-FA61-AD21-9CAD-DC15F87027BD}"/>
              </a:ext>
            </a:extLst>
          </p:cNvPr>
          <p:cNvSpPr>
            <a:spLocks noChangeArrowheads="1"/>
          </p:cNvSpPr>
          <p:nvPr/>
        </p:nvSpPr>
        <p:spPr bwMode="auto">
          <a:xfrm>
            <a:off x="1024356" y="241330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66700" algn="l" defTabSz="914400" rtl="0" eaLnBrk="0" fontAlgn="base" latinLnBrk="0" hangingPunct="0">
              <a:lnSpc>
                <a:spcPct val="100000"/>
              </a:lnSpc>
              <a:spcBef>
                <a:spcPct val="0"/>
              </a:spcBef>
              <a:spcAft>
                <a:spcPct val="0"/>
              </a:spcAft>
              <a:buClrTx/>
              <a:buSzTx/>
              <a:buFontTx/>
              <a:buNone/>
              <a:tabLst/>
            </a:pPr>
            <a:r>
              <a:rPr kumimoji="0" lang="en-AU" altLang="en-US" sz="1200" b="0" i="0" u="none" strike="noStrike" cap="none" normalizeH="0" baseline="0" dirty="0">
                <a:ln>
                  <a:noFill/>
                </a:ln>
                <a:solidFill>
                  <a:schemeClr val="tx1"/>
                </a:solidFill>
                <a:effectLst/>
                <a:latin typeface="Times New Roman" panose="02020603050405020304" pitchFamily="18" charset="0"/>
                <a:ea typeface="DengXian" panose="02010600030101010101" pitchFamily="2" charset="-122"/>
                <a:cs typeface="Times New Roman" panose="02020603050405020304" pitchFamily="18" charset="0"/>
              </a:rPr>
              <a:t>Figure 2. The Probabilities of Product Innovation and Export</a:t>
            </a:r>
            <a:endParaRPr kumimoji="0" lang="en-AU" altLang="en-US" sz="300" b="0" i="0" u="none" strike="noStrike" cap="none" normalizeH="0" baseline="0" dirty="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tabLst/>
            </a:pPr>
            <a:endParaRPr kumimoji="0" lang="en-AU" altLang="en-US" sz="1800" b="0" i="0" u="none" strike="noStrike" cap="none" normalizeH="0" baseline="0" dirty="0">
              <a:ln>
                <a:noFill/>
              </a:ln>
              <a:solidFill>
                <a:schemeClr val="tx1"/>
              </a:solidFill>
              <a:effectLst/>
              <a:latin typeface="Arial" panose="020B0604020202020204" pitchFamily="34" charset="0"/>
            </a:endParaRPr>
          </a:p>
        </p:txBody>
      </p:sp>
      <p:pic>
        <p:nvPicPr>
          <p:cNvPr id="7172" name="Picture 1">
            <a:extLst>
              <a:ext uri="{FF2B5EF4-FFF2-40B4-BE49-F238E27FC236}">
                <a16:creationId xmlns:a16="http://schemas.microsoft.com/office/drawing/2014/main" id="{66E171C3-AEEE-783D-07A5-BA8CEBBECA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4356" y="2870506"/>
            <a:ext cx="4305300" cy="26543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09B1B869-0C77-CA01-EAD2-B64090CC7AB8}"/>
              </a:ext>
            </a:extLst>
          </p:cNvPr>
          <p:cNvSpPr>
            <a:spLocks noChangeArrowheads="1"/>
          </p:cNvSpPr>
          <p:nvPr/>
        </p:nvSpPr>
        <p:spPr bwMode="auto">
          <a:xfrm>
            <a:off x="1024356" y="552480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AU" altLang="en-US" sz="1000" b="0" i="0" u="none" strike="noStrike" cap="none" normalizeH="0" baseline="0" dirty="0">
                <a:ln>
                  <a:noFill/>
                </a:ln>
                <a:solidFill>
                  <a:schemeClr val="tx1"/>
                </a:solidFill>
                <a:effectLst/>
                <a:latin typeface="Times New Roman" panose="02020603050405020304" pitchFamily="18" charset="0"/>
                <a:ea typeface="DengXian" panose="02010600030101010101" pitchFamily="2" charset="-122"/>
                <a:cs typeface="Times New Roman" panose="02020603050405020304" pitchFamily="18" charset="0"/>
              </a:rPr>
              <a:t>Note: t = 1, year 2001; t = 2, year 2002; t = 3, year 2003; t = 4, year 2006; t = 5, year 2007; The error bars are bootstrap 99% confidence intervals.</a:t>
            </a:r>
            <a:endParaRPr kumimoji="0" lang="en-AU"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919280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93E09-B510-1F0C-D1CA-666F865FBAB1}"/>
              </a:ext>
            </a:extLst>
          </p:cNvPr>
          <p:cNvSpPr>
            <a:spLocks noGrp="1"/>
          </p:cNvSpPr>
          <p:nvPr>
            <p:ph type="title"/>
          </p:nvPr>
        </p:nvSpPr>
        <p:spPr/>
        <p:txBody>
          <a:bodyPr/>
          <a:lstStyle/>
          <a:p>
            <a:r>
              <a:rPr lang="en-AU" dirty="0"/>
              <a:t>Concluding Remarks</a:t>
            </a:r>
          </a:p>
        </p:txBody>
      </p:sp>
      <p:sp>
        <p:nvSpPr>
          <p:cNvPr id="3" name="Content Placeholder 2">
            <a:extLst>
              <a:ext uri="{FF2B5EF4-FFF2-40B4-BE49-F238E27FC236}">
                <a16:creationId xmlns:a16="http://schemas.microsoft.com/office/drawing/2014/main" id="{668BCAB9-EC4B-641A-D527-D4C07C339450}"/>
              </a:ext>
            </a:extLst>
          </p:cNvPr>
          <p:cNvSpPr>
            <a:spLocks noGrp="1"/>
          </p:cNvSpPr>
          <p:nvPr>
            <p:ph idx="1"/>
          </p:nvPr>
        </p:nvSpPr>
        <p:spPr/>
        <p:txBody>
          <a:bodyPr>
            <a:normAutofit lnSpcReduction="10000"/>
          </a:bodyPr>
          <a:lstStyle/>
          <a:p>
            <a:r>
              <a:rPr lang="en-US" dirty="0"/>
              <a:t>This study explores firms’ optimal decisions to export and conduct product innovation both theoretically and empirically. </a:t>
            </a:r>
          </a:p>
          <a:p>
            <a:r>
              <a:rPr lang="en-US" dirty="0"/>
              <a:t>We find that China’s WTO accession reduces the iceberg trade cost and subsequently promotes export. In turn, the export promotion improves firms’ product innovation through one static channel and two dynamic channels. </a:t>
            </a:r>
          </a:p>
          <a:p>
            <a:r>
              <a:rPr lang="en-US" dirty="0"/>
              <a:t>Trade liberalization is generally considered to be beneficial in the sense of promoting export and import, particularly for developing economies. In addition, our findings suggest that it can also promote innovation, both in the short and longer terms. Such an additional benefit is somewhat an intended consequence of trade liberalization.</a:t>
            </a:r>
            <a:endParaRPr lang="en-AU" dirty="0"/>
          </a:p>
        </p:txBody>
      </p:sp>
    </p:spTree>
    <p:extLst>
      <p:ext uri="{BB962C8B-B14F-4D97-AF65-F5344CB8AC3E}">
        <p14:creationId xmlns:p14="http://schemas.microsoft.com/office/powerpoint/2010/main" val="22544119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605</TotalTime>
  <Words>3429</Words>
  <Application>Microsoft Office PowerPoint</Application>
  <PresentationFormat>Widescreen</PresentationFormat>
  <Paragraphs>436</Paragraphs>
  <Slides>41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DengXian</vt:lpstr>
      <vt:lpstr>Arial</vt:lpstr>
      <vt:lpstr>Calibri</vt:lpstr>
      <vt:lpstr>Calibri Light</vt:lpstr>
      <vt:lpstr>Cambria Math</vt:lpstr>
      <vt:lpstr>Times New Roman</vt:lpstr>
      <vt:lpstr>Office Theme</vt:lpstr>
      <vt:lpstr>Trade Liberalization, Export and Product Innovation</vt:lpstr>
      <vt:lpstr>Introduction</vt:lpstr>
      <vt:lpstr>Introduction</vt:lpstr>
      <vt:lpstr>Introduction</vt:lpstr>
      <vt:lpstr>Introduction</vt:lpstr>
      <vt:lpstr>Introduction</vt:lpstr>
      <vt:lpstr>Introduction</vt:lpstr>
      <vt:lpstr>Analytical Framework-Economic Model</vt:lpstr>
      <vt:lpstr>Analytical Framework-Economic Model</vt:lpstr>
      <vt:lpstr>Analytical Framework-Economic Model</vt:lpstr>
      <vt:lpstr>Analytical Framework-Economic Model</vt:lpstr>
      <vt:lpstr>Analytical Framework-Economic Model</vt:lpstr>
      <vt:lpstr>Analytical Framework-Economic Model</vt:lpstr>
      <vt:lpstr>Analytical Framework-Economic Model</vt:lpstr>
      <vt:lpstr>Analytical Framework-Economic Model</vt:lpstr>
      <vt:lpstr>Analytical Framework-Economic Model</vt:lpstr>
      <vt:lpstr>Analytical Framework-Economic Model</vt:lpstr>
      <vt:lpstr>Analytical Framework-Economic Model</vt:lpstr>
      <vt:lpstr>Analytical Framework-Economic Model</vt:lpstr>
      <vt:lpstr>Analytical Framework-Economic Model</vt:lpstr>
      <vt:lpstr>Analytical Framework-Economic Model</vt:lpstr>
      <vt:lpstr>Analytical Framework-Estimation Strategy</vt:lpstr>
      <vt:lpstr>Analytical Framework-Estimation Strategy</vt:lpstr>
      <vt:lpstr>Analytical Framework-Estimation Strategy</vt:lpstr>
      <vt:lpstr>Analytical Framework-Estimation Strategy</vt:lpstr>
      <vt:lpstr>Analytical Framework-Estimation Strategy</vt:lpstr>
      <vt:lpstr>Analytical Framework-Estimation Strategy</vt:lpstr>
      <vt:lpstr>Analytical Framework-Estimation Strategy</vt:lpstr>
      <vt:lpstr>Analytical Framework-Estimation Strategy</vt:lpstr>
      <vt:lpstr>Data and Variables</vt:lpstr>
      <vt:lpstr>Data and Variables</vt:lpstr>
      <vt:lpstr>Data and Variables</vt:lpstr>
      <vt:lpstr>Data and Variables</vt:lpstr>
      <vt:lpstr>Results</vt:lpstr>
      <vt:lpstr>Results</vt:lpstr>
      <vt:lpstr>Results</vt:lpstr>
      <vt:lpstr>Results</vt:lpstr>
      <vt:lpstr>Results</vt:lpstr>
      <vt:lpstr>Results</vt:lpstr>
      <vt:lpstr>Results</vt:lpstr>
      <vt:lpstr>Concluding Remarks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Trade Liberalization, Export and Product Innovation</dc:title>
  <dc:creator>Sizhong Sun</dc:creator>
  <cp:lastModifiedBy>Sizhong Sun</cp:lastModifiedBy>
  <cp:revision>54</cp:revision>
  <cp:lastPrinted>2024-07-23T01:52:48Z</cp:lastPrinted>
  <dcterms:created xsi:type="dcterms:W3CDTF">2023-11-19T01:21:30Z</dcterms:created>
  <dcterms:modified xsi:type="dcterms:W3CDTF">2025-12-05T04:08:11Z</dcterms:modified>
</cp:coreProperties>
</file>